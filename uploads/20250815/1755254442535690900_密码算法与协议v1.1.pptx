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2"/>
  </p:notesMasterIdLst>
  <p:handoutMasterIdLst>
    <p:handoutMasterId r:id="rId43"/>
  </p:handoutMasterIdLst>
  <p:sldIdLst>
    <p:sldId id="762" r:id="rId2"/>
    <p:sldId id="763" r:id="rId3"/>
    <p:sldId id="656" r:id="rId4"/>
    <p:sldId id="769" r:id="rId5"/>
    <p:sldId id="770" r:id="rId6"/>
    <p:sldId id="772" r:id="rId7"/>
    <p:sldId id="771" r:id="rId8"/>
    <p:sldId id="773" r:id="rId9"/>
    <p:sldId id="774" r:id="rId10"/>
    <p:sldId id="775" r:id="rId11"/>
    <p:sldId id="776" r:id="rId12"/>
    <p:sldId id="777" r:id="rId13"/>
    <p:sldId id="784" r:id="rId14"/>
    <p:sldId id="785" r:id="rId15"/>
    <p:sldId id="806" r:id="rId16"/>
    <p:sldId id="807" r:id="rId17"/>
    <p:sldId id="778" r:id="rId18"/>
    <p:sldId id="779" r:id="rId19"/>
    <p:sldId id="786" r:id="rId20"/>
    <p:sldId id="788" r:id="rId21"/>
    <p:sldId id="789" r:id="rId22"/>
    <p:sldId id="802" r:id="rId23"/>
    <p:sldId id="803" r:id="rId24"/>
    <p:sldId id="780" r:id="rId25"/>
    <p:sldId id="782" r:id="rId26"/>
    <p:sldId id="790" r:id="rId27"/>
    <p:sldId id="791" r:id="rId28"/>
    <p:sldId id="792" r:id="rId29"/>
    <p:sldId id="793" r:id="rId30"/>
    <p:sldId id="804" r:id="rId31"/>
    <p:sldId id="805" r:id="rId32"/>
    <p:sldId id="781" r:id="rId33"/>
    <p:sldId id="783" r:id="rId34"/>
    <p:sldId id="796" r:id="rId35"/>
    <p:sldId id="797" r:id="rId36"/>
    <p:sldId id="798" r:id="rId37"/>
    <p:sldId id="800" r:id="rId38"/>
    <p:sldId id="794" r:id="rId39"/>
    <p:sldId id="801" r:id="rId40"/>
    <p:sldId id="808" r:id="rId41"/>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ng wu" initials="lw" lastIdx="1" clrIdx="0">
    <p:extLst>
      <p:ext uri="{19B8F6BF-5375-455C-9EA6-DF929625EA0E}">
        <p15:presenceInfo xmlns:p15="http://schemas.microsoft.com/office/powerpoint/2012/main" userId="ebc99e7fe75cc0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F7181"/>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112" autoAdjust="0"/>
    <p:restoredTop sz="96176" autoAdjust="0"/>
  </p:normalViewPr>
  <p:slideViewPr>
    <p:cSldViewPr snapToGrid="0">
      <p:cViewPr>
        <p:scale>
          <a:sx n="66" d="100"/>
          <a:sy n="66" d="100"/>
        </p:scale>
        <p:origin x="552" y="1170"/>
      </p:cViewPr>
      <p:guideLst/>
    </p:cSldViewPr>
  </p:slideViewPr>
  <p:notesTextViewPr>
    <p:cViewPr>
      <p:scale>
        <a:sx n="1" d="1"/>
        <a:sy n="1" d="1"/>
      </p:scale>
      <p:origin x="0" y="0"/>
    </p:cViewPr>
  </p:notesTextViewPr>
  <p:notesViewPr>
    <p:cSldViewPr snapToGrid="0">
      <p:cViewPr varScale="1">
        <p:scale>
          <a:sx n="102" d="100"/>
          <a:sy n="102" d="100"/>
        </p:scale>
        <p:origin x="4334" y="6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06357E8-EC3F-456F-B151-1A1F5A169C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E92D9960-8BE4-496F-ACD4-41153C5F65F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CBEAB9-3B54-4AB6-A56E-3558415887BA}" type="datetimeFigureOut">
              <a:rPr lang="zh-CN" altLang="en-US" smtClean="0"/>
              <a:t>2025/8/8</a:t>
            </a:fld>
            <a:endParaRPr lang="zh-CN" altLang="en-US"/>
          </a:p>
        </p:txBody>
      </p:sp>
      <p:sp>
        <p:nvSpPr>
          <p:cNvPr id="4" name="页脚占位符 3">
            <a:extLst>
              <a:ext uri="{FF2B5EF4-FFF2-40B4-BE49-F238E27FC236}">
                <a16:creationId xmlns:a16="http://schemas.microsoft.com/office/drawing/2014/main" id="{82C9BAB7-D613-483F-BE3F-90744B80D0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42148049-50E1-4B2D-802C-F406FA8EAB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5D0508-97C8-4A69-A9DF-9D4C826F4DE9}" type="slidenum">
              <a:rPr lang="zh-CN" altLang="en-US" smtClean="0"/>
              <a:t>‹#›</a:t>
            </a:fld>
            <a:endParaRPr lang="zh-CN" altLang="en-US"/>
          </a:p>
        </p:txBody>
      </p:sp>
    </p:spTree>
    <p:extLst>
      <p:ext uri="{BB962C8B-B14F-4D97-AF65-F5344CB8AC3E}">
        <p14:creationId xmlns:p14="http://schemas.microsoft.com/office/powerpoint/2010/main" val="38899078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A69790-DE62-F64D-AD3D-06FBC7937EAE}" type="datetimeFigureOut">
              <a:rPr kumimoji="1" lang="zh-CN" altLang="en-US" smtClean="0"/>
              <a:t>2025/8/8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FE633D-ED52-604C-A2C6-45FBC2C2814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7FE633D-ED52-604C-A2C6-45FBC2C28145}" type="slidenum">
              <a:rPr kumimoji="1" lang="zh-CN" altLang="en-US" smtClean="0"/>
              <a:t>2</a:t>
            </a:fld>
            <a:endParaRPr kumimoji="1" lang="zh-CN" altLang="en-US"/>
          </a:p>
        </p:txBody>
      </p:sp>
    </p:spTree>
    <p:extLst>
      <p:ext uri="{BB962C8B-B14F-4D97-AF65-F5344CB8AC3E}">
        <p14:creationId xmlns:p14="http://schemas.microsoft.com/office/powerpoint/2010/main" val="2024821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32A00-BA7B-548B-CF4C-5CDD10B20B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03117B-FAD5-747B-C14E-EE47E37386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07E2B6-8447-C858-D065-FB790C673BD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59C0598-79F8-1E94-301C-FF6154C8FA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26262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6440F-80C6-E6A4-84C3-E74F3FB420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4EDAD2-3645-91EC-E777-4E78D534EF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2E84D9-6ED6-D222-8C2D-BAC45936F4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0477A0-D544-75E8-DBC5-B35880EB08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5</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388231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4C8AE-43F0-1E79-AE8F-873823F5DD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151DDE-FAEC-37F8-9FC7-B18F89DDC0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4ED429-CBDC-8337-62F7-95BD5543A82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7737669-D703-2006-84B9-9358A357E766}"/>
              </a:ext>
            </a:extLst>
          </p:cNvPr>
          <p:cNvSpPr>
            <a:spLocks noGrp="1"/>
          </p:cNvSpPr>
          <p:nvPr>
            <p:ph type="sldNum" sz="quarter" idx="5"/>
          </p:nvPr>
        </p:nvSpPr>
        <p:spPr/>
        <p:txBody>
          <a:bodyPr/>
          <a:lstStyle/>
          <a:p>
            <a:fld id="{57FE633D-ED52-604C-A2C6-45FBC2C28145}" type="slidenum">
              <a:rPr kumimoji="1" lang="zh-CN" altLang="en-US" smtClean="0"/>
              <a:t>6</a:t>
            </a:fld>
            <a:endParaRPr kumimoji="1" lang="zh-CN" altLang="en-US"/>
          </a:p>
        </p:txBody>
      </p:sp>
    </p:spTree>
    <p:extLst>
      <p:ext uri="{BB962C8B-B14F-4D97-AF65-F5344CB8AC3E}">
        <p14:creationId xmlns:p14="http://schemas.microsoft.com/office/powerpoint/2010/main" val="3462118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524E3-C1B3-5D4A-F190-834D7D2F54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B114E5-A027-E687-031D-5EC3E611D7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17D663-2413-F869-C77A-A937A0176D8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AF06FB-C5A5-BA0F-13D4-EECA286A4B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7</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263776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CD047-E63F-443D-3919-4564F49C2A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4970F8-A7CB-4DEB-CDB8-BF91DC1DAD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277253-0A5F-A24E-51FD-B7CD96D267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29056F8-0D00-3F1F-F07B-4B93665B3F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8</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576833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8E00-36DE-A47E-F371-5B07DE8071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C9B97A-01B8-39F3-6898-19252D6B87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33AE8C-FD7F-DB51-9481-5BA188FCFA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CED80B-0A80-4197-C88E-F4A5572399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9</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599297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36633-80E0-1025-4270-8DA42B6B6B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2AABCF-A47E-71EA-274D-448979F12A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C6D8CC-507D-8B43-C111-EDA3ADA81E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20DB5C0-715E-7930-F168-770562C19B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10</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58072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CD66F-CD10-2913-DEAC-F560505738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D76002-D3CF-B346-34DB-E0A5CBEEDC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E54FF8-3CB0-F420-CB8C-DB626F5A9D6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8CA3F65-F3DA-765A-A3B5-D5D4E5383688}"/>
              </a:ext>
            </a:extLst>
          </p:cNvPr>
          <p:cNvSpPr>
            <a:spLocks noGrp="1"/>
          </p:cNvSpPr>
          <p:nvPr>
            <p:ph type="sldNum" sz="quarter" idx="5"/>
          </p:nvPr>
        </p:nvSpPr>
        <p:spPr/>
        <p:txBody>
          <a:bodyPr/>
          <a:lstStyle/>
          <a:p>
            <a:fld id="{57FE633D-ED52-604C-A2C6-45FBC2C28145}" type="slidenum">
              <a:rPr kumimoji="1" lang="zh-CN" altLang="en-US" smtClean="0"/>
              <a:t>11</a:t>
            </a:fld>
            <a:endParaRPr kumimoji="1" lang="zh-CN" altLang="en-US"/>
          </a:p>
        </p:txBody>
      </p:sp>
    </p:spTree>
    <p:extLst>
      <p:ext uri="{BB962C8B-B14F-4D97-AF65-F5344CB8AC3E}">
        <p14:creationId xmlns:p14="http://schemas.microsoft.com/office/powerpoint/2010/main" val="373185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8B40-51FA-C37D-7A99-AFA673B16B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D4AD90-9DD0-0866-15A2-337031D50A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D0EFEB-CBDB-315D-37D2-5C6441D8C6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F2FBE5B-E310-583D-8864-89D540B2B5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12</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314961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43A49-70C9-E4CE-670B-B3F7989F6C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19A3AD-1FBB-A55A-58C4-14AEDA3DC9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E03697-AFE9-12EC-621A-D7A2FCD3DF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178E208-D956-7302-69D2-937800700E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13</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992676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2A7B-131C-8D65-FA76-AAE15E95C1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E8B155-32D2-83AF-06B7-9378C9991B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D86661-D260-DA78-13A2-3AEE70DF4C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1075020-3AED-CE0B-77BA-8ACF154DB7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14</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138481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C8095-DE4B-234C-C1B6-F9BB5F5C6E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FD92F6-4101-250C-73EA-DCC595EAF2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4BAAA2-D37C-DCCB-310B-7569FBF859D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0B22ACC-91CD-1468-8C46-BA7D469232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15</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804118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63ED-5399-6172-7DE4-2A56FAE14F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444B90-8DC6-B57B-0D74-027C00159D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81B66B-9186-6754-8FEC-E6E3C97C22B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4A2544-8637-8DBD-C579-30B458215B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16</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064775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324C-C219-9146-7CE3-EC181ACB1B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5CBDD1-3C6A-8EB7-7A41-0EE4CC3DC9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C088C7-EFA7-BFF1-FC89-443497280FB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29E00E7-FCB6-5F94-9448-7155534B2B20}"/>
              </a:ext>
            </a:extLst>
          </p:cNvPr>
          <p:cNvSpPr>
            <a:spLocks noGrp="1"/>
          </p:cNvSpPr>
          <p:nvPr>
            <p:ph type="sldNum" sz="quarter" idx="5"/>
          </p:nvPr>
        </p:nvSpPr>
        <p:spPr/>
        <p:txBody>
          <a:bodyPr/>
          <a:lstStyle/>
          <a:p>
            <a:fld id="{57FE633D-ED52-604C-A2C6-45FBC2C28145}" type="slidenum">
              <a:rPr kumimoji="1" lang="zh-CN" altLang="en-US" smtClean="0"/>
              <a:t>17</a:t>
            </a:fld>
            <a:endParaRPr kumimoji="1" lang="zh-CN" altLang="en-US"/>
          </a:p>
        </p:txBody>
      </p:sp>
    </p:spTree>
    <p:extLst>
      <p:ext uri="{BB962C8B-B14F-4D97-AF65-F5344CB8AC3E}">
        <p14:creationId xmlns:p14="http://schemas.microsoft.com/office/powerpoint/2010/main" val="2690577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E3E89-7577-B040-549D-15DD0C9E23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8B9724-998A-8CEC-E521-0E50013577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1B123A-5009-FCCA-56CE-6BCAA1C6D8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C9482DF-902F-C2C4-013D-FBBE31ADFB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18</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531166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66D2-FC11-34EA-9482-D34D563861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4F60B3-EF84-A82F-1223-CBB54634B2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2DAA80-A05F-E534-E46D-52FBDEC256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C1AA702-F135-298A-9DC1-7ED28D6BF9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19</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963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3DA0-8BCB-F066-A5D3-1622CEA9DF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9A3CDC-0D60-BB68-7521-3E967BD3C8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B312DC-13DB-A4E0-2C9F-B75FC3B17A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B25AF0D-4DCC-2500-E518-AB701683E7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20</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116329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0EBE-CF4C-D5BB-91DF-81ACC2F80D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77BD16-375D-3669-46BD-2669F41980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FD08E0-B9F8-0ED8-A7B1-27B732F0F95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1011D70-F8BF-F532-2443-7849B5AA33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21</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251081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A798-4FFD-8F47-378E-4BFDAB7EC1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D7D503-4334-1FF1-AE25-D26B6D6C25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BCC2C0-6081-3402-4364-D56F1E005B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F39E11-9E2B-7E1C-F4F7-992EE84FA7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22</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467800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D09C-0C52-6B8E-BEDD-80A37176A2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B46B61-7E89-FC06-AB4F-054693C927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D58F88-88A7-68B6-67BB-D1AA172F7FD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89BD2EC-0042-7A50-7ADA-9CF4FE4FB6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23</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241235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38A42-DC12-1D5C-960A-7060F66B37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451CD6-2E48-0D6B-46E1-C2056D3F95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3B6DE0-A0C0-566A-212A-37C8A91A25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FB6C63E-AB02-0430-CE3F-980A463ACAC2}"/>
              </a:ext>
            </a:extLst>
          </p:cNvPr>
          <p:cNvSpPr>
            <a:spLocks noGrp="1"/>
          </p:cNvSpPr>
          <p:nvPr>
            <p:ph type="sldNum" sz="quarter" idx="5"/>
          </p:nvPr>
        </p:nvSpPr>
        <p:spPr/>
        <p:txBody>
          <a:bodyPr/>
          <a:lstStyle/>
          <a:p>
            <a:fld id="{57FE633D-ED52-604C-A2C6-45FBC2C28145}" type="slidenum">
              <a:rPr kumimoji="1" lang="zh-CN" altLang="en-US" smtClean="0"/>
              <a:t>24</a:t>
            </a:fld>
            <a:endParaRPr kumimoji="1" lang="zh-CN" altLang="en-US"/>
          </a:p>
        </p:txBody>
      </p:sp>
    </p:spTree>
    <p:extLst>
      <p:ext uri="{BB962C8B-B14F-4D97-AF65-F5344CB8AC3E}">
        <p14:creationId xmlns:p14="http://schemas.microsoft.com/office/powerpoint/2010/main" val="22807403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6C94-A726-A150-B955-1A37CEF562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9D7A81-8893-5679-6CC3-565D65DA10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D2C88B-F249-A75E-F5E2-7EEF3E9C4F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9BA68E-D0F5-167E-1E7E-A7124C2D1C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25</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13305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AD020-4AE3-8287-1335-5D9196BE06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40F25B-E892-41B9-7E26-B6198554E2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5D024C-9B62-1179-9EB2-C760D98E8A5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A806A8-FE95-6EA1-D1F3-DB359B6A2B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26</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9703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CD34E-73FE-20BE-0E6B-E74EA49540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26394E-73D2-7E90-B30F-945A2B9CFC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92ED14-C742-E178-A6A1-C60307006C9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949D78-A6B6-006A-C914-3BBC60AB32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27</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946303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E3DD5-749C-CD77-26AA-6CEF3999E4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AE082A-007E-670E-9755-4C3E239455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4B5E9C-77F8-2913-B98C-13FD94951F2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9641982-0A85-8E67-E777-7D5A08496B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28</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692156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EB29C-6E8D-BCC3-4D56-9FEC3838AA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1D6D99-1AF7-AEDB-AFF8-D371C48035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911CDF-DAED-9778-F7B2-903CEE05FB9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4A3ACD-C90F-2BFB-C8B8-20759D40FC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29</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0938071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4D8-852A-E671-FBD2-4A43A0A29F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CD542C-5A8D-A01C-666C-869090544A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22E9EA-2128-BF94-2DA9-FA532D0E06F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965BCD1-0B1F-6860-693C-325282D370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30</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5679610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59C5A-4427-ED0D-3A1A-DE601BE0F1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5B4463-4AC6-80E0-2D03-6ACAFCDE99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47267A-BC6A-E512-76DB-92833DB0F1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0F05E24-C128-FB14-DB74-E66B8F4CD6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31</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519295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C0FC4-6F66-97FD-5131-99057C56C6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EE3C13-DC79-15E2-6980-96C44BC9C6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E928E6-5BA9-876C-2C68-3D2A906F644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630B5E1-940A-CD69-2370-7215FA58E2CC}"/>
              </a:ext>
            </a:extLst>
          </p:cNvPr>
          <p:cNvSpPr>
            <a:spLocks noGrp="1"/>
          </p:cNvSpPr>
          <p:nvPr>
            <p:ph type="sldNum" sz="quarter" idx="5"/>
          </p:nvPr>
        </p:nvSpPr>
        <p:spPr/>
        <p:txBody>
          <a:bodyPr/>
          <a:lstStyle/>
          <a:p>
            <a:fld id="{57FE633D-ED52-604C-A2C6-45FBC2C28145}" type="slidenum">
              <a:rPr kumimoji="1" lang="zh-CN" altLang="en-US" smtClean="0"/>
              <a:t>32</a:t>
            </a:fld>
            <a:endParaRPr kumimoji="1" lang="zh-CN" altLang="en-US"/>
          </a:p>
        </p:txBody>
      </p:sp>
    </p:spTree>
    <p:extLst>
      <p:ext uri="{BB962C8B-B14F-4D97-AF65-F5344CB8AC3E}">
        <p14:creationId xmlns:p14="http://schemas.microsoft.com/office/powerpoint/2010/main" val="2132077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6764-90D3-718C-FEA1-E0EFC54EF0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ADAFEB-ED94-A844-8C71-6EBF4B74EF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37CC46-FA1E-AD63-34DD-D5DC52BA9CE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9AB799C-B2B2-C8FE-9069-D6E5EE966A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33</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711353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07919-E579-3FAF-80AF-AE00CB9DC0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DC0104-DBBC-3514-D6A0-4BC57CB080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A844E0-4F86-6703-7E05-BF3D6E69C3D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D7528B-3792-6D36-4EE9-21EFA694EB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34</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7138652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4FDA-9533-07C5-9E9A-96111AAA80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29F63E-D5C7-EC5E-A05E-7ABEEF5C4A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38A884-80F9-FDF5-3F85-D4F36F3FD4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CA5C888-101A-5329-5E87-6E06D4165B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35</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1502016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AA6A3-943C-89DD-E571-21CF99B834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6F2393-7FFD-F8BB-BD08-13B83E4076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A9963C-7838-CBCA-1C16-0BA0823967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82504C6-3E9F-7C0D-7DA3-5EAAC99114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36</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959431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671B7-829E-1A26-C327-4AB3E913F8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1533EC-258B-74BD-B8AA-E6FEE336A3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14DAD7-5EAE-48AA-0295-46822A1C945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0E84EE7-9210-F1E3-83E0-CE257FB4B4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37</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03011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E31E0-FA44-BD73-1E9E-56E4B18A90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EAEF47-FEE0-AF90-4E64-D32A5CAA08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5963F3-B2F7-C3B4-51DD-04681DD0988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237488-C275-9FEB-A1B6-9EC3188F6E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38</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98960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540F-D551-9ED5-836B-C139B20382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3F377A-C198-C0D6-432C-5D744DF293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A0D48F-7949-8FB9-0698-B34FD501FB7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5BE27F-7368-86A7-8F3B-7424A8FACE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39</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242773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78239-339D-2E43-6CB9-26AC003927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45916-8D7B-8E1A-56CD-31BF1297AE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F58829-FB11-96E0-7A15-DC8377D936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75BC571-35DE-0BB0-6D5F-E441DDBDD5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5CB8C0A-7378-47DE-A612-30C8950F733E}" type="slidenum">
              <a:rPr kumimoji="0" lang="zh-CN" altLang="en-US" sz="13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40</a:t>
            </a:fld>
            <a:endParaRPr kumimoji="0" lang="zh-CN" altLang="en-US" sz="13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74242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
        <p:nvSpPr>
          <p:cNvPr id="7" name="矩形 6">
            <a:extLst>
              <a:ext uri="{FF2B5EF4-FFF2-40B4-BE49-F238E27FC236}">
                <a16:creationId xmlns:a16="http://schemas.microsoft.com/office/drawing/2014/main" id="{97E7D080-6EEE-473A-8338-98049366D913}"/>
              </a:ext>
            </a:extLst>
          </p:cNvPr>
          <p:cNvSpPr/>
          <p:nvPr userDrawn="1"/>
        </p:nvSpPr>
        <p:spPr>
          <a:xfrm>
            <a:off x="0" y="6208295"/>
            <a:ext cx="12192000" cy="649705"/>
          </a:xfrm>
          <a:prstGeom prst="rect">
            <a:avLst/>
          </a:prstGeom>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CBAF3BD-DEEC-F04A-8CAB-43BDC317F9F4}" type="datetimeFigureOut">
              <a:rPr kumimoji="1" lang="zh-CN" altLang="en-US" smtClean="0"/>
              <a:t>2025/8/8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C30DCA-9AB1-5543-9943-A91CDE3897BF}"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19126" t="1755" r="7137" b="1"/>
          <a:stretch>
            <a:fillRect/>
          </a:stretch>
        </p:blipFill>
        <p:spPr>
          <a:xfrm>
            <a:off x="0" y="1"/>
            <a:ext cx="12192000" cy="668124"/>
          </a:xfrm>
          <a:prstGeom prst="rect">
            <a:avLst/>
          </a:prstGeom>
          <a:effectLst>
            <a:outerShdw blurRad="203200" dist="63500" dir="5400000" algn="t" rotWithShape="0">
              <a:prstClr val="black">
                <a:alpha val="29000"/>
              </a:prstClr>
            </a:outerShdw>
          </a:effectLst>
        </p:spPr>
      </p:pic>
      <p:sp>
        <p:nvSpPr>
          <p:cNvPr id="19" name="矩形: 圆角 18"/>
          <p:cNvSpPr/>
          <p:nvPr userDrawn="1"/>
        </p:nvSpPr>
        <p:spPr>
          <a:xfrm>
            <a:off x="0" y="51734"/>
            <a:ext cx="116681" cy="564659"/>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BAF3BD-DEEC-F04A-8CAB-43BDC317F9F4}" type="datetimeFigureOut">
              <a:rPr kumimoji="1" lang="zh-CN" altLang="en-US" smtClean="0"/>
              <a:t>2025/8/8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30DCA-9AB1-5543-9943-A91CDE3897B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2.xml"/><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6.jp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a:extLst>
              <a:ext uri="{FF2B5EF4-FFF2-40B4-BE49-F238E27FC236}">
                <a16:creationId xmlns:a16="http://schemas.microsoft.com/office/drawing/2014/main" id="{4D912AE6-5C2D-43CA-B459-CB9D545303EB}"/>
              </a:ext>
            </a:extLst>
          </p:cNvPr>
          <p:cNvPicPr>
            <a:picLocks noChangeAspect="1"/>
          </p:cNvPicPr>
          <p:nvPr/>
        </p:nvPicPr>
        <p:blipFill rotWithShape="1">
          <a:blip r:embed="rId3" cstate="print">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40000" contrast="40000"/>
                    </a14:imgEffect>
                    <a14:imgEffect>
                      <a14:sharpenSoften amount="50000"/>
                    </a14:imgEffect>
                  </a14:imgLayer>
                </a14:imgProps>
              </a:ext>
              <a:ext uri="{28A0092B-C50C-407E-A947-70E740481C1C}">
                <a14:useLocalDpi xmlns:a14="http://schemas.microsoft.com/office/drawing/2010/main" val="0"/>
              </a:ext>
            </a:extLst>
          </a:blip>
          <a:srcRect l="34994" t="19317" r="34744" b="20898"/>
          <a:stretch>
            <a:fillRect/>
          </a:stretch>
        </p:blipFill>
        <p:spPr>
          <a:xfrm>
            <a:off x="3835400" y="1140127"/>
            <a:ext cx="4521200" cy="4465388"/>
          </a:xfrm>
          <a:prstGeom prst="rect">
            <a:avLst/>
          </a:prstGeom>
        </p:spPr>
      </p:pic>
      <p:sp>
        <p:nvSpPr>
          <p:cNvPr id="5" name="矩形 4">
            <a:extLst>
              <a:ext uri="{FF2B5EF4-FFF2-40B4-BE49-F238E27FC236}">
                <a16:creationId xmlns:a16="http://schemas.microsoft.com/office/drawing/2014/main" id="{E8BAE93E-6BA9-44FC-8791-F045ECFECC73}"/>
              </a:ext>
            </a:extLst>
          </p:cNvPr>
          <p:cNvSpPr/>
          <p:nvPr/>
        </p:nvSpPr>
        <p:spPr>
          <a:xfrm>
            <a:off x="-13336" y="1929330"/>
            <a:ext cx="12222183" cy="2595245"/>
          </a:xfrm>
          <a:prstGeom prst="rect">
            <a:avLst/>
          </a:prstGeom>
          <a:solidFill>
            <a:schemeClr val="accent5">
              <a:lumMod val="20000"/>
              <a:lumOff val="80000"/>
              <a:alpha val="4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92CC6FB6-A847-4314-9D53-66A842C659A7}"/>
              </a:ext>
            </a:extLst>
          </p:cNvPr>
          <p:cNvSpPr/>
          <p:nvPr/>
        </p:nvSpPr>
        <p:spPr>
          <a:xfrm>
            <a:off x="-13335" y="2124550"/>
            <a:ext cx="12196445" cy="1005019"/>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5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密码技术应用员</a:t>
            </a:r>
            <a:endParaRPr kumimoji="0" lang="en-US" altLang="zh-CN" sz="5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44957A8-BDFC-4681-BBDA-03F94AD19CBB}"/>
              </a:ext>
            </a:extLst>
          </p:cNvPr>
          <p:cNvSpPr txBox="1"/>
          <p:nvPr>
            <p:custDataLst>
              <p:tags r:id="rId1"/>
            </p:custDataLst>
          </p:nvPr>
        </p:nvSpPr>
        <p:spPr>
          <a:xfrm>
            <a:off x="0" y="3326925"/>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506604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2CC6FB6-A847-4314-9D53-66A842C659A7}"/>
              </a:ext>
            </a:extLst>
          </p:cNvPr>
          <p:cNvSpPr/>
          <p:nvPr/>
        </p:nvSpPr>
        <p:spPr>
          <a:xfrm>
            <a:off x="-4445" y="130331"/>
            <a:ext cx="12196445" cy="835998"/>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4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目录</a:t>
            </a:r>
            <a:endParaRPr kumimoji="0" lang="en-US" altLang="zh-CN" sz="4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44957A8-BDFC-4681-BBDA-03F94AD19CBB}"/>
              </a:ext>
            </a:extLst>
          </p:cNvPr>
          <p:cNvSpPr txBox="1"/>
          <p:nvPr>
            <p:custDataLst>
              <p:tags r:id="rId1"/>
            </p:custDataLst>
          </p:nvPr>
        </p:nvSpPr>
        <p:spPr>
          <a:xfrm>
            <a:off x="0" y="1180323"/>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alt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F53462E7-622A-4AA0-A243-991D8067A271}"/>
              </a:ext>
            </a:extLst>
          </p:cNvPr>
          <p:cNvSpPr txBox="1"/>
          <p:nvPr/>
        </p:nvSpPr>
        <p:spPr>
          <a:xfrm>
            <a:off x="4544504" y="2066722"/>
            <a:ext cx="3098545" cy="2820131"/>
          </a:xfrm>
          <a:prstGeom prst="rect">
            <a:avLst/>
          </a:prstGeom>
          <a:noFill/>
        </p:spPr>
        <p:txBody>
          <a:bodyPr wrap="square" rtlCol="0">
            <a:spAutoFit/>
          </a:bodyPr>
          <a:lstStyle/>
          <a:p>
            <a:pPr marL="457200" indent="-457200">
              <a:lnSpc>
                <a:spcPct val="125000"/>
              </a:lnSpc>
              <a:buFont typeface="+mj-ea"/>
              <a:buAutoNum type="circleNumDbPlain"/>
            </a:pPr>
            <a:r>
              <a:rPr lang="zh-CN" altLang="en-US" sz="2400" b="1" dirty="0">
                <a:solidFill>
                  <a:srgbClr val="002060"/>
                </a:solidFill>
                <a:latin typeface="微软雅黑" panose="020B0503020204020204" pitchFamily="34" charset="-122"/>
                <a:ea typeface="微软雅黑" panose="020B0503020204020204" pitchFamily="34" charset="-122"/>
              </a:rPr>
              <a:t>密码学发展简介</a:t>
            </a:r>
            <a:endParaRPr lang="zh-CN" altLang="en-US"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Shannon</a:t>
            </a:r>
            <a:r>
              <a:rPr lang="zh-CN" altLang="en-US" sz="2400" dirty="0">
                <a:solidFill>
                  <a:srgbClr val="002060"/>
                </a:solidFill>
                <a:latin typeface="微软雅黑" panose="020B0503020204020204" pitchFamily="34" charset="-122"/>
                <a:ea typeface="微软雅黑" panose="020B0503020204020204" pitchFamily="34" charset="-122"/>
              </a:rPr>
              <a:t>理论</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Hash</a:t>
            </a:r>
            <a:r>
              <a:rPr lang="zh-CN" altLang="en-US" sz="2400" dirty="0">
                <a:solidFill>
                  <a:srgbClr val="002060"/>
                </a:solidFill>
                <a:latin typeface="微软雅黑" panose="020B0503020204020204" pitchFamily="34" charset="-122"/>
                <a:ea typeface="微软雅黑" panose="020B0503020204020204" pitchFamily="34" charset="-122"/>
              </a:rPr>
              <a:t>函数</a:t>
            </a: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非对称密码算法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密码协议</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7645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33828" y="72453"/>
            <a:ext cx="7296682" cy="521970"/>
          </a:xfrm>
          <a:prstGeom prst="rect">
            <a:avLst/>
          </a:prstGeom>
        </p:spPr>
        <p:txBody>
          <a:bodyPr wrap="square">
            <a:spAutoFit/>
          </a:bodyPr>
          <a:lstStyle/>
          <a:p>
            <a:pPr marL="0" marR="0" lvl="0" indent="0" algn="l" defTabSz="514350" rtl="0" eaLnBrk="1" fontAlgn="auto" latinLnBrk="0" hangingPunct="1">
              <a:lnSpc>
                <a:spcPct val="100000"/>
              </a:lnSpc>
              <a:spcBef>
                <a:spcPct val="30000"/>
              </a:spcBef>
              <a:spcAft>
                <a:spcPts val="0"/>
              </a:spcAft>
              <a:buClrTx/>
              <a:buSzTx/>
              <a:buFontTx/>
              <a:buNone/>
              <a:defRPr/>
            </a:pP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密码学发展简介</a:t>
            </a:r>
          </a:p>
        </p:txBody>
      </p:sp>
      <p:grpSp>
        <p:nvGrpSpPr>
          <p:cNvPr id="33" name="组合 2"/>
          <p:cNvGrpSpPr/>
          <p:nvPr/>
        </p:nvGrpSpPr>
        <p:grpSpPr>
          <a:xfrm>
            <a:off x="153148" y="808658"/>
            <a:ext cx="7381902" cy="546323"/>
            <a:chOff x="180042" y="928625"/>
            <a:chExt cx="7381902" cy="546323"/>
          </a:xfrm>
        </p:grpSpPr>
        <p:grpSp>
          <p:nvGrpSpPr>
            <p:cNvPr id="34" name="组合 3"/>
            <p:cNvGrpSpPr/>
            <p:nvPr/>
          </p:nvGrpSpPr>
          <p:grpSpPr>
            <a:xfrm>
              <a:off x="180042" y="928625"/>
              <a:ext cx="7381902" cy="515546"/>
              <a:chOff x="2235016" y="7042507"/>
              <a:chExt cx="7381902" cy="515546"/>
            </a:xfrm>
          </p:grpSpPr>
          <p:sp>
            <p:nvSpPr>
              <p:cNvPr id="36" name="平行四边形 35"/>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密码学简介</a:t>
              </a:r>
            </a:p>
          </p:txBody>
        </p:sp>
      </p:grpSp>
      <p:grpSp>
        <p:nvGrpSpPr>
          <p:cNvPr id="334" name="组合 333">
            <a:extLst>
              <a:ext uri="{FF2B5EF4-FFF2-40B4-BE49-F238E27FC236}">
                <a16:creationId xmlns:a16="http://schemas.microsoft.com/office/drawing/2014/main" id="{F9467C35-358C-2B78-0D40-03891E227E90}"/>
              </a:ext>
            </a:extLst>
          </p:cNvPr>
          <p:cNvGrpSpPr/>
          <p:nvPr/>
        </p:nvGrpSpPr>
        <p:grpSpPr>
          <a:xfrm>
            <a:off x="1856654" y="1809650"/>
            <a:ext cx="8022640" cy="4016127"/>
            <a:chOff x="470911" y="1979334"/>
            <a:chExt cx="4131926" cy="2571751"/>
          </a:xfrm>
        </p:grpSpPr>
        <p:sp>
          <p:nvSpPr>
            <p:cNvPr id="290" name="Shape 1">
              <a:extLst>
                <a:ext uri="{FF2B5EF4-FFF2-40B4-BE49-F238E27FC236}">
                  <a16:creationId xmlns:a16="http://schemas.microsoft.com/office/drawing/2014/main" id="{D16E754D-2AF2-1FB1-5E48-1FB201F70655}"/>
                </a:ext>
              </a:extLst>
            </p:cNvPr>
            <p:cNvSpPr/>
            <p:nvPr/>
          </p:nvSpPr>
          <p:spPr>
            <a:xfrm>
              <a:off x="488037" y="1993621"/>
              <a:ext cx="4114800" cy="842963"/>
            </a:xfrm>
            <a:prstGeom prst="rect">
              <a:avLst/>
            </a:prstGeom>
            <a:solidFill>
              <a:srgbClr val="F8F9FA"/>
            </a:solidFill>
            <a:ln/>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1" name="Shape 2">
              <a:extLst>
                <a:ext uri="{FF2B5EF4-FFF2-40B4-BE49-F238E27FC236}">
                  <a16:creationId xmlns:a16="http://schemas.microsoft.com/office/drawing/2014/main" id="{ACA93A2C-488B-5B53-CC4E-01A5F5355C5D}"/>
                </a:ext>
              </a:extLst>
            </p:cNvPr>
            <p:cNvSpPr/>
            <p:nvPr/>
          </p:nvSpPr>
          <p:spPr>
            <a:xfrm>
              <a:off x="470911" y="1979334"/>
              <a:ext cx="28575" cy="842963"/>
            </a:xfrm>
            <a:prstGeom prst="rect">
              <a:avLst/>
            </a:prstGeom>
            <a:solidFill>
              <a:srgbClr val="3498DB"/>
            </a:solidFill>
            <a:ln/>
          </p:spPr>
        </p:sp>
        <p:sp>
          <p:nvSpPr>
            <p:cNvPr id="292" name="Text 3">
              <a:extLst>
                <a:ext uri="{FF2B5EF4-FFF2-40B4-BE49-F238E27FC236}">
                  <a16:creationId xmlns:a16="http://schemas.microsoft.com/office/drawing/2014/main" id="{8E208283-6336-4A5D-EBE5-2F190E5B92D6}"/>
                </a:ext>
              </a:extLst>
            </p:cNvPr>
            <p:cNvSpPr/>
            <p:nvPr/>
          </p:nvSpPr>
          <p:spPr>
            <a:xfrm>
              <a:off x="578067" y="2014228"/>
              <a:ext cx="594432" cy="238105"/>
            </a:xfrm>
            <a:prstGeom prst="rect">
              <a:avLst/>
            </a:prstGeom>
            <a:noFill/>
            <a:ln/>
          </p:spPr>
          <p:txBody>
            <a:bodyPr wrap="none" lIns="0" tIns="0" rIns="0" bIns="0" rtlCol="0" anchor="ctr">
              <a:spAutoFit/>
            </a:bodyPr>
            <a:lstStyle/>
            <a:p>
              <a:pPr marL="0" indent="0">
                <a:lnSpc>
                  <a:spcPct val="150000"/>
                </a:lnSpc>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密码学定义</a:t>
              </a:r>
              <a:endParaRPr lang="en-US" dirty="0">
                <a:latin typeface="微软雅黑" panose="020B0503020204020204" pitchFamily="34" charset="-122"/>
                <a:ea typeface="微软雅黑" panose="020B0503020204020204" pitchFamily="34" charset="-122"/>
              </a:endParaRPr>
            </a:p>
          </p:txBody>
        </p:sp>
        <p:sp>
          <p:nvSpPr>
            <p:cNvPr id="293" name="Text 4">
              <a:extLst>
                <a:ext uri="{FF2B5EF4-FFF2-40B4-BE49-F238E27FC236}">
                  <a16:creationId xmlns:a16="http://schemas.microsoft.com/office/drawing/2014/main" id="{F14C0809-1B49-27A4-1057-FEA737A8B576}"/>
                </a:ext>
              </a:extLst>
            </p:cNvPr>
            <p:cNvSpPr/>
            <p:nvPr/>
          </p:nvSpPr>
          <p:spPr>
            <a:xfrm>
              <a:off x="578067" y="2291604"/>
              <a:ext cx="3900488" cy="504172"/>
            </a:xfrm>
            <a:prstGeom prst="rect">
              <a:avLst/>
            </a:prstGeom>
            <a:noFill/>
            <a:ln/>
          </p:spPr>
          <p:txBody>
            <a:bodyPr wrap="square" lIns="0" tIns="0" rIns="0" bIns="0" rtlCol="0" anchor="ctr">
              <a:spAutoFit/>
            </a:bodyPr>
            <a:lstStyle/>
            <a:p>
              <a:pPr marL="0" indent="0">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密码学是研究如何通过数学和计算机科学的方法来保护信息安全的学科，主要研究信息的加密、解密、签名、认证等技术。</a:t>
              </a:r>
              <a:endParaRPr lang="en-US" dirty="0">
                <a:latin typeface="微软雅黑" panose="020B0503020204020204" pitchFamily="34" charset="-122"/>
                <a:ea typeface="微软雅黑" panose="020B0503020204020204" pitchFamily="34" charset="-122"/>
              </a:endParaRPr>
            </a:p>
          </p:txBody>
        </p:sp>
        <p:sp>
          <p:nvSpPr>
            <p:cNvPr id="294" name="Shape 5">
              <a:extLst>
                <a:ext uri="{FF2B5EF4-FFF2-40B4-BE49-F238E27FC236}">
                  <a16:creationId xmlns:a16="http://schemas.microsoft.com/office/drawing/2014/main" id="{AC56489A-FBCE-55C3-7C42-D48D10FD7D39}"/>
                </a:ext>
              </a:extLst>
            </p:cNvPr>
            <p:cNvSpPr/>
            <p:nvPr/>
          </p:nvSpPr>
          <p:spPr>
            <a:xfrm>
              <a:off x="470911" y="2965172"/>
              <a:ext cx="4114800" cy="1585913"/>
            </a:xfrm>
            <a:prstGeom prst="rect">
              <a:avLst/>
            </a:prstGeom>
            <a:solidFill>
              <a:srgbClr val="F8F9FA"/>
            </a:solidFill>
            <a:ln/>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5" name="Shape 6">
              <a:extLst>
                <a:ext uri="{FF2B5EF4-FFF2-40B4-BE49-F238E27FC236}">
                  <a16:creationId xmlns:a16="http://schemas.microsoft.com/office/drawing/2014/main" id="{CBB7378F-D64D-42CC-63AA-16A2AC4EFC3A}"/>
                </a:ext>
              </a:extLst>
            </p:cNvPr>
            <p:cNvSpPr/>
            <p:nvPr/>
          </p:nvSpPr>
          <p:spPr>
            <a:xfrm>
              <a:off x="470911" y="2965172"/>
              <a:ext cx="28575" cy="1585913"/>
            </a:xfrm>
            <a:prstGeom prst="rect">
              <a:avLst/>
            </a:prstGeom>
            <a:solidFill>
              <a:srgbClr val="3498DB"/>
            </a:solidFill>
            <a:ln/>
          </p:spPr>
        </p:sp>
        <p:sp>
          <p:nvSpPr>
            <p:cNvPr id="296" name="Text 7">
              <a:extLst>
                <a:ext uri="{FF2B5EF4-FFF2-40B4-BE49-F238E27FC236}">
                  <a16:creationId xmlns:a16="http://schemas.microsoft.com/office/drawing/2014/main" id="{B81B74D7-F9B8-AC9A-D66C-FA844B244F28}"/>
                </a:ext>
              </a:extLst>
            </p:cNvPr>
            <p:cNvSpPr/>
            <p:nvPr/>
          </p:nvSpPr>
          <p:spPr>
            <a:xfrm>
              <a:off x="578067" y="3060431"/>
              <a:ext cx="475546" cy="238105"/>
            </a:xfrm>
            <a:prstGeom prst="rect">
              <a:avLst/>
            </a:prstGeom>
            <a:noFill/>
            <a:ln/>
          </p:spPr>
          <p:txBody>
            <a:bodyPr wrap="none" lIns="0" tIns="0" rIns="0" bIns="0" rtlCol="0" anchor="ctr">
              <a:spAutoFit/>
            </a:bodyPr>
            <a:lstStyle/>
            <a:p>
              <a:pPr marL="0" indent="0">
                <a:lnSpc>
                  <a:spcPct val="150000"/>
                </a:lnSpc>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基本概念</a:t>
              </a:r>
              <a:endParaRPr lang="en-US" dirty="0">
                <a:latin typeface="微软雅黑" panose="020B0503020204020204" pitchFamily="34" charset="-122"/>
                <a:ea typeface="微软雅黑" panose="020B0503020204020204" pitchFamily="34" charset="-122"/>
              </a:endParaRPr>
            </a:p>
          </p:txBody>
        </p:sp>
        <p:sp>
          <p:nvSpPr>
            <p:cNvPr id="297" name="Text 8">
              <a:extLst>
                <a:ext uri="{FF2B5EF4-FFF2-40B4-BE49-F238E27FC236}">
                  <a16:creationId xmlns:a16="http://schemas.microsoft.com/office/drawing/2014/main" id="{4D73C09B-859C-487C-C63D-F6D277D3954B}"/>
                </a:ext>
              </a:extLst>
            </p:cNvPr>
            <p:cNvSpPr/>
            <p:nvPr/>
          </p:nvSpPr>
          <p:spPr>
            <a:xfrm>
              <a:off x="720942" y="3323858"/>
              <a:ext cx="870182" cy="238105"/>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明文(Plaintext)</a:t>
              </a:r>
              <a:endParaRPr lang="en-US" dirty="0">
                <a:latin typeface="微软雅黑" panose="020B0503020204020204" pitchFamily="34" charset="-122"/>
                <a:ea typeface="微软雅黑" panose="020B0503020204020204" pitchFamily="34" charset="-122"/>
              </a:endParaRPr>
            </a:p>
          </p:txBody>
        </p:sp>
        <p:sp>
          <p:nvSpPr>
            <p:cNvPr id="298" name="Text 9">
              <a:extLst>
                <a:ext uri="{FF2B5EF4-FFF2-40B4-BE49-F238E27FC236}">
                  <a16:creationId xmlns:a16="http://schemas.microsoft.com/office/drawing/2014/main" id="{0C34EACC-387C-C14D-EDAC-DFAE13F31737}"/>
                </a:ext>
              </a:extLst>
            </p:cNvPr>
            <p:cNvSpPr/>
            <p:nvPr/>
          </p:nvSpPr>
          <p:spPr>
            <a:xfrm>
              <a:off x="1543227" y="3323858"/>
              <a:ext cx="862752" cy="238105"/>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 ：原始可读信息</a:t>
              </a:r>
              <a:endParaRPr lang="en-US" dirty="0">
                <a:latin typeface="微软雅黑" panose="020B0503020204020204" pitchFamily="34" charset="-122"/>
                <a:ea typeface="微软雅黑" panose="020B0503020204020204" pitchFamily="34" charset="-122"/>
              </a:endParaRPr>
            </a:p>
          </p:txBody>
        </p:sp>
        <p:sp>
          <p:nvSpPr>
            <p:cNvPr id="299" name="Text 10">
              <a:extLst>
                <a:ext uri="{FF2B5EF4-FFF2-40B4-BE49-F238E27FC236}">
                  <a16:creationId xmlns:a16="http://schemas.microsoft.com/office/drawing/2014/main" id="{A610C9EB-AFC7-5993-E279-82EFC837A5BC}"/>
                </a:ext>
              </a:extLst>
            </p:cNvPr>
            <p:cNvSpPr/>
            <p:nvPr/>
          </p:nvSpPr>
          <p:spPr>
            <a:xfrm>
              <a:off x="720942" y="3552458"/>
              <a:ext cx="962649" cy="238105"/>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密文(Ciphertext)</a:t>
              </a:r>
              <a:endParaRPr lang="en-US" dirty="0">
                <a:latin typeface="微软雅黑" panose="020B0503020204020204" pitchFamily="34" charset="-122"/>
                <a:ea typeface="微软雅黑" panose="020B0503020204020204" pitchFamily="34" charset="-122"/>
              </a:endParaRPr>
            </a:p>
          </p:txBody>
        </p:sp>
        <p:sp>
          <p:nvSpPr>
            <p:cNvPr id="300" name="Text 11">
              <a:extLst>
                <a:ext uri="{FF2B5EF4-FFF2-40B4-BE49-F238E27FC236}">
                  <a16:creationId xmlns:a16="http://schemas.microsoft.com/office/drawing/2014/main" id="{0EC3DE24-2485-3E58-071C-2452F38DA0E1}"/>
                </a:ext>
              </a:extLst>
            </p:cNvPr>
            <p:cNvSpPr/>
            <p:nvPr/>
          </p:nvSpPr>
          <p:spPr>
            <a:xfrm>
              <a:off x="1632161" y="3552458"/>
              <a:ext cx="1100524" cy="238105"/>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 ：经过加密后的信息</a:t>
              </a:r>
              <a:endParaRPr lang="en-US" dirty="0">
                <a:latin typeface="微软雅黑" panose="020B0503020204020204" pitchFamily="34" charset="-122"/>
                <a:ea typeface="微软雅黑" panose="020B0503020204020204" pitchFamily="34" charset="-122"/>
              </a:endParaRPr>
            </a:p>
          </p:txBody>
        </p:sp>
        <p:sp>
          <p:nvSpPr>
            <p:cNvPr id="301" name="Text 12">
              <a:extLst>
                <a:ext uri="{FF2B5EF4-FFF2-40B4-BE49-F238E27FC236}">
                  <a16:creationId xmlns:a16="http://schemas.microsoft.com/office/drawing/2014/main" id="{3117DAAA-7106-E98E-4185-83B3921D89D3}"/>
                </a:ext>
              </a:extLst>
            </p:cNvPr>
            <p:cNvSpPr/>
            <p:nvPr/>
          </p:nvSpPr>
          <p:spPr>
            <a:xfrm>
              <a:off x="720942" y="3781058"/>
              <a:ext cx="973382" cy="238105"/>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加密(Encryption)</a:t>
              </a:r>
              <a:endParaRPr lang="en-US" dirty="0">
                <a:latin typeface="微软雅黑" panose="020B0503020204020204" pitchFamily="34" charset="-122"/>
                <a:ea typeface="微软雅黑" panose="020B0503020204020204" pitchFamily="34" charset="-122"/>
              </a:endParaRPr>
            </a:p>
          </p:txBody>
        </p:sp>
        <p:sp>
          <p:nvSpPr>
            <p:cNvPr id="302" name="Text 13">
              <a:extLst>
                <a:ext uri="{FF2B5EF4-FFF2-40B4-BE49-F238E27FC236}">
                  <a16:creationId xmlns:a16="http://schemas.microsoft.com/office/drawing/2014/main" id="{FC49EB46-7FB9-CD47-C2A7-D4AEBF486934}"/>
                </a:ext>
              </a:extLst>
            </p:cNvPr>
            <p:cNvSpPr/>
            <p:nvPr/>
          </p:nvSpPr>
          <p:spPr>
            <a:xfrm>
              <a:off x="1644495" y="3781058"/>
              <a:ext cx="1457184" cy="238105"/>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 ：将明文转换为密文的过程</a:t>
              </a:r>
              <a:endParaRPr lang="en-US" dirty="0">
                <a:latin typeface="微软雅黑" panose="020B0503020204020204" pitchFamily="34" charset="-122"/>
                <a:ea typeface="微软雅黑" panose="020B0503020204020204" pitchFamily="34" charset="-122"/>
              </a:endParaRPr>
            </a:p>
          </p:txBody>
        </p:sp>
        <p:sp>
          <p:nvSpPr>
            <p:cNvPr id="303" name="Text 14">
              <a:extLst>
                <a:ext uri="{FF2B5EF4-FFF2-40B4-BE49-F238E27FC236}">
                  <a16:creationId xmlns:a16="http://schemas.microsoft.com/office/drawing/2014/main" id="{C6E748A8-C39F-1B05-E3B4-87F3F6095B96}"/>
                </a:ext>
              </a:extLst>
            </p:cNvPr>
            <p:cNvSpPr/>
            <p:nvPr/>
          </p:nvSpPr>
          <p:spPr>
            <a:xfrm>
              <a:off x="720942" y="4011340"/>
              <a:ext cx="998315" cy="234738"/>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解密(Decryption)</a:t>
              </a:r>
              <a:endParaRPr lang="en-US" dirty="0">
                <a:latin typeface="微软雅黑" panose="020B0503020204020204" pitchFamily="34" charset="-122"/>
                <a:ea typeface="微软雅黑" panose="020B0503020204020204" pitchFamily="34" charset="-122"/>
              </a:endParaRPr>
            </a:p>
          </p:txBody>
        </p:sp>
        <p:sp>
          <p:nvSpPr>
            <p:cNvPr id="304" name="Text 15">
              <a:extLst>
                <a:ext uri="{FF2B5EF4-FFF2-40B4-BE49-F238E27FC236}">
                  <a16:creationId xmlns:a16="http://schemas.microsoft.com/office/drawing/2014/main" id="{BDF8D000-AA53-8B4A-B27C-1EEA4F29647F}"/>
                </a:ext>
              </a:extLst>
            </p:cNvPr>
            <p:cNvSpPr/>
            <p:nvPr/>
          </p:nvSpPr>
          <p:spPr>
            <a:xfrm>
              <a:off x="1657527" y="4009657"/>
              <a:ext cx="1457184" cy="238105"/>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 ：将密文恢复为明文的过程</a:t>
              </a:r>
              <a:endParaRPr lang="en-US" dirty="0">
                <a:latin typeface="微软雅黑" panose="020B0503020204020204" pitchFamily="34" charset="-122"/>
                <a:ea typeface="微软雅黑" panose="020B0503020204020204" pitchFamily="34" charset="-122"/>
              </a:endParaRPr>
            </a:p>
          </p:txBody>
        </p:sp>
        <p:sp>
          <p:nvSpPr>
            <p:cNvPr id="305" name="Text 16">
              <a:extLst>
                <a:ext uri="{FF2B5EF4-FFF2-40B4-BE49-F238E27FC236}">
                  <a16:creationId xmlns:a16="http://schemas.microsoft.com/office/drawing/2014/main" id="{5C3A249A-F2DE-0C24-C31C-D614FC498930}"/>
                </a:ext>
              </a:extLst>
            </p:cNvPr>
            <p:cNvSpPr/>
            <p:nvPr/>
          </p:nvSpPr>
          <p:spPr>
            <a:xfrm>
              <a:off x="720942" y="4238257"/>
              <a:ext cx="547373" cy="238105"/>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密钥(Key)</a:t>
              </a:r>
              <a:endParaRPr lang="en-US" dirty="0">
                <a:latin typeface="微软雅黑" panose="020B0503020204020204" pitchFamily="34" charset="-122"/>
                <a:ea typeface="微软雅黑" panose="020B0503020204020204" pitchFamily="34" charset="-122"/>
              </a:endParaRPr>
            </a:p>
          </p:txBody>
        </p:sp>
        <p:sp>
          <p:nvSpPr>
            <p:cNvPr id="306" name="Text 17">
              <a:extLst>
                <a:ext uri="{FF2B5EF4-FFF2-40B4-BE49-F238E27FC236}">
                  <a16:creationId xmlns:a16="http://schemas.microsoft.com/office/drawing/2014/main" id="{8D491524-76BA-DC1B-393D-1CEEE34C9140}"/>
                </a:ext>
              </a:extLst>
            </p:cNvPr>
            <p:cNvSpPr/>
            <p:nvPr/>
          </p:nvSpPr>
          <p:spPr>
            <a:xfrm>
              <a:off x="1233255" y="4238257"/>
              <a:ext cx="1576070" cy="238105"/>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 ：控制加密和解密过程的参数</a:t>
              </a:r>
              <a:endParaRPr lang="en-US"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8C51E-6187-9F0D-52F9-05B73C8346F4}"/>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60F631FC-183E-1963-A1ED-5CBF06B060CD}"/>
              </a:ext>
            </a:extLst>
          </p:cNvPr>
          <p:cNvSpPr/>
          <p:nvPr/>
        </p:nvSpPr>
        <p:spPr>
          <a:xfrm>
            <a:off x="333828" y="72453"/>
            <a:ext cx="7296682" cy="521970"/>
          </a:xfrm>
          <a:prstGeom prst="rect">
            <a:avLst/>
          </a:prstGeom>
        </p:spPr>
        <p:txBody>
          <a:bodyPr wrap="square">
            <a:spAutoFit/>
          </a:bodyPr>
          <a:lstStyle/>
          <a:p>
            <a:pPr marL="0" marR="0" lvl="0" indent="0" algn="l" defTabSz="514350" rtl="0" eaLnBrk="1" fontAlgn="auto" latinLnBrk="0" hangingPunct="1">
              <a:lnSpc>
                <a:spcPct val="100000"/>
              </a:lnSpc>
              <a:spcBef>
                <a:spcPct val="30000"/>
              </a:spcBef>
              <a:spcAft>
                <a:spcPts val="0"/>
              </a:spcAft>
              <a:buClrTx/>
              <a:buSzTx/>
              <a:buFontTx/>
              <a:buNone/>
              <a:defRPr/>
            </a:pP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密码学发展简介</a:t>
            </a:r>
          </a:p>
        </p:txBody>
      </p:sp>
      <p:grpSp>
        <p:nvGrpSpPr>
          <p:cNvPr id="33" name="组合 2">
            <a:extLst>
              <a:ext uri="{FF2B5EF4-FFF2-40B4-BE49-F238E27FC236}">
                <a16:creationId xmlns:a16="http://schemas.microsoft.com/office/drawing/2014/main" id="{0EEC579C-CB85-A0B1-02ED-01611B52A5FB}"/>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D5787D29-BEBD-AAE7-823E-4538E30247C6}"/>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A7504576-C187-FAF9-8D27-ED863A9FFCCF}"/>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510ECE19-2A30-A91C-D1C4-1B5C7EAA9FF3}"/>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8CB639B8-08CF-B516-D504-AC922F5A5670}"/>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密码学简介</a:t>
              </a:r>
            </a:p>
          </p:txBody>
        </p:sp>
      </p:grpSp>
      <p:grpSp>
        <p:nvGrpSpPr>
          <p:cNvPr id="2" name="组合 1">
            <a:extLst>
              <a:ext uri="{FF2B5EF4-FFF2-40B4-BE49-F238E27FC236}">
                <a16:creationId xmlns:a16="http://schemas.microsoft.com/office/drawing/2014/main" id="{4A945938-1BED-5FFF-9F49-808899B8FEB0}"/>
              </a:ext>
            </a:extLst>
          </p:cNvPr>
          <p:cNvGrpSpPr/>
          <p:nvPr/>
        </p:nvGrpSpPr>
        <p:grpSpPr>
          <a:xfrm>
            <a:off x="1901796" y="1753090"/>
            <a:ext cx="8403205" cy="4414411"/>
            <a:chOff x="4928611" y="1979334"/>
            <a:chExt cx="4114800" cy="2625162"/>
          </a:xfrm>
        </p:grpSpPr>
        <p:sp>
          <p:nvSpPr>
            <p:cNvPr id="307" name="Shape 18">
              <a:extLst>
                <a:ext uri="{FF2B5EF4-FFF2-40B4-BE49-F238E27FC236}">
                  <a16:creationId xmlns:a16="http://schemas.microsoft.com/office/drawing/2014/main" id="{A92669FB-484F-9951-8BBA-8CCD9FB7D4A0}"/>
                </a:ext>
              </a:extLst>
            </p:cNvPr>
            <p:cNvSpPr/>
            <p:nvPr/>
          </p:nvSpPr>
          <p:spPr>
            <a:xfrm>
              <a:off x="4928611" y="1979334"/>
              <a:ext cx="4114800" cy="1357313"/>
            </a:xfrm>
            <a:prstGeom prst="rect">
              <a:avLst/>
            </a:prstGeom>
            <a:solidFill>
              <a:srgbClr val="F8F9FA"/>
            </a:solidFill>
            <a:ln/>
          </p:spPr>
        </p:sp>
        <p:sp>
          <p:nvSpPr>
            <p:cNvPr id="308" name="Shape 19">
              <a:extLst>
                <a:ext uri="{FF2B5EF4-FFF2-40B4-BE49-F238E27FC236}">
                  <a16:creationId xmlns:a16="http://schemas.microsoft.com/office/drawing/2014/main" id="{22909311-E741-F3AE-CC38-D7A013FDFD89}"/>
                </a:ext>
              </a:extLst>
            </p:cNvPr>
            <p:cNvSpPr/>
            <p:nvPr/>
          </p:nvSpPr>
          <p:spPr>
            <a:xfrm>
              <a:off x="4928611" y="1979334"/>
              <a:ext cx="28575" cy="1357313"/>
            </a:xfrm>
            <a:prstGeom prst="rect">
              <a:avLst/>
            </a:prstGeom>
            <a:solidFill>
              <a:srgbClr val="3498DB"/>
            </a:solidFill>
            <a:ln/>
          </p:spPr>
        </p:sp>
        <p:sp>
          <p:nvSpPr>
            <p:cNvPr id="309" name="Text 20">
              <a:extLst>
                <a:ext uri="{FF2B5EF4-FFF2-40B4-BE49-F238E27FC236}">
                  <a16:creationId xmlns:a16="http://schemas.microsoft.com/office/drawing/2014/main" id="{2A4FA53E-2405-6BE1-1F2B-D604B068347B}"/>
                </a:ext>
              </a:extLst>
            </p:cNvPr>
            <p:cNvSpPr/>
            <p:nvPr/>
          </p:nvSpPr>
          <p:spPr>
            <a:xfrm>
              <a:off x="5035767" y="2083085"/>
              <a:ext cx="1130318" cy="221122"/>
            </a:xfrm>
            <a:prstGeom prst="rect">
              <a:avLst/>
            </a:prstGeom>
            <a:noFill/>
            <a:ln/>
          </p:spPr>
          <p:txBody>
            <a:bodyPr wrap="none" lIns="0" tIns="0" rIns="0" bIns="0" rtlCol="0" anchor="ctr">
              <a:spAutoFit/>
            </a:bodyPr>
            <a:lstStyle/>
            <a:p>
              <a:pPr marL="0" indent="0">
                <a:lnSpc>
                  <a:spcPct val="150000"/>
                </a:lnSpc>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密码学的主要研究内容</a:t>
              </a:r>
              <a:endParaRPr lang="en-US" dirty="0">
                <a:latin typeface="微软雅黑" panose="020B0503020204020204" pitchFamily="34" charset="-122"/>
                <a:ea typeface="微软雅黑" panose="020B0503020204020204" pitchFamily="34" charset="-122"/>
              </a:endParaRPr>
            </a:p>
          </p:txBody>
        </p:sp>
        <p:sp>
          <p:nvSpPr>
            <p:cNvPr id="310" name="Text 21">
              <a:extLst>
                <a:ext uri="{FF2B5EF4-FFF2-40B4-BE49-F238E27FC236}">
                  <a16:creationId xmlns:a16="http://schemas.microsoft.com/office/drawing/2014/main" id="{E0E95E06-2425-5350-3289-19D59E8F2E51}"/>
                </a:ext>
              </a:extLst>
            </p:cNvPr>
            <p:cNvSpPr/>
            <p:nvPr/>
          </p:nvSpPr>
          <p:spPr>
            <a:xfrm>
              <a:off x="5178642" y="2346512"/>
              <a:ext cx="452127" cy="221122"/>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密码算法</a:t>
              </a:r>
              <a:endParaRPr lang="en-US" dirty="0">
                <a:latin typeface="微软雅黑" panose="020B0503020204020204" pitchFamily="34" charset="-122"/>
                <a:ea typeface="微软雅黑" panose="020B0503020204020204" pitchFamily="34" charset="-122"/>
              </a:endParaRPr>
            </a:p>
          </p:txBody>
        </p:sp>
        <p:sp>
          <p:nvSpPr>
            <p:cNvPr id="311" name="Text 22">
              <a:extLst>
                <a:ext uri="{FF2B5EF4-FFF2-40B4-BE49-F238E27FC236}">
                  <a16:creationId xmlns:a16="http://schemas.microsoft.com/office/drawing/2014/main" id="{6565441D-D8DF-8E95-3B5C-02E73512A0F0}"/>
                </a:ext>
              </a:extLst>
            </p:cNvPr>
            <p:cNvSpPr/>
            <p:nvPr/>
          </p:nvSpPr>
          <p:spPr>
            <a:xfrm>
              <a:off x="5635842" y="2346512"/>
              <a:ext cx="1967067" cy="221122"/>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：对称密码、非对称密码、Hash函数等</a:t>
              </a:r>
              <a:endParaRPr lang="en-US" dirty="0">
                <a:latin typeface="微软雅黑" panose="020B0503020204020204" pitchFamily="34" charset="-122"/>
                <a:ea typeface="微软雅黑" panose="020B0503020204020204" pitchFamily="34" charset="-122"/>
              </a:endParaRPr>
            </a:p>
          </p:txBody>
        </p:sp>
        <p:sp>
          <p:nvSpPr>
            <p:cNvPr id="312" name="Text 23">
              <a:extLst>
                <a:ext uri="{FF2B5EF4-FFF2-40B4-BE49-F238E27FC236}">
                  <a16:creationId xmlns:a16="http://schemas.microsoft.com/office/drawing/2014/main" id="{CCCF7B62-4315-A899-E363-20461906FF73}"/>
                </a:ext>
              </a:extLst>
            </p:cNvPr>
            <p:cNvSpPr/>
            <p:nvPr/>
          </p:nvSpPr>
          <p:spPr>
            <a:xfrm>
              <a:off x="5178642" y="2575112"/>
              <a:ext cx="452127" cy="221122"/>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密码协议</a:t>
              </a:r>
              <a:endParaRPr lang="en-US" dirty="0">
                <a:latin typeface="微软雅黑" panose="020B0503020204020204" pitchFamily="34" charset="-122"/>
                <a:ea typeface="微软雅黑" panose="020B0503020204020204" pitchFamily="34" charset="-122"/>
              </a:endParaRPr>
            </a:p>
          </p:txBody>
        </p:sp>
        <p:sp>
          <p:nvSpPr>
            <p:cNvPr id="313" name="Text 24">
              <a:extLst>
                <a:ext uri="{FF2B5EF4-FFF2-40B4-BE49-F238E27FC236}">
                  <a16:creationId xmlns:a16="http://schemas.microsoft.com/office/drawing/2014/main" id="{F40CF9E9-15FC-BB06-9B90-28E9B4DE31EC}"/>
                </a:ext>
              </a:extLst>
            </p:cNvPr>
            <p:cNvSpPr/>
            <p:nvPr/>
          </p:nvSpPr>
          <p:spPr>
            <a:xfrm>
              <a:off x="5635842" y="2575112"/>
              <a:ext cx="1808509" cy="221122"/>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：密钥交换、身份认证、安全通信等</a:t>
              </a:r>
              <a:endParaRPr lang="en-US" dirty="0">
                <a:latin typeface="微软雅黑" panose="020B0503020204020204" pitchFamily="34" charset="-122"/>
                <a:ea typeface="微软雅黑" panose="020B0503020204020204" pitchFamily="34" charset="-122"/>
              </a:endParaRPr>
            </a:p>
          </p:txBody>
        </p:sp>
        <p:sp>
          <p:nvSpPr>
            <p:cNvPr id="314" name="Text 25">
              <a:extLst>
                <a:ext uri="{FF2B5EF4-FFF2-40B4-BE49-F238E27FC236}">
                  <a16:creationId xmlns:a16="http://schemas.microsoft.com/office/drawing/2014/main" id="{1F12F682-6C36-4589-E678-C4BEFF1ECF0E}"/>
                </a:ext>
              </a:extLst>
            </p:cNvPr>
            <p:cNvSpPr/>
            <p:nvPr/>
          </p:nvSpPr>
          <p:spPr>
            <a:xfrm>
              <a:off x="5178642" y="2803712"/>
              <a:ext cx="452127" cy="221122"/>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密码分析</a:t>
              </a:r>
              <a:endParaRPr lang="en-US" dirty="0">
                <a:latin typeface="微软雅黑" panose="020B0503020204020204" pitchFamily="34" charset="-122"/>
                <a:ea typeface="微软雅黑" panose="020B0503020204020204" pitchFamily="34" charset="-122"/>
              </a:endParaRPr>
            </a:p>
          </p:txBody>
        </p:sp>
        <p:sp>
          <p:nvSpPr>
            <p:cNvPr id="315" name="Text 26">
              <a:extLst>
                <a:ext uri="{FF2B5EF4-FFF2-40B4-BE49-F238E27FC236}">
                  <a16:creationId xmlns:a16="http://schemas.microsoft.com/office/drawing/2014/main" id="{BBB98B5E-2040-6995-F49A-BC3F78066F54}"/>
                </a:ext>
              </a:extLst>
            </p:cNvPr>
            <p:cNvSpPr/>
            <p:nvPr/>
          </p:nvSpPr>
          <p:spPr>
            <a:xfrm>
              <a:off x="5635842" y="2803712"/>
              <a:ext cx="1808509" cy="221122"/>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：研究密码系统的安全性和攻击方法</a:t>
              </a:r>
              <a:endParaRPr lang="en-US" dirty="0">
                <a:latin typeface="微软雅黑" panose="020B0503020204020204" pitchFamily="34" charset="-122"/>
                <a:ea typeface="微软雅黑" panose="020B0503020204020204" pitchFamily="34" charset="-122"/>
              </a:endParaRPr>
            </a:p>
          </p:txBody>
        </p:sp>
        <p:sp>
          <p:nvSpPr>
            <p:cNvPr id="316" name="Text 27">
              <a:extLst>
                <a:ext uri="{FF2B5EF4-FFF2-40B4-BE49-F238E27FC236}">
                  <a16:creationId xmlns:a16="http://schemas.microsoft.com/office/drawing/2014/main" id="{4F503C0B-9956-E1E2-6F9B-D4E2051DA0FA}"/>
                </a:ext>
              </a:extLst>
            </p:cNvPr>
            <p:cNvSpPr/>
            <p:nvPr/>
          </p:nvSpPr>
          <p:spPr>
            <a:xfrm>
              <a:off x="5178642" y="3032312"/>
              <a:ext cx="452127" cy="221122"/>
            </a:xfrm>
            <a:prstGeom prst="rect">
              <a:avLst/>
            </a:prstGeom>
            <a:noFill/>
            <a:ln/>
          </p:spPr>
          <p:txBody>
            <a:bodyPr wrap="none" lIns="0" tIns="0" rIns="0" bIns="0" rtlCol="0" anchor="ctr">
              <a:spAutoFit/>
            </a:bodyPr>
            <a:lstStyle/>
            <a:p>
              <a:pPr marL="0" indent="0" algn="l">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密码工程</a:t>
              </a:r>
              <a:endParaRPr lang="en-US" dirty="0">
                <a:latin typeface="微软雅黑" panose="020B0503020204020204" pitchFamily="34" charset="-122"/>
                <a:ea typeface="微软雅黑" panose="020B0503020204020204" pitchFamily="34" charset="-122"/>
              </a:endParaRPr>
            </a:p>
          </p:txBody>
        </p:sp>
        <p:sp>
          <p:nvSpPr>
            <p:cNvPr id="317" name="Text 28">
              <a:extLst>
                <a:ext uri="{FF2B5EF4-FFF2-40B4-BE49-F238E27FC236}">
                  <a16:creationId xmlns:a16="http://schemas.microsoft.com/office/drawing/2014/main" id="{90737BC0-CF3D-CDD6-3E54-DF3806C3A102}"/>
                </a:ext>
              </a:extLst>
            </p:cNvPr>
            <p:cNvSpPr/>
            <p:nvPr/>
          </p:nvSpPr>
          <p:spPr>
            <a:xfrm>
              <a:off x="5635842" y="3032312"/>
              <a:ext cx="1243350" cy="221122"/>
            </a:xfrm>
            <a:prstGeom prst="rect">
              <a:avLst/>
            </a:prstGeom>
            <a:noFill/>
            <a:ln/>
          </p:spPr>
          <p:txBody>
            <a:bodyPr wrap="none" lIns="0" tIns="0" rIns="0" bIns="0" rtlCol="0" anchor="ctr">
              <a:spAutoFit/>
            </a:bodyPr>
            <a:lstStyle/>
            <a:p>
              <a:pPr marL="0" indent="0" algn="l">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：密码系统的实现和应用</a:t>
              </a:r>
              <a:endParaRPr lang="en-US" dirty="0">
                <a:latin typeface="微软雅黑" panose="020B0503020204020204" pitchFamily="34" charset="-122"/>
                <a:ea typeface="微软雅黑" panose="020B0503020204020204" pitchFamily="34" charset="-122"/>
              </a:endParaRPr>
            </a:p>
          </p:txBody>
        </p:sp>
        <p:sp>
          <p:nvSpPr>
            <p:cNvPr id="318" name="Text 29">
              <a:extLst>
                <a:ext uri="{FF2B5EF4-FFF2-40B4-BE49-F238E27FC236}">
                  <a16:creationId xmlns:a16="http://schemas.microsoft.com/office/drawing/2014/main" id="{F56CB8BC-D768-1BDE-A798-11F59FF2E12D}"/>
                </a:ext>
              </a:extLst>
            </p:cNvPr>
            <p:cNvSpPr/>
            <p:nvPr/>
          </p:nvSpPr>
          <p:spPr>
            <a:xfrm>
              <a:off x="4928611" y="3497548"/>
              <a:ext cx="904254" cy="221122"/>
            </a:xfrm>
            <a:prstGeom prst="rect">
              <a:avLst/>
            </a:prstGeom>
            <a:noFill/>
            <a:ln/>
          </p:spPr>
          <p:txBody>
            <a:bodyPr wrap="none" lIns="0" tIns="0" rIns="0" bIns="0" rtlCol="0" anchor="ctr">
              <a:spAutoFit/>
            </a:bodyPr>
            <a:lstStyle/>
            <a:p>
              <a:pPr marL="0" indent="0">
                <a:lnSpc>
                  <a:spcPct val="150000"/>
                </a:lnSpc>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密码学的安全目标</a:t>
              </a:r>
              <a:endParaRPr lang="en-US" dirty="0">
                <a:latin typeface="微软雅黑" panose="020B0503020204020204" pitchFamily="34" charset="-122"/>
                <a:ea typeface="微软雅黑" panose="020B0503020204020204" pitchFamily="34" charset="-122"/>
              </a:endParaRPr>
            </a:p>
          </p:txBody>
        </p:sp>
        <p:sp>
          <p:nvSpPr>
            <p:cNvPr id="319" name="Text 30">
              <a:extLst>
                <a:ext uri="{FF2B5EF4-FFF2-40B4-BE49-F238E27FC236}">
                  <a16:creationId xmlns:a16="http://schemas.microsoft.com/office/drawing/2014/main" id="{B406020C-2BD5-9A0A-8D64-FBE6FB1B019E}"/>
                </a:ext>
              </a:extLst>
            </p:cNvPr>
            <p:cNvSpPr/>
            <p:nvPr/>
          </p:nvSpPr>
          <p:spPr>
            <a:xfrm>
              <a:off x="4928611" y="3799149"/>
              <a:ext cx="49452" cy="217995"/>
            </a:xfrm>
            <a:prstGeom prst="rect">
              <a:avLst/>
            </a:prstGeom>
            <a:noFill/>
            <a:ln/>
          </p:spPr>
          <p:txBody>
            <a:bodyPr wrap="none" lIns="0" tIns="0" rIns="0" bIns="0" rtlCol="0" anchor="ctr">
              <a:spAutoFit/>
            </a:bodyPr>
            <a:lstStyle/>
            <a:p>
              <a:pPr marL="0" indent="0">
                <a:lnSpc>
                  <a:spcPct val="150000"/>
                </a:lnSpc>
                <a:buNone/>
              </a:pPr>
              <a:r>
                <a:rPr lang="en-US" dirty="0">
                  <a:solidFill>
                    <a:srgbClr val="3B82F6"/>
                  </a:solidFill>
                  <a:latin typeface="微软雅黑" panose="020B0503020204020204" pitchFamily="34" charset="-122"/>
                  <a:ea typeface="微软雅黑" panose="020B0503020204020204" pitchFamily="34" charset="-122"/>
                  <a:cs typeface="Noto Sans" pitchFamily="34" charset="-120"/>
                </a:rPr>
                <a:t>•</a:t>
              </a:r>
              <a:endParaRPr lang="en-US" dirty="0">
                <a:latin typeface="微软雅黑" panose="020B0503020204020204" pitchFamily="34" charset="-122"/>
                <a:ea typeface="微软雅黑" panose="020B0503020204020204" pitchFamily="34" charset="-122"/>
              </a:endParaRPr>
            </a:p>
          </p:txBody>
        </p:sp>
        <p:sp>
          <p:nvSpPr>
            <p:cNvPr id="320" name="Text 31">
              <a:extLst>
                <a:ext uri="{FF2B5EF4-FFF2-40B4-BE49-F238E27FC236}">
                  <a16:creationId xmlns:a16="http://schemas.microsoft.com/office/drawing/2014/main" id="{37177BD4-01A5-5E34-2177-0F8D015C27D4}"/>
                </a:ext>
              </a:extLst>
            </p:cNvPr>
            <p:cNvSpPr/>
            <p:nvPr/>
          </p:nvSpPr>
          <p:spPr>
            <a:xfrm>
              <a:off x="5028763" y="3797586"/>
              <a:ext cx="1270038" cy="221122"/>
            </a:xfrm>
            <a:prstGeom prst="rect">
              <a:avLst/>
            </a:prstGeom>
            <a:noFill/>
            <a:ln/>
          </p:spPr>
          <p:txBody>
            <a:bodyPr wrap="none" lIns="0" tIns="0" rIns="0" bIns="0" rtlCol="0" anchor="ctr">
              <a:spAutoFit/>
            </a:bodyPr>
            <a:lstStyle/>
            <a:p>
              <a:pPr marL="0" indent="0">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保密性(Confidentiality)</a:t>
              </a:r>
              <a:endParaRPr lang="en-US" dirty="0">
                <a:latin typeface="微软雅黑" panose="020B0503020204020204" pitchFamily="34" charset="-122"/>
                <a:ea typeface="微软雅黑" panose="020B0503020204020204" pitchFamily="34" charset="-122"/>
              </a:endParaRPr>
            </a:p>
          </p:txBody>
        </p:sp>
        <p:sp>
          <p:nvSpPr>
            <p:cNvPr id="321" name="Text 32">
              <a:extLst>
                <a:ext uri="{FF2B5EF4-FFF2-40B4-BE49-F238E27FC236}">
                  <a16:creationId xmlns:a16="http://schemas.microsoft.com/office/drawing/2014/main" id="{59CEF67E-D054-EE18-8D08-89E44D12DE52}"/>
                </a:ext>
              </a:extLst>
            </p:cNvPr>
            <p:cNvSpPr/>
            <p:nvPr/>
          </p:nvSpPr>
          <p:spPr>
            <a:xfrm>
              <a:off x="5028763" y="3954749"/>
              <a:ext cx="1356381" cy="221122"/>
            </a:xfrm>
            <a:prstGeom prst="rect">
              <a:avLst/>
            </a:prstGeom>
            <a:noFill/>
            <a:ln/>
          </p:spPr>
          <p:txBody>
            <a:bodyPr wrap="none" lIns="0" tIns="0" rIns="0" bIns="0" rtlCol="0" anchor="ctr">
              <a:spAutoFit/>
            </a:bodyPr>
            <a:lstStyle/>
            <a:p>
              <a:pPr marL="0" indent="0">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确保信息只能被授权方访问</a:t>
              </a:r>
              <a:endParaRPr lang="en-US" dirty="0">
                <a:latin typeface="微软雅黑" panose="020B0503020204020204" pitchFamily="34" charset="-122"/>
                <a:ea typeface="微软雅黑" panose="020B0503020204020204" pitchFamily="34" charset="-122"/>
              </a:endParaRPr>
            </a:p>
          </p:txBody>
        </p:sp>
        <p:sp>
          <p:nvSpPr>
            <p:cNvPr id="322" name="Text 33">
              <a:extLst>
                <a:ext uri="{FF2B5EF4-FFF2-40B4-BE49-F238E27FC236}">
                  <a16:creationId xmlns:a16="http://schemas.microsoft.com/office/drawing/2014/main" id="{0C9CF2B2-8DA5-07BC-DEB6-240E62C7E800}"/>
                </a:ext>
              </a:extLst>
            </p:cNvPr>
            <p:cNvSpPr/>
            <p:nvPr/>
          </p:nvSpPr>
          <p:spPr>
            <a:xfrm>
              <a:off x="7043161" y="3799149"/>
              <a:ext cx="49452" cy="217995"/>
            </a:xfrm>
            <a:prstGeom prst="rect">
              <a:avLst/>
            </a:prstGeom>
            <a:noFill/>
            <a:ln/>
          </p:spPr>
          <p:txBody>
            <a:bodyPr wrap="none" lIns="0" tIns="0" rIns="0" bIns="0" rtlCol="0" anchor="ctr">
              <a:spAutoFit/>
            </a:bodyPr>
            <a:lstStyle/>
            <a:p>
              <a:pPr marL="0" indent="0">
                <a:lnSpc>
                  <a:spcPct val="150000"/>
                </a:lnSpc>
                <a:buNone/>
              </a:pPr>
              <a:r>
                <a:rPr lang="en-US" dirty="0">
                  <a:solidFill>
                    <a:srgbClr val="3B82F6"/>
                  </a:solidFill>
                  <a:latin typeface="微软雅黑" panose="020B0503020204020204" pitchFamily="34" charset="-122"/>
                  <a:ea typeface="微软雅黑" panose="020B0503020204020204" pitchFamily="34" charset="-122"/>
                  <a:cs typeface="Noto Sans" pitchFamily="34" charset="-120"/>
                </a:rPr>
                <a:t>•</a:t>
              </a:r>
              <a:endParaRPr lang="en-US" dirty="0">
                <a:latin typeface="微软雅黑" panose="020B0503020204020204" pitchFamily="34" charset="-122"/>
                <a:ea typeface="微软雅黑" panose="020B0503020204020204" pitchFamily="34" charset="-122"/>
              </a:endParaRPr>
            </a:p>
          </p:txBody>
        </p:sp>
        <p:sp>
          <p:nvSpPr>
            <p:cNvPr id="323" name="Text 34">
              <a:extLst>
                <a:ext uri="{FF2B5EF4-FFF2-40B4-BE49-F238E27FC236}">
                  <a16:creationId xmlns:a16="http://schemas.microsoft.com/office/drawing/2014/main" id="{B0E3EB74-D6BC-B7B5-48E1-6EDB937E1F64}"/>
                </a:ext>
              </a:extLst>
            </p:cNvPr>
            <p:cNvSpPr/>
            <p:nvPr/>
          </p:nvSpPr>
          <p:spPr>
            <a:xfrm>
              <a:off x="7143313" y="3797586"/>
              <a:ext cx="932512" cy="221122"/>
            </a:xfrm>
            <a:prstGeom prst="rect">
              <a:avLst/>
            </a:prstGeom>
            <a:noFill/>
            <a:ln/>
          </p:spPr>
          <p:txBody>
            <a:bodyPr wrap="none" lIns="0" tIns="0" rIns="0" bIns="0" rtlCol="0" anchor="ctr">
              <a:spAutoFit/>
            </a:bodyPr>
            <a:lstStyle/>
            <a:p>
              <a:pPr marL="0" indent="0">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完整性(Integrity)</a:t>
              </a:r>
              <a:endParaRPr lang="en-US" dirty="0">
                <a:latin typeface="微软雅黑" panose="020B0503020204020204" pitchFamily="34" charset="-122"/>
                <a:ea typeface="微软雅黑" panose="020B0503020204020204" pitchFamily="34" charset="-122"/>
              </a:endParaRPr>
            </a:p>
          </p:txBody>
        </p:sp>
        <p:sp>
          <p:nvSpPr>
            <p:cNvPr id="324" name="Text 35">
              <a:extLst>
                <a:ext uri="{FF2B5EF4-FFF2-40B4-BE49-F238E27FC236}">
                  <a16:creationId xmlns:a16="http://schemas.microsoft.com/office/drawing/2014/main" id="{7E3E7AB1-589D-DD1B-6777-CE90BC1634EB}"/>
                </a:ext>
              </a:extLst>
            </p:cNvPr>
            <p:cNvSpPr/>
            <p:nvPr/>
          </p:nvSpPr>
          <p:spPr>
            <a:xfrm>
              <a:off x="7143313" y="3954749"/>
              <a:ext cx="904254" cy="221122"/>
            </a:xfrm>
            <a:prstGeom prst="rect">
              <a:avLst/>
            </a:prstGeom>
            <a:noFill/>
            <a:ln/>
          </p:spPr>
          <p:txBody>
            <a:bodyPr wrap="none" lIns="0" tIns="0" rIns="0" bIns="0" rtlCol="0" anchor="ctr">
              <a:spAutoFit/>
            </a:bodyPr>
            <a:lstStyle/>
            <a:p>
              <a:pPr marL="0" indent="0">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确保信息未被篡改</a:t>
              </a:r>
              <a:endParaRPr lang="en-US" dirty="0">
                <a:latin typeface="微软雅黑" panose="020B0503020204020204" pitchFamily="34" charset="-122"/>
                <a:ea typeface="微软雅黑" panose="020B0503020204020204" pitchFamily="34" charset="-122"/>
              </a:endParaRPr>
            </a:p>
          </p:txBody>
        </p:sp>
        <p:sp>
          <p:nvSpPr>
            <p:cNvPr id="325" name="Text 36">
              <a:extLst>
                <a:ext uri="{FF2B5EF4-FFF2-40B4-BE49-F238E27FC236}">
                  <a16:creationId xmlns:a16="http://schemas.microsoft.com/office/drawing/2014/main" id="{804CE00C-F41C-352A-9D32-CFF4C0344420}"/>
                </a:ext>
              </a:extLst>
            </p:cNvPr>
            <p:cNvSpPr/>
            <p:nvPr/>
          </p:nvSpPr>
          <p:spPr>
            <a:xfrm>
              <a:off x="4928611" y="4227775"/>
              <a:ext cx="49452" cy="217995"/>
            </a:xfrm>
            <a:prstGeom prst="rect">
              <a:avLst/>
            </a:prstGeom>
            <a:noFill/>
            <a:ln/>
          </p:spPr>
          <p:txBody>
            <a:bodyPr wrap="none" lIns="0" tIns="0" rIns="0" bIns="0" rtlCol="0" anchor="ctr">
              <a:spAutoFit/>
            </a:bodyPr>
            <a:lstStyle/>
            <a:p>
              <a:pPr marL="0" indent="0">
                <a:lnSpc>
                  <a:spcPct val="150000"/>
                </a:lnSpc>
                <a:buNone/>
              </a:pPr>
              <a:r>
                <a:rPr lang="en-US" dirty="0">
                  <a:solidFill>
                    <a:srgbClr val="3B82F6"/>
                  </a:solidFill>
                  <a:latin typeface="微软雅黑" panose="020B0503020204020204" pitchFamily="34" charset="-122"/>
                  <a:ea typeface="微软雅黑" panose="020B0503020204020204" pitchFamily="34" charset="-122"/>
                  <a:cs typeface="Noto Sans" pitchFamily="34" charset="-120"/>
                </a:rPr>
                <a:t>•</a:t>
              </a:r>
              <a:endParaRPr lang="en-US" dirty="0">
                <a:latin typeface="微软雅黑" panose="020B0503020204020204" pitchFamily="34" charset="-122"/>
                <a:ea typeface="微软雅黑" panose="020B0503020204020204" pitchFamily="34" charset="-122"/>
              </a:endParaRPr>
            </a:p>
          </p:txBody>
        </p:sp>
        <p:sp>
          <p:nvSpPr>
            <p:cNvPr id="326" name="Text 37">
              <a:extLst>
                <a:ext uri="{FF2B5EF4-FFF2-40B4-BE49-F238E27FC236}">
                  <a16:creationId xmlns:a16="http://schemas.microsoft.com/office/drawing/2014/main" id="{30FE222F-E346-D4FF-CAA7-76BC8766255B}"/>
                </a:ext>
              </a:extLst>
            </p:cNvPr>
            <p:cNvSpPr/>
            <p:nvPr/>
          </p:nvSpPr>
          <p:spPr>
            <a:xfrm>
              <a:off x="5028763" y="4226211"/>
              <a:ext cx="1283382" cy="221122"/>
            </a:xfrm>
            <a:prstGeom prst="rect">
              <a:avLst/>
            </a:prstGeom>
            <a:noFill/>
            <a:ln/>
          </p:spPr>
          <p:txBody>
            <a:bodyPr wrap="none" lIns="0" tIns="0" rIns="0" bIns="0" rtlCol="0" anchor="ctr">
              <a:spAutoFit/>
            </a:bodyPr>
            <a:lstStyle/>
            <a:p>
              <a:pPr marL="0" indent="0">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认证性(Authentication)</a:t>
              </a:r>
              <a:endParaRPr lang="en-US" dirty="0">
                <a:latin typeface="微软雅黑" panose="020B0503020204020204" pitchFamily="34" charset="-122"/>
                <a:ea typeface="微软雅黑" panose="020B0503020204020204" pitchFamily="34" charset="-122"/>
              </a:endParaRPr>
            </a:p>
          </p:txBody>
        </p:sp>
        <p:sp>
          <p:nvSpPr>
            <p:cNvPr id="327" name="Text 38">
              <a:extLst>
                <a:ext uri="{FF2B5EF4-FFF2-40B4-BE49-F238E27FC236}">
                  <a16:creationId xmlns:a16="http://schemas.microsoft.com/office/drawing/2014/main" id="{886FB341-6865-EA03-DEF8-20F3A4ED82C9}"/>
                </a:ext>
              </a:extLst>
            </p:cNvPr>
            <p:cNvSpPr/>
            <p:nvPr/>
          </p:nvSpPr>
          <p:spPr>
            <a:xfrm>
              <a:off x="5028763" y="4383374"/>
              <a:ext cx="1017286" cy="221122"/>
            </a:xfrm>
            <a:prstGeom prst="rect">
              <a:avLst/>
            </a:prstGeom>
            <a:noFill/>
            <a:ln/>
          </p:spPr>
          <p:txBody>
            <a:bodyPr wrap="none" lIns="0" tIns="0" rIns="0" bIns="0" rtlCol="0" anchor="ctr">
              <a:spAutoFit/>
            </a:bodyPr>
            <a:lstStyle/>
            <a:p>
              <a:pPr marL="0" indent="0">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验证通信实体的身份</a:t>
              </a:r>
              <a:endParaRPr lang="en-US" dirty="0">
                <a:latin typeface="微软雅黑" panose="020B0503020204020204" pitchFamily="34" charset="-122"/>
                <a:ea typeface="微软雅黑" panose="020B0503020204020204" pitchFamily="34" charset="-122"/>
              </a:endParaRPr>
            </a:p>
          </p:txBody>
        </p:sp>
        <p:sp>
          <p:nvSpPr>
            <p:cNvPr id="328" name="Text 39">
              <a:extLst>
                <a:ext uri="{FF2B5EF4-FFF2-40B4-BE49-F238E27FC236}">
                  <a16:creationId xmlns:a16="http://schemas.microsoft.com/office/drawing/2014/main" id="{86C71E28-0AD3-2471-3496-2E9CFEA89B83}"/>
                </a:ext>
              </a:extLst>
            </p:cNvPr>
            <p:cNvSpPr/>
            <p:nvPr/>
          </p:nvSpPr>
          <p:spPr>
            <a:xfrm>
              <a:off x="7043161" y="4227775"/>
              <a:ext cx="49452" cy="217995"/>
            </a:xfrm>
            <a:prstGeom prst="rect">
              <a:avLst/>
            </a:prstGeom>
            <a:noFill/>
            <a:ln/>
          </p:spPr>
          <p:txBody>
            <a:bodyPr wrap="none" lIns="0" tIns="0" rIns="0" bIns="0" rtlCol="0" anchor="ctr">
              <a:spAutoFit/>
            </a:bodyPr>
            <a:lstStyle/>
            <a:p>
              <a:pPr marL="0" indent="0">
                <a:lnSpc>
                  <a:spcPct val="150000"/>
                </a:lnSpc>
                <a:buNone/>
              </a:pPr>
              <a:r>
                <a:rPr lang="en-US" dirty="0">
                  <a:solidFill>
                    <a:srgbClr val="3B82F6"/>
                  </a:solidFill>
                  <a:latin typeface="微软雅黑" panose="020B0503020204020204" pitchFamily="34" charset="-122"/>
                  <a:ea typeface="微软雅黑" panose="020B0503020204020204" pitchFamily="34" charset="-122"/>
                  <a:cs typeface="Noto Sans" pitchFamily="34" charset="-120"/>
                </a:rPr>
                <a:t>•</a:t>
              </a:r>
              <a:endParaRPr lang="en-US" dirty="0">
                <a:latin typeface="微软雅黑" panose="020B0503020204020204" pitchFamily="34" charset="-122"/>
                <a:ea typeface="微软雅黑" panose="020B0503020204020204" pitchFamily="34" charset="-122"/>
              </a:endParaRPr>
            </a:p>
          </p:txBody>
        </p:sp>
        <p:sp>
          <p:nvSpPr>
            <p:cNvPr id="329" name="Text 40">
              <a:extLst>
                <a:ext uri="{FF2B5EF4-FFF2-40B4-BE49-F238E27FC236}">
                  <a16:creationId xmlns:a16="http://schemas.microsoft.com/office/drawing/2014/main" id="{A951CFFD-5403-3149-7583-F72662BDF093}"/>
                </a:ext>
              </a:extLst>
            </p:cNvPr>
            <p:cNvSpPr/>
            <p:nvPr/>
          </p:nvSpPr>
          <p:spPr>
            <a:xfrm>
              <a:off x="7143313" y="4226211"/>
              <a:ext cx="1597359" cy="221122"/>
            </a:xfrm>
            <a:prstGeom prst="rect">
              <a:avLst/>
            </a:prstGeom>
            <a:noFill/>
            <a:ln/>
          </p:spPr>
          <p:txBody>
            <a:bodyPr wrap="none" lIns="0" tIns="0" rIns="0" bIns="0" rtlCol="0" anchor="ctr">
              <a:spAutoFit/>
            </a:bodyPr>
            <a:lstStyle/>
            <a:p>
              <a:pPr marL="0" indent="0">
                <a:lnSpc>
                  <a:spcPct val="150000"/>
                </a:lnSpc>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不可否认性(Non-repudiation)</a:t>
              </a:r>
              <a:endParaRPr lang="en-US" dirty="0">
                <a:latin typeface="微软雅黑" panose="020B0503020204020204" pitchFamily="34" charset="-122"/>
                <a:ea typeface="微软雅黑" panose="020B0503020204020204" pitchFamily="34" charset="-122"/>
              </a:endParaRPr>
            </a:p>
          </p:txBody>
        </p:sp>
        <p:sp>
          <p:nvSpPr>
            <p:cNvPr id="330" name="Text 41">
              <a:extLst>
                <a:ext uri="{FF2B5EF4-FFF2-40B4-BE49-F238E27FC236}">
                  <a16:creationId xmlns:a16="http://schemas.microsoft.com/office/drawing/2014/main" id="{CBB24C7A-6C2D-2D77-FD05-BA42DA34F65B}"/>
                </a:ext>
              </a:extLst>
            </p:cNvPr>
            <p:cNvSpPr/>
            <p:nvPr/>
          </p:nvSpPr>
          <p:spPr>
            <a:xfrm>
              <a:off x="7143313" y="4383374"/>
              <a:ext cx="1469413" cy="221122"/>
            </a:xfrm>
            <a:prstGeom prst="rect">
              <a:avLst/>
            </a:prstGeom>
            <a:noFill/>
            <a:ln/>
          </p:spPr>
          <p:txBody>
            <a:bodyPr wrap="none" lIns="0" tIns="0" rIns="0" bIns="0" rtlCol="0" anchor="ctr">
              <a:spAutoFit/>
            </a:bodyPr>
            <a:lstStyle/>
            <a:p>
              <a:pPr marL="0" indent="0">
                <a:lnSpc>
                  <a:spcPct val="150000"/>
                </a:lnSpc>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防止通信方否认已发生的通信</a:t>
              </a:r>
              <a:endParaRPr 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188029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46011-F3F4-EBB6-5CDD-6900AE3FDA9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CBCDA319-7426-23A2-A67A-5B3C8B9CED85}"/>
              </a:ext>
            </a:extLst>
          </p:cNvPr>
          <p:cNvSpPr/>
          <p:nvPr/>
        </p:nvSpPr>
        <p:spPr>
          <a:xfrm>
            <a:off x="333828" y="72453"/>
            <a:ext cx="7296682" cy="521970"/>
          </a:xfrm>
          <a:prstGeom prst="rect">
            <a:avLst/>
          </a:prstGeom>
        </p:spPr>
        <p:txBody>
          <a:bodyPr wrap="square">
            <a:spAutoFit/>
          </a:bodyPr>
          <a:lstStyle/>
          <a:p>
            <a:pPr marL="0" marR="0" lvl="0" indent="0" algn="l" defTabSz="514350" rtl="0" eaLnBrk="1" fontAlgn="auto" latinLnBrk="0" hangingPunct="1">
              <a:lnSpc>
                <a:spcPct val="100000"/>
              </a:lnSpc>
              <a:spcBef>
                <a:spcPct val="30000"/>
              </a:spcBef>
              <a:spcAft>
                <a:spcPts val="0"/>
              </a:spcAft>
              <a:buClrTx/>
              <a:buSzTx/>
              <a:buFontTx/>
              <a:buNone/>
              <a:defRPr/>
            </a:pP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密码学发展简介</a:t>
            </a:r>
          </a:p>
        </p:txBody>
      </p:sp>
      <p:grpSp>
        <p:nvGrpSpPr>
          <p:cNvPr id="33" name="组合 2">
            <a:extLst>
              <a:ext uri="{FF2B5EF4-FFF2-40B4-BE49-F238E27FC236}">
                <a16:creationId xmlns:a16="http://schemas.microsoft.com/office/drawing/2014/main" id="{5BAA9247-0BE1-23DB-7F19-B9D4B9F3A8B3}"/>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A3F76BA5-213E-AD9B-DC19-7C638944E7F0}"/>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85C1D19C-1013-440F-9013-3FB254B33EFD}"/>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0DD21D4D-8BD6-C918-6F1A-33F3F7786E52}"/>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3E280262-34A4-439E-2BEA-D55C867E0B96}"/>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密码学发展历史</a:t>
              </a:r>
            </a:p>
          </p:txBody>
        </p:sp>
      </p:grpSp>
      <p:grpSp>
        <p:nvGrpSpPr>
          <p:cNvPr id="54" name="组合 53">
            <a:extLst>
              <a:ext uri="{FF2B5EF4-FFF2-40B4-BE49-F238E27FC236}">
                <a16:creationId xmlns:a16="http://schemas.microsoft.com/office/drawing/2014/main" id="{DF789279-61EA-3F9C-8678-66379EDFE669}"/>
              </a:ext>
            </a:extLst>
          </p:cNvPr>
          <p:cNvGrpSpPr/>
          <p:nvPr/>
        </p:nvGrpSpPr>
        <p:grpSpPr>
          <a:xfrm>
            <a:off x="1445895" y="1531620"/>
            <a:ext cx="9791700" cy="985670"/>
            <a:chOff x="1445895" y="1531620"/>
            <a:chExt cx="9791700" cy="985670"/>
          </a:xfrm>
        </p:grpSpPr>
        <p:sp>
          <p:nvSpPr>
            <p:cNvPr id="4" name="Shape 1">
              <a:extLst>
                <a:ext uri="{FF2B5EF4-FFF2-40B4-BE49-F238E27FC236}">
                  <a16:creationId xmlns:a16="http://schemas.microsoft.com/office/drawing/2014/main" id="{4C6DE54A-D5A5-1DF7-F4E1-14C332277909}"/>
                </a:ext>
              </a:extLst>
            </p:cNvPr>
            <p:cNvSpPr/>
            <p:nvPr/>
          </p:nvSpPr>
          <p:spPr>
            <a:xfrm>
              <a:off x="1445895" y="2027824"/>
              <a:ext cx="9791700" cy="33358"/>
            </a:xfrm>
            <a:prstGeom prst="rect">
              <a:avLst/>
            </a:prstGeom>
            <a:solidFill>
              <a:srgbClr val="3498DB"/>
            </a:solidFill>
            <a:ln/>
          </p:spPr>
        </p:sp>
        <p:sp>
          <p:nvSpPr>
            <p:cNvPr id="5" name="Shape 2">
              <a:extLst>
                <a:ext uri="{FF2B5EF4-FFF2-40B4-BE49-F238E27FC236}">
                  <a16:creationId xmlns:a16="http://schemas.microsoft.com/office/drawing/2014/main" id="{CAC5D9BB-8723-86A0-70AB-7C5DBBEFC527}"/>
                </a:ext>
              </a:extLst>
            </p:cNvPr>
            <p:cNvSpPr/>
            <p:nvPr/>
          </p:nvSpPr>
          <p:spPr>
            <a:xfrm>
              <a:off x="2833053" y="1531620"/>
              <a:ext cx="163195" cy="166791"/>
            </a:xfrm>
            <a:prstGeom prst="ellipse">
              <a:avLst/>
            </a:prstGeom>
            <a:solidFill>
              <a:srgbClr val="3498DB"/>
            </a:solidFill>
            <a:ln/>
          </p:spPr>
        </p:sp>
        <p:sp>
          <p:nvSpPr>
            <p:cNvPr id="6" name="Text 3">
              <a:extLst>
                <a:ext uri="{FF2B5EF4-FFF2-40B4-BE49-F238E27FC236}">
                  <a16:creationId xmlns:a16="http://schemas.microsoft.com/office/drawing/2014/main" id="{9C2AB591-4B80-2998-DA70-9C9E519684E8}"/>
                </a:ext>
              </a:extLst>
            </p:cNvPr>
            <p:cNvSpPr/>
            <p:nvPr/>
          </p:nvSpPr>
          <p:spPr>
            <a:xfrm>
              <a:off x="2538746" y="1859171"/>
              <a:ext cx="751808" cy="128818"/>
            </a:xfrm>
            <a:prstGeom prst="rect">
              <a:avLst/>
            </a:prstGeom>
            <a:noFill/>
            <a:ln/>
          </p:spPr>
          <p:txBody>
            <a:bodyPr wrap="none" lIns="0" tIns="0" rIns="0" bIns="0" rtlCol="0" anchor="ctr">
              <a:spAutoFit/>
            </a:bodyPr>
            <a:lstStyle/>
            <a:p>
              <a:pPr marL="0" indent="0" algn="ctr">
                <a:buNone/>
              </a:pPr>
              <a:r>
                <a:rPr lang="en-US" sz="837" b="1" dirty="0">
                  <a:solidFill>
                    <a:srgbClr val="2C3E50"/>
                  </a:solidFill>
                  <a:latin typeface="微软雅黑" panose="020B0503020204020204" pitchFamily="34" charset="-122"/>
                  <a:ea typeface="微软雅黑" panose="020B0503020204020204" pitchFamily="34" charset="-122"/>
                  <a:cs typeface="Noto Sans" pitchFamily="34" charset="-120"/>
                </a:rPr>
                <a:t>古典密码学时期</a:t>
              </a:r>
              <a:endParaRPr lang="en-US" sz="837" dirty="0">
                <a:latin typeface="微软雅黑" panose="020B0503020204020204" pitchFamily="34" charset="-122"/>
                <a:ea typeface="微软雅黑" panose="020B0503020204020204" pitchFamily="34" charset="-122"/>
              </a:endParaRPr>
            </a:p>
          </p:txBody>
        </p:sp>
        <p:sp>
          <p:nvSpPr>
            <p:cNvPr id="7" name="Text 4">
              <a:extLst>
                <a:ext uri="{FF2B5EF4-FFF2-40B4-BE49-F238E27FC236}">
                  <a16:creationId xmlns:a16="http://schemas.microsoft.com/office/drawing/2014/main" id="{0F96C414-134D-4693-5708-A571BD51FC14}"/>
                </a:ext>
              </a:extLst>
            </p:cNvPr>
            <p:cNvSpPr/>
            <p:nvPr/>
          </p:nvSpPr>
          <p:spPr>
            <a:xfrm>
              <a:off x="2488251" y="2147146"/>
              <a:ext cx="852798" cy="144976"/>
            </a:xfrm>
            <a:prstGeom prst="rect">
              <a:avLst/>
            </a:prstGeom>
            <a:noFill/>
            <a:ln/>
          </p:spPr>
          <p:txBody>
            <a:bodyPr wrap="none" lIns="0" tIns="0" rIns="0" bIns="0" rtlCol="0" anchor="ctr">
              <a:spAutoFit/>
            </a:bodyPr>
            <a:lstStyle/>
            <a:p>
              <a:pPr marL="0" indent="0" algn="ctr">
                <a:buNone/>
              </a:pPr>
              <a:r>
                <a:rPr lang="en-US" sz="942" dirty="0">
                  <a:solidFill>
                    <a:srgbClr val="34495E"/>
                  </a:solidFill>
                  <a:latin typeface="微软雅黑" panose="020B0503020204020204" pitchFamily="34" charset="-122"/>
                  <a:ea typeface="微软雅黑" panose="020B0503020204020204" pitchFamily="34" charset="-122"/>
                  <a:cs typeface="Noto Sans" pitchFamily="34" charset="-120"/>
                </a:rPr>
                <a:t>公元前~1900年</a:t>
              </a:r>
              <a:endParaRPr lang="en-US" sz="942" dirty="0">
                <a:latin typeface="微软雅黑" panose="020B0503020204020204" pitchFamily="34" charset="-122"/>
                <a:ea typeface="微软雅黑" panose="020B0503020204020204" pitchFamily="34" charset="-122"/>
              </a:endParaRPr>
            </a:p>
          </p:txBody>
        </p:sp>
        <p:sp>
          <p:nvSpPr>
            <p:cNvPr id="8" name="Text 5">
              <a:extLst>
                <a:ext uri="{FF2B5EF4-FFF2-40B4-BE49-F238E27FC236}">
                  <a16:creationId xmlns:a16="http://schemas.microsoft.com/office/drawing/2014/main" id="{9DE22BEE-858E-EE32-1E5C-55CCB94A9ED8}"/>
                </a:ext>
              </a:extLst>
            </p:cNvPr>
            <p:cNvSpPr/>
            <p:nvPr/>
          </p:nvSpPr>
          <p:spPr>
            <a:xfrm>
              <a:off x="2373636" y="2372314"/>
              <a:ext cx="1082027" cy="144976"/>
            </a:xfrm>
            <a:prstGeom prst="rect">
              <a:avLst/>
            </a:prstGeom>
            <a:noFill/>
            <a:ln/>
          </p:spPr>
          <p:txBody>
            <a:bodyPr wrap="none" lIns="0" tIns="0" rIns="0" bIns="0" rtlCol="0" anchor="ctr">
              <a:spAutoFit/>
            </a:bodyPr>
            <a:lstStyle/>
            <a:p>
              <a:pPr marL="0" indent="0" algn="ctr">
                <a:buNone/>
              </a:pPr>
              <a:r>
                <a:rPr lang="en-US" sz="942" dirty="0">
                  <a:solidFill>
                    <a:srgbClr val="34495E"/>
                  </a:solidFill>
                  <a:latin typeface="微软雅黑" panose="020B0503020204020204" pitchFamily="34" charset="-122"/>
                  <a:ea typeface="微软雅黑" panose="020B0503020204020204" pitchFamily="34" charset="-122"/>
                  <a:cs typeface="Noto Sans" pitchFamily="34" charset="-120"/>
                </a:rPr>
                <a:t>替换密码、移位密码</a:t>
              </a:r>
              <a:endParaRPr lang="en-US" sz="942" dirty="0">
                <a:latin typeface="微软雅黑" panose="020B0503020204020204" pitchFamily="34" charset="-122"/>
                <a:ea typeface="微软雅黑" panose="020B0503020204020204" pitchFamily="34" charset="-122"/>
              </a:endParaRPr>
            </a:p>
          </p:txBody>
        </p:sp>
        <p:sp>
          <p:nvSpPr>
            <p:cNvPr id="9" name="Shape 6">
              <a:extLst>
                <a:ext uri="{FF2B5EF4-FFF2-40B4-BE49-F238E27FC236}">
                  <a16:creationId xmlns:a16="http://schemas.microsoft.com/office/drawing/2014/main" id="{A5EA0B63-24BA-5786-4A7B-3135D9AAD516}"/>
                </a:ext>
              </a:extLst>
            </p:cNvPr>
            <p:cNvSpPr/>
            <p:nvPr/>
          </p:nvSpPr>
          <p:spPr>
            <a:xfrm>
              <a:off x="5804509" y="1531620"/>
              <a:ext cx="163195" cy="166791"/>
            </a:xfrm>
            <a:prstGeom prst="ellipse">
              <a:avLst/>
            </a:prstGeom>
            <a:solidFill>
              <a:srgbClr val="3498DB"/>
            </a:solidFill>
            <a:ln/>
          </p:spPr>
        </p:sp>
        <p:sp>
          <p:nvSpPr>
            <p:cNvPr id="10" name="Text 7">
              <a:extLst>
                <a:ext uri="{FF2B5EF4-FFF2-40B4-BE49-F238E27FC236}">
                  <a16:creationId xmlns:a16="http://schemas.microsoft.com/office/drawing/2014/main" id="{38CA72B4-F5BA-F0BB-F670-9371438AF694}"/>
                </a:ext>
              </a:extLst>
            </p:cNvPr>
            <p:cNvSpPr/>
            <p:nvPr/>
          </p:nvSpPr>
          <p:spPr>
            <a:xfrm>
              <a:off x="5510202" y="1859171"/>
              <a:ext cx="751808" cy="128818"/>
            </a:xfrm>
            <a:prstGeom prst="rect">
              <a:avLst/>
            </a:prstGeom>
            <a:noFill/>
            <a:ln/>
          </p:spPr>
          <p:txBody>
            <a:bodyPr wrap="none" lIns="0" tIns="0" rIns="0" bIns="0" rtlCol="0" anchor="ctr">
              <a:spAutoFit/>
            </a:bodyPr>
            <a:lstStyle/>
            <a:p>
              <a:pPr marL="0" indent="0" algn="ctr">
                <a:buNone/>
              </a:pPr>
              <a:r>
                <a:rPr lang="en-US" sz="837" b="1" dirty="0">
                  <a:solidFill>
                    <a:srgbClr val="2C3E50"/>
                  </a:solidFill>
                  <a:latin typeface="微软雅黑" panose="020B0503020204020204" pitchFamily="34" charset="-122"/>
                  <a:ea typeface="微软雅黑" panose="020B0503020204020204" pitchFamily="34" charset="-122"/>
                  <a:cs typeface="Noto Sans" pitchFamily="34" charset="-120"/>
                </a:rPr>
                <a:t>机械密码学时期</a:t>
              </a:r>
              <a:endParaRPr lang="en-US" sz="837" dirty="0">
                <a:latin typeface="微软雅黑" panose="020B0503020204020204" pitchFamily="34" charset="-122"/>
                <a:ea typeface="微软雅黑" panose="020B0503020204020204" pitchFamily="34" charset="-122"/>
              </a:endParaRPr>
            </a:p>
          </p:txBody>
        </p:sp>
        <p:sp>
          <p:nvSpPr>
            <p:cNvPr id="11" name="Text 8">
              <a:extLst>
                <a:ext uri="{FF2B5EF4-FFF2-40B4-BE49-F238E27FC236}">
                  <a16:creationId xmlns:a16="http://schemas.microsoft.com/office/drawing/2014/main" id="{EE462212-C0DA-2FFE-7ABE-7506F0AAB728}"/>
                </a:ext>
              </a:extLst>
            </p:cNvPr>
            <p:cNvSpPr/>
            <p:nvPr/>
          </p:nvSpPr>
          <p:spPr>
            <a:xfrm>
              <a:off x="5438868" y="2147146"/>
              <a:ext cx="894476" cy="144976"/>
            </a:xfrm>
            <a:prstGeom prst="rect">
              <a:avLst/>
            </a:prstGeom>
            <a:noFill/>
            <a:ln/>
          </p:spPr>
          <p:txBody>
            <a:bodyPr wrap="none" lIns="0" tIns="0" rIns="0" bIns="0" rtlCol="0" anchor="ctr">
              <a:spAutoFit/>
            </a:bodyPr>
            <a:lstStyle/>
            <a:p>
              <a:pPr marL="0" indent="0" algn="ctr">
                <a:buNone/>
              </a:pPr>
              <a:r>
                <a:rPr lang="en-US" sz="942" dirty="0">
                  <a:solidFill>
                    <a:srgbClr val="34495E"/>
                  </a:solidFill>
                  <a:latin typeface="微软雅黑" panose="020B0503020204020204" pitchFamily="34" charset="-122"/>
                  <a:ea typeface="微软雅黑" panose="020B0503020204020204" pitchFamily="34" charset="-122"/>
                  <a:cs typeface="Noto Sans" pitchFamily="34" charset="-120"/>
                </a:rPr>
                <a:t>1900年~1950年</a:t>
              </a:r>
              <a:endParaRPr lang="en-US" sz="942" dirty="0">
                <a:latin typeface="微软雅黑" panose="020B0503020204020204" pitchFamily="34" charset="-122"/>
                <a:ea typeface="微软雅黑" panose="020B0503020204020204" pitchFamily="34" charset="-122"/>
              </a:endParaRPr>
            </a:p>
          </p:txBody>
        </p:sp>
        <p:sp>
          <p:nvSpPr>
            <p:cNvPr id="13" name="Text 9">
              <a:extLst>
                <a:ext uri="{FF2B5EF4-FFF2-40B4-BE49-F238E27FC236}">
                  <a16:creationId xmlns:a16="http://schemas.microsoft.com/office/drawing/2014/main" id="{011C62A8-6C38-4F4D-8306-3D9B2C56B636}"/>
                </a:ext>
              </a:extLst>
            </p:cNvPr>
            <p:cNvSpPr/>
            <p:nvPr/>
          </p:nvSpPr>
          <p:spPr>
            <a:xfrm>
              <a:off x="5525430" y="2372314"/>
              <a:ext cx="721351" cy="144976"/>
            </a:xfrm>
            <a:prstGeom prst="rect">
              <a:avLst/>
            </a:prstGeom>
            <a:noFill/>
            <a:ln/>
          </p:spPr>
          <p:txBody>
            <a:bodyPr wrap="none" lIns="0" tIns="0" rIns="0" bIns="0" rtlCol="0" anchor="ctr">
              <a:spAutoFit/>
            </a:bodyPr>
            <a:lstStyle/>
            <a:p>
              <a:pPr marL="0" indent="0" algn="ctr">
                <a:buNone/>
              </a:pPr>
              <a:r>
                <a:rPr lang="en-US" sz="942" dirty="0">
                  <a:solidFill>
                    <a:srgbClr val="34495E"/>
                  </a:solidFill>
                  <a:latin typeface="微软雅黑" panose="020B0503020204020204" pitchFamily="34" charset="-122"/>
                  <a:ea typeface="微软雅黑" panose="020B0503020204020204" pitchFamily="34" charset="-122"/>
                  <a:cs typeface="Noto Sans" pitchFamily="34" charset="-120"/>
                </a:rPr>
                <a:t>机械加密设备</a:t>
              </a:r>
              <a:endParaRPr lang="en-US" sz="942" dirty="0">
                <a:latin typeface="微软雅黑" panose="020B0503020204020204" pitchFamily="34" charset="-122"/>
                <a:ea typeface="微软雅黑" panose="020B0503020204020204" pitchFamily="34" charset="-122"/>
              </a:endParaRPr>
            </a:p>
          </p:txBody>
        </p:sp>
        <p:sp>
          <p:nvSpPr>
            <p:cNvPr id="14" name="Shape 10">
              <a:extLst>
                <a:ext uri="{FF2B5EF4-FFF2-40B4-BE49-F238E27FC236}">
                  <a16:creationId xmlns:a16="http://schemas.microsoft.com/office/drawing/2014/main" id="{969E6DAE-3272-6F50-D886-0ABB0B2E05CF}"/>
                </a:ext>
              </a:extLst>
            </p:cNvPr>
            <p:cNvSpPr/>
            <p:nvPr/>
          </p:nvSpPr>
          <p:spPr>
            <a:xfrm>
              <a:off x="8775964" y="1531620"/>
              <a:ext cx="163195" cy="166791"/>
            </a:xfrm>
            <a:prstGeom prst="ellipse">
              <a:avLst/>
            </a:prstGeom>
            <a:solidFill>
              <a:srgbClr val="3498DB"/>
            </a:solidFill>
            <a:ln/>
          </p:spPr>
        </p:sp>
        <p:sp>
          <p:nvSpPr>
            <p:cNvPr id="15" name="Text 11">
              <a:extLst>
                <a:ext uri="{FF2B5EF4-FFF2-40B4-BE49-F238E27FC236}">
                  <a16:creationId xmlns:a16="http://schemas.microsoft.com/office/drawing/2014/main" id="{9444D2C3-CA65-4659-AE60-CBC717DA843B}"/>
                </a:ext>
              </a:extLst>
            </p:cNvPr>
            <p:cNvSpPr/>
            <p:nvPr/>
          </p:nvSpPr>
          <p:spPr>
            <a:xfrm>
              <a:off x="8481657" y="1859171"/>
              <a:ext cx="751808" cy="128818"/>
            </a:xfrm>
            <a:prstGeom prst="rect">
              <a:avLst/>
            </a:prstGeom>
            <a:noFill/>
            <a:ln/>
          </p:spPr>
          <p:txBody>
            <a:bodyPr wrap="none" lIns="0" tIns="0" rIns="0" bIns="0" rtlCol="0" anchor="ctr">
              <a:spAutoFit/>
            </a:bodyPr>
            <a:lstStyle/>
            <a:p>
              <a:pPr marL="0" indent="0" algn="ctr">
                <a:buNone/>
              </a:pPr>
              <a:r>
                <a:rPr lang="en-US" sz="837" b="1" dirty="0">
                  <a:solidFill>
                    <a:srgbClr val="2C3E50"/>
                  </a:solidFill>
                  <a:latin typeface="微软雅黑" panose="020B0503020204020204" pitchFamily="34" charset="-122"/>
                  <a:ea typeface="微软雅黑" panose="020B0503020204020204" pitchFamily="34" charset="-122"/>
                  <a:cs typeface="Noto Sans" pitchFamily="34" charset="-120"/>
                </a:rPr>
                <a:t>现代密码学时期</a:t>
              </a:r>
              <a:endParaRPr lang="en-US" sz="837" dirty="0">
                <a:latin typeface="微软雅黑" panose="020B0503020204020204" pitchFamily="34" charset="-122"/>
                <a:ea typeface="微软雅黑" panose="020B0503020204020204" pitchFamily="34" charset="-122"/>
              </a:endParaRPr>
            </a:p>
          </p:txBody>
        </p:sp>
        <p:sp>
          <p:nvSpPr>
            <p:cNvPr id="16" name="Text 12">
              <a:extLst>
                <a:ext uri="{FF2B5EF4-FFF2-40B4-BE49-F238E27FC236}">
                  <a16:creationId xmlns:a16="http://schemas.microsoft.com/office/drawing/2014/main" id="{18E7A71C-43D8-9CE7-011E-21054BDB7F37}"/>
                </a:ext>
              </a:extLst>
            </p:cNvPr>
            <p:cNvSpPr/>
            <p:nvPr/>
          </p:nvSpPr>
          <p:spPr>
            <a:xfrm>
              <a:off x="8536159" y="2147146"/>
              <a:ext cx="642804" cy="144976"/>
            </a:xfrm>
            <a:prstGeom prst="rect">
              <a:avLst/>
            </a:prstGeom>
            <a:noFill/>
            <a:ln/>
          </p:spPr>
          <p:txBody>
            <a:bodyPr wrap="none" lIns="0" tIns="0" rIns="0" bIns="0" rtlCol="0" anchor="ctr">
              <a:spAutoFit/>
            </a:bodyPr>
            <a:lstStyle/>
            <a:p>
              <a:pPr marL="0" indent="0" algn="ctr">
                <a:buNone/>
              </a:pPr>
              <a:r>
                <a:rPr lang="en-US" sz="942" dirty="0">
                  <a:solidFill>
                    <a:srgbClr val="34495E"/>
                  </a:solidFill>
                  <a:latin typeface="微软雅黑" panose="020B0503020204020204" pitchFamily="34" charset="-122"/>
                  <a:ea typeface="微软雅黑" panose="020B0503020204020204" pitchFamily="34" charset="-122"/>
                  <a:cs typeface="Noto Sans" pitchFamily="34" charset="-120"/>
                </a:rPr>
                <a:t>1950年至今</a:t>
              </a:r>
              <a:endParaRPr lang="en-US" sz="942" dirty="0">
                <a:latin typeface="微软雅黑" panose="020B0503020204020204" pitchFamily="34" charset="-122"/>
                <a:ea typeface="微软雅黑" panose="020B0503020204020204" pitchFamily="34" charset="-122"/>
              </a:endParaRPr>
            </a:p>
          </p:txBody>
        </p:sp>
        <p:sp>
          <p:nvSpPr>
            <p:cNvPr id="17" name="Text 13">
              <a:extLst>
                <a:ext uri="{FF2B5EF4-FFF2-40B4-BE49-F238E27FC236}">
                  <a16:creationId xmlns:a16="http://schemas.microsoft.com/office/drawing/2014/main" id="{9B4E081F-52C2-F39A-5EE6-7F599765B4C7}"/>
                </a:ext>
              </a:extLst>
            </p:cNvPr>
            <p:cNvSpPr/>
            <p:nvPr/>
          </p:nvSpPr>
          <p:spPr>
            <a:xfrm>
              <a:off x="8496885" y="2372314"/>
              <a:ext cx="721351" cy="144976"/>
            </a:xfrm>
            <a:prstGeom prst="rect">
              <a:avLst/>
            </a:prstGeom>
            <a:noFill/>
            <a:ln/>
          </p:spPr>
          <p:txBody>
            <a:bodyPr wrap="none" lIns="0" tIns="0" rIns="0" bIns="0" rtlCol="0" anchor="ctr">
              <a:spAutoFit/>
            </a:bodyPr>
            <a:lstStyle/>
            <a:p>
              <a:pPr marL="0" indent="0" algn="ctr">
                <a:buNone/>
              </a:pPr>
              <a:r>
                <a:rPr lang="en-US" sz="942" dirty="0">
                  <a:solidFill>
                    <a:srgbClr val="34495E"/>
                  </a:solidFill>
                  <a:latin typeface="微软雅黑" panose="020B0503020204020204" pitchFamily="34" charset="-122"/>
                  <a:ea typeface="微软雅黑" panose="020B0503020204020204" pitchFamily="34" charset="-122"/>
                  <a:cs typeface="Noto Sans" pitchFamily="34" charset="-120"/>
                </a:rPr>
                <a:t>计算机密码学</a:t>
              </a:r>
              <a:endParaRPr lang="en-US" sz="942" dirty="0">
                <a:latin typeface="微软雅黑" panose="020B0503020204020204" pitchFamily="34" charset="-122"/>
                <a:ea typeface="微软雅黑" panose="020B0503020204020204" pitchFamily="34" charset="-122"/>
              </a:endParaRPr>
            </a:p>
          </p:txBody>
        </p:sp>
      </p:grpSp>
      <p:grpSp>
        <p:nvGrpSpPr>
          <p:cNvPr id="53" name="组合 52">
            <a:extLst>
              <a:ext uri="{FF2B5EF4-FFF2-40B4-BE49-F238E27FC236}">
                <a16:creationId xmlns:a16="http://schemas.microsoft.com/office/drawing/2014/main" id="{453AA06D-83F7-2D3F-8225-EDC1E43DC273}"/>
              </a:ext>
            </a:extLst>
          </p:cNvPr>
          <p:cNvGrpSpPr/>
          <p:nvPr/>
        </p:nvGrpSpPr>
        <p:grpSpPr>
          <a:xfrm>
            <a:off x="1350645" y="2974365"/>
            <a:ext cx="9791700" cy="1717951"/>
            <a:chOff x="1350645" y="2974365"/>
            <a:chExt cx="9791700" cy="1717951"/>
          </a:xfrm>
        </p:grpSpPr>
        <p:sp>
          <p:nvSpPr>
            <p:cNvPr id="18" name="Shape 14">
              <a:extLst>
                <a:ext uri="{FF2B5EF4-FFF2-40B4-BE49-F238E27FC236}">
                  <a16:creationId xmlns:a16="http://schemas.microsoft.com/office/drawing/2014/main" id="{BDDD2392-37AF-74B5-E87D-7365C11D0F0C}"/>
                </a:ext>
              </a:extLst>
            </p:cNvPr>
            <p:cNvSpPr/>
            <p:nvPr/>
          </p:nvSpPr>
          <p:spPr>
            <a:xfrm>
              <a:off x="1350645" y="2974365"/>
              <a:ext cx="3133344" cy="1717951"/>
            </a:xfrm>
            <a:prstGeom prst="rect">
              <a:avLst/>
            </a:prstGeom>
            <a:solidFill>
              <a:srgbClr val="F8F9FA"/>
            </a:solidFill>
            <a:ln/>
          </p:spPr>
        </p:sp>
        <p:sp>
          <p:nvSpPr>
            <p:cNvPr id="19" name="Shape 15">
              <a:extLst>
                <a:ext uri="{FF2B5EF4-FFF2-40B4-BE49-F238E27FC236}">
                  <a16:creationId xmlns:a16="http://schemas.microsoft.com/office/drawing/2014/main" id="{56CC5748-3426-8864-0940-08F6230BE1CE}"/>
                </a:ext>
              </a:extLst>
            </p:cNvPr>
            <p:cNvSpPr/>
            <p:nvPr/>
          </p:nvSpPr>
          <p:spPr>
            <a:xfrm>
              <a:off x="1350645" y="2974365"/>
              <a:ext cx="32639" cy="1717951"/>
            </a:xfrm>
            <a:prstGeom prst="rect">
              <a:avLst/>
            </a:prstGeom>
            <a:solidFill>
              <a:srgbClr val="3498DB"/>
            </a:solidFill>
            <a:ln/>
          </p:spPr>
        </p:sp>
        <p:sp>
          <p:nvSpPr>
            <p:cNvPr id="20" name="Text 16">
              <a:extLst>
                <a:ext uri="{FF2B5EF4-FFF2-40B4-BE49-F238E27FC236}">
                  <a16:creationId xmlns:a16="http://schemas.microsoft.com/office/drawing/2014/main" id="{51F3768D-48D2-6703-00E1-203BD4D72E44}"/>
                </a:ext>
              </a:extLst>
            </p:cNvPr>
            <p:cNvSpPr/>
            <p:nvPr/>
          </p:nvSpPr>
          <p:spPr>
            <a:xfrm>
              <a:off x="1473041" y="3132219"/>
              <a:ext cx="1077218" cy="184666"/>
            </a:xfrm>
            <a:prstGeom prst="rect">
              <a:avLst/>
            </a:prstGeom>
            <a:noFill/>
            <a:ln/>
          </p:spPr>
          <p:txBody>
            <a:bodyPr wrap="none" lIns="0" tIns="0" rIns="0" bIns="0" rtlCol="0" anchor="ctr">
              <a:spAutoFit/>
            </a:bodyPr>
            <a:lstStyle/>
            <a:p>
              <a:pPr marL="0" indent="0">
                <a:buNone/>
              </a:pPr>
              <a:r>
                <a:rPr lang="en-US" sz="1200" b="1" dirty="0">
                  <a:solidFill>
                    <a:srgbClr val="2C3E50"/>
                  </a:solidFill>
                  <a:latin typeface="微软雅黑" panose="020B0503020204020204" pitchFamily="34" charset="-122"/>
                  <a:ea typeface="微软雅黑" panose="020B0503020204020204" pitchFamily="34" charset="-122"/>
                  <a:cs typeface="Noto Sans" pitchFamily="34" charset="-120"/>
                </a:rPr>
                <a:t>古典密码学时期</a:t>
              </a:r>
              <a:endParaRPr lang="en-US" sz="1200" dirty="0">
                <a:latin typeface="微软雅黑" panose="020B0503020204020204" pitchFamily="34" charset="-122"/>
                <a:ea typeface="微软雅黑" panose="020B0503020204020204" pitchFamily="34" charset="-122"/>
              </a:endParaRPr>
            </a:p>
          </p:txBody>
        </p:sp>
        <p:sp>
          <p:nvSpPr>
            <p:cNvPr id="21" name="Text 17">
              <a:extLst>
                <a:ext uri="{FF2B5EF4-FFF2-40B4-BE49-F238E27FC236}">
                  <a16:creationId xmlns:a16="http://schemas.microsoft.com/office/drawing/2014/main" id="{4E581498-1456-40DE-1BAD-54FCA6D476D7}"/>
                </a:ext>
              </a:extLst>
            </p:cNvPr>
            <p:cNvSpPr/>
            <p:nvPr/>
          </p:nvSpPr>
          <p:spPr>
            <a:xfrm>
              <a:off x="1636236" y="3440783"/>
              <a:ext cx="2462213"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最早可追溯到古埃及和美索不达米亚</a:t>
              </a:r>
              <a:endParaRPr lang="en-US" sz="1200" dirty="0">
                <a:latin typeface="微软雅黑" panose="020B0503020204020204" pitchFamily="34" charset="-122"/>
                <a:ea typeface="微软雅黑" panose="020B0503020204020204" pitchFamily="34" charset="-122"/>
              </a:endParaRPr>
            </a:p>
          </p:txBody>
        </p:sp>
        <p:sp>
          <p:nvSpPr>
            <p:cNvPr id="22" name="Text 18">
              <a:extLst>
                <a:ext uri="{FF2B5EF4-FFF2-40B4-BE49-F238E27FC236}">
                  <a16:creationId xmlns:a16="http://schemas.microsoft.com/office/drawing/2014/main" id="{156E57F9-B540-C1EF-75F6-017EDB5B34E2}"/>
                </a:ext>
              </a:extLst>
            </p:cNvPr>
            <p:cNvSpPr/>
            <p:nvPr/>
          </p:nvSpPr>
          <p:spPr>
            <a:xfrm>
              <a:off x="1636236" y="3674291"/>
              <a:ext cx="1846659"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凯撒密码：字母表移位加密</a:t>
              </a:r>
              <a:endParaRPr lang="en-US" sz="1200" dirty="0">
                <a:latin typeface="微软雅黑" panose="020B0503020204020204" pitchFamily="34" charset="-122"/>
                <a:ea typeface="微软雅黑" panose="020B0503020204020204" pitchFamily="34" charset="-122"/>
              </a:endParaRPr>
            </a:p>
          </p:txBody>
        </p:sp>
        <p:sp>
          <p:nvSpPr>
            <p:cNvPr id="23" name="Text 19">
              <a:extLst>
                <a:ext uri="{FF2B5EF4-FFF2-40B4-BE49-F238E27FC236}">
                  <a16:creationId xmlns:a16="http://schemas.microsoft.com/office/drawing/2014/main" id="{3E9D8CE9-55C8-F1DA-EBC7-547AAC07564F}"/>
                </a:ext>
              </a:extLst>
            </p:cNvPr>
            <p:cNvSpPr/>
            <p:nvPr/>
          </p:nvSpPr>
          <p:spPr>
            <a:xfrm>
              <a:off x="1636236" y="3907799"/>
              <a:ext cx="2000548"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维吉尼亚密码：多表替代密码</a:t>
              </a:r>
              <a:endParaRPr lang="en-US" sz="1200" dirty="0">
                <a:latin typeface="微软雅黑" panose="020B0503020204020204" pitchFamily="34" charset="-122"/>
                <a:ea typeface="微软雅黑" panose="020B0503020204020204" pitchFamily="34" charset="-122"/>
              </a:endParaRPr>
            </a:p>
          </p:txBody>
        </p:sp>
        <p:sp>
          <p:nvSpPr>
            <p:cNvPr id="24" name="Text 20">
              <a:extLst>
                <a:ext uri="{FF2B5EF4-FFF2-40B4-BE49-F238E27FC236}">
                  <a16:creationId xmlns:a16="http://schemas.microsoft.com/office/drawing/2014/main" id="{F6A2BE2C-9D23-9097-1079-11F67C1B1DDC}"/>
                </a:ext>
              </a:extLst>
            </p:cNvPr>
            <p:cNvSpPr/>
            <p:nvPr/>
          </p:nvSpPr>
          <p:spPr>
            <a:xfrm>
              <a:off x="1636236" y="4141307"/>
              <a:ext cx="1231106"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主要依靠手工操作</a:t>
              </a:r>
              <a:endParaRPr lang="en-US" sz="1200" dirty="0">
                <a:latin typeface="微软雅黑" panose="020B0503020204020204" pitchFamily="34" charset="-122"/>
                <a:ea typeface="微软雅黑" panose="020B0503020204020204" pitchFamily="34" charset="-122"/>
              </a:endParaRPr>
            </a:p>
          </p:txBody>
        </p:sp>
        <p:sp>
          <p:nvSpPr>
            <p:cNvPr id="25" name="Text 21">
              <a:extLst>
                <a:ext uri="{FF2B5EF4-FFF2-40B4-BE49-F238E27FC236}">
                  <a16:creationId xmlns:a16="http://schemas.microsoft.com/office/drawing/2014/main" id="{91C3E222-A098-0689-9C1F-758545D8C28C}"/>
                </a:ext>
              </a:extLst>
            </p:cNvPr>
            <p:cNvSpPr/>
            <p:nvPr/>
          </p:nvSpPr>
          <p:spPr>
            <a:xfrm>
              <a:off x="1636236" y="4374814"/>
              <a:ext cx="1384995"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安全性基于算法保密</a:t>
              </a:r>
              <a:endParaRPr lang="en-US" sz="1200" dirty="0">
                <a:latin typeface="微软雅黑" panose="020B0503020204020204" pitchFamily="34" charset="-122"/>
                <a:ea typeface="微软雅黑" panose="020B0503020204020204" pitchFamily="34" charset="-122"/>
              </a:endParaRPr>
            </a:p>
          </p:txBody>
        </p:sp>
        <p:sp>
          <p:nvSpPr>
            <p:cNvPr id="26" name="Shape 22">
              <a:extLst>
                <a:ext uri="{FF2B5EF4-FFF2-40B4-BE49-F238E27FC236}">
                  <a16:creationId xmlns:a16="http://schemas.microsoft.com/office/drawing/2014/main" id="{0A30465F-932C-8E54-9569-C27100B9715C}"/>
                </a:ext>
              </a:extLst>
            </p:cNvPr>
            <p:cNvSpPr/>
            <p:nvPr/>
          </p:nvSpPr>
          <p:spPr>
            <a:xfrm>
              <a:off x="4679823" y="2974365"/>
              <a:ext cx="3133344" cy="1717951"/>
            </a:xfrm>
            <a:prstGeom prst="rect">
              <a:avLst/>
            </a:prstGeom>
            <a:solidFill>
              <a:srgbClr val="F8F9FA"/>
            </a:solidFill>
            <a:ln/>
          </p:spPr>
        </p:sp>
        <p:sp>
          <p:nvSpPr>
            <p:cNvPr id="27" name="Shape 23">
              <a:extLst>
                <a:ext uri="{FF2B5EF4-FFF2-40B4-BE49-F238E27FC236}">
                  <a16:creationId xmlns:a16="http://schemas.microsoft.com/office/drawing/2014/main" id="{ECA30A2A-5625-E1D8-81EE-755C62D204B3}"/>
                </a:ext>
              </a:extLst>
            </p:cNvPr>
            <p:cNvSpPr/>
            <p:nvPr/>
          </p:nvSpPr>
          <p:spPr>
            <a:xfrm>
              <a:off x="4679823" y="2974365"/>
              <a:ext cx="32639" cy="1717951"/>
            </a:xfrm>
            <a:prstGeom prst="rect">
              <a:avLst/>
            </a:prstGeom>
            <a:solidFill>
              <a:srgbClr val="3498DB"/>
            </a:solidFill>
            <a:ln/>
          </p:spPr>
        </p:sp>
        <p:sp>
          <p:nvSpPr>
            <p:cNvPr id="28" name="Text 24">
              <a:extLst>
                <a:ext uri="{FF2B5EF4-FFF2-40B4-BE49-F238E27FC236}">
                  <a16:creationId xmlns:a16="http://schemas.microsoft.com/office/drawing/2014/main" id="{8D27EB09-6567-455A-BB57-647706285647}"/>
                </a:ext>
              </a:extLst>
            </p:cNvPr>
            <p:cNvSpPr/>
            <p:nvPr/>
          </p:nvSpPr>
          <p:spPr>
            <a:xfrm>
              <a:off x="4802220" y="3132219"/>
              <a:ext cx="1077218" cy="184666"/>
            </a:xfrm>
            <a:prstGeom prst="rect">
              <a:avLst/>
            </a:prstGeom>
            <a:noFill/>
            <a:ln/>
          </p:spPr>
          <p:txBody>
            <a:bodyPr wrap="none" lIns="0" tIns="0" rIns="0" bIns="0" rtlCol="0" anchor="ctr">
              <a:spAutoFit/>
            </a:bodyPr>
            <a:lstStyle/>
            <a:p>
              <a:pPr marL="0" indent="0">
                <a:buNone/>
              </a:pPr>
              <a:r>
                <a:rPr lang="en-US" sz="1200" b="1" dirty="0">
                  <a:solidFill>
                    <a:srgbClr val="2C3E50"/>
                  </a:solidFill>
                  <a:latin typeface="微软雅黑" panose="020B0503020204020204" pitchFamily="34" charset="-122"/>
                  <a:ea typeface="微软雅黑" panose="020B0503020204020204" pitchFamily="34" charset="-122"/>
                  <a:cs typeface="Noto Sans" pitchFamily="34" charset="-120"/>
                </a:rPr>
                <a:t>机械密码学时期</a:t>
              </a:r>
              <a:endParaRPr lang="en-US" sz="1200" dirty="0">
                <a:latin typeface="微软雅黑" panose="020B0503020204020204" pitchFamily="34" charset="-122"/>
                <a:ea typeface="微软雅黑" panose="020B0503020204020204" pitchFamily="34" charset="-122"/>
              </a:endParaRPr>
            </a:p>
          </p:txBody>
        </p:sp>
        <p:sp>
          <p:nvSpPr>
            <p:cNvPr id="29" name="Text 25">
              <a:extLst>
                <a:ext uri="{FF2B5EF4-FFF2-40B4-BE49-F238E27FC236}">
                  <a16:creationId xmlns:a16="http://schemas.microsoft.com/office/drawing/2014/main" id="{E433449E-DF88-2A2A-228C-74A32C50794C}"/>
                </a:ext>
              </a:extLst>
            </p:cNvPr>
            <p:cNvSpPr/>
            <p:nvPr/>
          </p:nvSpPr>
          <p:spPr>
            <a:xfrm>
              <a:off x="4965414" y="3440783"/>
              <a:ext cx="2308324"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第一次和第二次世界大战推动发展</a:t>
              </a:r>
              <a:endParaRPr lang="en-US" sz="1200" dirty="0">
                <a:latin typeface="微软雅黑" panose="020B0503020204020204" pitchFamily="34" charset="-122"/>
                <a:ea typeface="微软雅黑" panose="020B0503020204020204" pitchFamily="34" charset="-122"/>
              </a:endParaRPr>
            </a:p>
          </p:txBody>
        </p:sp>
        <p:sp>
          <p:nvSpPr>
            <p:cNvPr id="30" name="Text 26">
              <a:extLst>
                <a:ext uri="{FF2B5EF4-FFF2-40B4-BE49-F238E27FC236}">
                  <a16:creationId xmlns:a16="http://schemas.microsoft.com/office/drawing/2014/main" id="{A93DF4F7-34AC-3120-E7A6-959BB33786FB}"/>
                </a:ext>
              </a:extLst>
            </p:cNvPr>
            <p:cNvSpPr/>
            <p:nvPr/>
          </p:nvSpPr>
          <p:spPr>
            <a:xfrm>
              <a:off x="4965414" y="3674291"/>
              <a:ext cx="1692771"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恩尼格玛机：转子加密机</a:t>
              </a:r>
              <a:endParaRPr lang="en-US" sz="1200" dirty="0">
                <a:latin typeface="微软雅黑" panose="020B0503020204020204" pitchFamily="34" charset="-122"/>
                <a:ea typeface="微软雅黑" panose="020B0503020204020204" pitchFamily="34" charset="-122"/>
              </a:endParaRPr>
            </a:p>
          </p:txBody>
        </p:sp>
        <p:sp>
          <p:nvSpPr>
            <p:cNvPr id="31" name="Text 27">
              <a:extLst>
                <a:ext uri="{FF2B5EF4-FFF2-40B4-BE49-F238E27FC236}">
                  <a16:creationId xmlns:a16="http://schemas.microsoft.com/office/drawing/2014/main" id="{23D21B43-6B9D-4B7A-00FC-D81FAB05F278}"/>
                </a:ext>
              </a:extLst>
            </p:cNvPr>
            <p:cNvSpPr/>
            <p:nvPr/>
          </p:nvSpPr>
          <p:spPr>
            <a:xfrm>
              <a:off x="4965414" y="3907799"/>
              <a:ext cx="2000548"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洛伦兹密码机：用于高层通信</a:t>
              </a:r>
              <a:endParaRPr lang="en-US" sz="1200" dirty="0">
                <a:latin typeface="微软雅黑" panose="020B0503020204020204" pitchFamily="34" charset="-122"/>
                <a:ea typeface="微软雅黑" panose="020B0503020204020204" pitchFamily="34" charset="-122"/>
              </a:endParaRPr>
            </a:p>
          </p:txBody>
        </p:sp>
        <p:sp>
          <p:nvSpPr>
            <p:cNvPr id="32" name="Text 28">
              <a:extLst>
                <a:ext uri="{FF2B5EF4-FFF2-40B4-BE49-F238E27FC236}">
                  <a16:creationId xmlns:a16="http://schemas.microsoft.com/office/drawing/2014/main" id="{8CB3CE6C-CF5E-2C46-8F07-4A47EA514DAD}"/>
                </a:ext>
              </a:extLst>
            </p:cNvPr>
            <p:cNvSpPr/>
            <p:nvPr/>
          </p:nvSpPr>
          <p:spPr>
            <a:xfrm>
              <a:off x="4965414" y="4141307"/>
              <a:ext cx="1538883"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机电设备辅助加密解密</a:t>
              </a:r>
              <a:endParaRPr lang="en-US" sz="1200" dirty="0">
                <a:latin typeface="微软雅黑" panose="020B0503020204020204" pitchFamily="34" charset="-122"/>
                <a:ea typeface="微软雅黑" panose="020B0503020204020204" pitchFamily="34" charset="-122"/>
              </a:endParaRPr>
            </a:p>
          </p:txBody>
        </p:sp>
        <p:sp>
          <p:nvSpPr>
            <p:cNvPr id="38" name="Text 29">
              <a:extLst>
                <a:ext uri="{FF2B5EF4-FFF2-40B4-BE49-F238E27FC236}">
                  <a16:creationId xmlns:a16="http://schemas.microsoft.com/office/drawing/2014/main" id="{1A933122-DEF9-860F-8A26-0229232160FE}"/>
                </a:ext>
              </a:extLst>
            </p:cNvPr>
            <p:cNvSpPr/>
            <p:nvPr/>
          </p:nvSpPr>
          <p:spPr>
            <a:xfrm>
              <a:off x="4965414" y="4374814"/>
              <a:ext cx="1538883"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密码分析学的快速发展</a:t>
              </a:r>
              <a:endParaRPr lang="en-US" sz="1200" dirty="0">
                <a:latin typeface="微软雅黑" panose="020B0503020204020204" pitchFamily="34" charset="-122"/>
                <a:ea typeface="微软雅黑" panose="020B0503020204020204" pitchFamily="34" charset="-122"/>
              </a:endParaRPr>
            </a:p>
          </p:txBody>
        </p:sp>
        <p:sp>
          <p:nvSpPr>
            <p:cNvPr id="39" name="Shape 30">
              <a:extLst>
                <a:ext uri="{FF2B5EF4-FFF2-40B4-BE49-F238E27FC236}">
                  <a16:creationId xmlns:a16="http://schemas.microsoft.com/office/drawing/2014/main" id="{6F70CC10-5CF9-FD77-3EA8-7181DDA86EEC}"/>
                </a:ext>
              </a:extLst>
            </p:cNvPr>
            <p:cNvSpPr/>
            <p:nvPr/>
          </p:nvSpPr>
          <p:spPr>
            <a:xfrm>
              <a:off x="8009001" y="2974365"/>
              <a:ext cx="3133344" cy="1717951"/>
            </a:xfrm>
            <a:prstGeom prst="rect">
              <a:avLst/>
            </a:prstGeom>
            <a:solidFill>
              <a:srgbClr val="F8F9FA"/>
            </a:solidFill>
            <a:ln/>
          </p:spPr>
        </p:sp>
        <p:sp>
          <p:nvSpPr>
            <p:cNvPr id="40" name="Shape 31">
              <a:extLst>
                <a:ext uri="{FF2B5EF4-FFF2-40B4-BE49-F238E27FC236}">
                  <a16:creationId xmlns:a16="http://schemas.microsoft.com/office/drawing/2014/main" id="{0C3D7C1D-D9C6-EC6A-FAF2-A1CF7BCBA833}"/>
                </a:ext>
              </a:extLst>
            </p:cNvPr>
            <p:cNvSpPr/>
            <p:nvPr/>
          </p:nvSpPr>
          <p:spPr>
            <a:xfrm>
              <a:off x="8009001" y="2974365"/>
              <a:ext cx="32639" cy="1717951"/>
            </a:xfrm>
            <a:prstGeom prst="rect">
              <a:avLst/>
            </a:prstGeom>
            <a:solidFill>
              <a:srgbClr val="3498DB"/>
            </a:solidFill>
            <a:ln/>
          </p:spPr>
        </p:sp>
        <p:sp>
          <p:nvSpPr>
            <p:cNvPr id="41" name="Text 32">
              <a:extLst>
                <a:ext uri="{FF2B5EF4-FFF2-40B4-BE49-F238E27FC236}">
                  <a16:creationId xmlns:a16="http://schemas.microsoft.com/office/drawing/2014/main" id="{F3124A87-6471-552B-00A1-5E8FAE2D7C63}"/>
                </a:ext>
              </a:extLst>
            </p:cNvPr>
            <p:cNvSpPr/>
            <p:nvPr/>
          </p:nvSpPr>
          <p:spPr>
            <a:xfrm>
              <a:off x="8131397" y="3132219"/>
              <a:ext cx="1077218" cy="184666"/>
            </a:xfrm>
            <a:prstGeom prst="rect">
              <a:avLst/>
            </a:prstGeom>
            <a:noFill/>
            <a:ln/>
          </p:spPr>
          <p:txBody>
            <a:bodyPr wrap="none" lIns="0" tIns="0" rIns="0" bIns="0" rtlCol="0" anchor="ctr">
              <a:spAutoFit/>
            </a:bodyPr>
            <a:lstStyle/>
            <a:p>
              <a:pPr marL="0" indent="0">
                <a:buNone/>
              </a:pPr>
              <a:r>
                <a:rPr lang="en-US" sz="1200" b="1" dirty="0">
                  <a:solidFill>
                    <a:srgbClr val="2C3E50"/>
                  </a:solidFill>
                  <a:latin typeface="微软雅黑" panose="020B0503020204020204" pitchFamily="34" charset="-122"/>
                  <a:ea typeface="微软雅黑" panose="020B0503020204020204" pitchFamily="34" charset="-122"/>
                  <a:cs typeface="Noto Sans" pitchFamily="34" charset="-120"/>
                </a:rPr>
                <a:t>现代密码学时期</a:t>
              </a:r>
              <a:endParaRPr lang="en-US" sz="1200" dirty="0">
                <a:latin typeface="微软雅黑" panose="020B0503020204020204" pitchFamily="34" charset="-122"/>
                <a:ea typeface="微软雅黑" panose="020B0503020204020204" pitchFamily="34" charset="-122"/>
              </a:endParaRPr>
            </a:p>
          </p:txBody>
        </p:sp>
        <p:sp>
          <p:nvSpPr>
            <p:cNvPr id="42" name="Text 33">
              <a:extLst>
                <a:ext uri="{FF2B5EF4-FFF2-40B4-BE49-F238E27FC236}">
                  <a16:creationId xmlns:a16="http://schemas.microsoft.com/office/drawing/2014/main" id="{3D627BE0-BDAC-28B8-EF0C-7951B082EB10}"/>
                </a:ext>
              </a:extLst>
            </p:cNvPr>
            <p:cNvSpPr/>
            <p:nvPr/>
          </p:nvSpPr>
          <p:spPr>
            <a:xfrm>
              <a:off x="8294593" y="3440783"/>
              <a:ext cx="2085507"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1949年：Shannon信息论奠基</a:t>
              </a:r>
              <a:endParaRPr lang="en-US" sz="1200" dirty="0">
                <a:latin typeface="微软雅黑" panose="020B0503020204020204" pitchFamily="34" charset="-122"/>
                <a:ea typeface="微软雅黑" panose="020B0503020204020204" pitchFamily="34" charset="-122"/>
              </a:endParaRPr>
            </a:p>
          </p:txBody>
        </p:sp>
        <p:sp>
          <p:nvSpPr>
            <p:cNvPr id="43" name="Text 34">
              <a:extLst>
                <a:ext uri="{FF2B5EF4-FFF2-40B4-BE49-F238E27FC236}">
                  <a16:creationId xmlns:a16="http://schemas.microsoft.com/office/drawing/2014/main" id="{E7D44B4F-2CDE-9903-DC05-A07CD979E2F4}"/>
                </a:ext>
              </a:extLst>
            </p:cNvPr>
            <p:cNvSpPr/>
            <p:nvPr/>
          </p:nvSpPr>
          <p:spPr>
            <a:xfrm>
              <a:off x="8294593" y="3674291"/>
              <a:ext cx="1572546"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1976年：DES标准发布</a:t>
              </a:r>
              <a:endParaRPr lang="en-US" sz="1200" dirty="0">
                <a:latin typeface="微软雅黑" panose="020B0503020204020204" pitchFamily="34" charset="-122"/>
                <a:ea typeface="微软雅黑" panose="020B0503020204020204" pitchFamily="34" charset="-122"/>
              </a:endParaRPr>
            </a:p>
          </p:txBody>
        </p:sp>
        <p:sp>
          <p:nvSpPr>
            <p:cNvPr id="44" name="Text 35">
              <a:extLst>
                <a:ext uri="{FF2B5EF4-FFF2-40B4-BE49-F238E27FC236}">
                  <a16:creationId xmlns:a16="http://schemas.microsoft.com/office/drawing/2014/main" id="{BB2F2A40-FEDD-4568-900E-7E82B4C0E997}"/>
                </a:ext>
              </a:extLst>
            </p:cNvPr>
            <p:cNvSpPr/>
            <p:nvPr/>
          </p:nvSpPr>
          <p:spPr>
            <a:xfrm>
              <a:off x="8294593" y="3907799"/>
              <a:ext cx="1580561"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1977年：RSA算法发明</a:t>
              </a:r>
              <a:endParaRPr lang="en-US" sz="1200" dirty="0">
                <a:latin typeface="微软雅黑" panose="020B0503020204020204" pitchFamily="34" charset="-122"/>
                <a:ea typeface="微软雅黑" panose="020B0503020204020204" pitchFamily="34" charset="-122"/>
              </a:endParaRPr>
            </a:p>
          </p:txBody>
        </p:sp>
        <p:sp>
          <p:nvSpPr>
            <p:cNvPr id="45" name="Text 36">
              <a:extLst>
                <a:ext uri="{FF2B5EF4-FFF2-40B4-BE49-F238E27FC236}">
                  <a16:creationId xmlns:a16="http://schemas.microsoft.com/office/drawing/2014/main" id="{A41BF2A4-9B0C-79DC-1005-52AB39F29692}"/>
                </a:ext>
              </a:extLst>
            </p:cNvPr>
            <p:cNvSpPr/>
            <p:nvPr/>
          </p:nvSpPr>
          <p:spPr>
            <a:xfrm>
              <a:off x="8294593" y="4141307"/>
              <a:ext cx="1384995"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基于严格的数学理论</a:t>
              </a:r>
              <a:endParaRPr lang="en-US" sz="1200" dirty="0">
                <a:latin typeface="微软雅黑" panose="020B0503020204020204" pitchFamily="34" charset="-122"/>
                <a:ea typeface="微软雅黑" panose="020B0503020204020204" pitchFamily="34" charset="-122"/>
              </a:endParaRPr>
            </a:p>
          </p:txBody>
        </p:sp>
        <p:sp>
          <p:nvSpPr>
            <p:cNvPr id="46" name="Text 37">
              <a:extLst>
                <a:ext uri="{FF2B5EF4-FFF2-40B4-BE49-F238E27FC236}">
                  <a16:creationId xmlns:a16="http://schemas.microsoft.com/office/drawing/2014/main" id="{D57D18D4-2212-0740-DA4A-6C502D32B7C3}"/>
                </a:ext>
              </a:extLst>
            </p:cNvPr>
            <p:cNvSpPr/>
            <p:nvPr/>
          </p:nvSpPr>
          <p:spPr>
            <a:xfrm>
              <a:off x="8294592" y="4374814"/>
              <a:ext cx="1692771" cy="184666"/>
            </a:xfrm>
            <a:prstGeom prst="rect">
              <a:avLst/>
            </a:prstGeom>
            <a:noFill/>
            <a:ln/>
          </p:spPr>
          <p:txBody>
            <a:bodyPr wrap="none" lIns="0" tIns="0" rIns="0" bIns="0" rtlCol="0" anchor="ctr">
              <a:spAutoFit/>
            </a:bodyPr>
            <a:lstStyle/>
            <a:p>
              <a:pPr marL="0" indent="0" algn="l">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计算复杂性作为安全基础</a:t>
              </a:r>
              <a:endParaRPr lang="en-US" sz="1200" dirty="0">
                <a:latin typeface="微软雅黑" panose="020B0503020204020204" pitchFamily="34" charset="-122"/>
                <a:ea typeface="微软雅黑" panose="020B0503020204020204" pitchFamily="34" charset="-122"/>
              </a:endParaRPr>
            </a:p>
          </p:txBody>
        </p:sp>
      </p:grpSp>
      <p:sp>
        <p:nvSpPr>
          <p:cNvPr id="48" name="Text 38">
            <a:extLst>
              <a:ext uri="{FF2B5EF4-FFF2-40B4-BE49-F238E27FC236}">
                <a16:creationId xmlns:a16="http://schemas.microsoft.com/office/drawing/2014/main" id="{53B8ADB4-776E-71AF-58A4-E8AD2FCE94DE}"/>
              </a:ext>
            </a:extLst>
          </p:cNvPr>
          <p:cNvSpPr/>
          <p:nvPr/>
        </p:nvSpPr>
        <p:spPr>
          <a:xfrm>
            <a:off x="2438042" y="6600881"/>
            <a:ext cx="769441" cy="184666"/>
          </a:xfrm>
          <a:prstGeom prst="rect">
            <a:avLst/>
          </a:prstGeom>
          <a:noFill/>
          <a:ln/>
        </p:spPr>
        <p:txBody>
          <a:bodyPr wrap="none" lIns="0" tIns="0" rIns="0" bIns="0" rtlCol="0" anchor="ctr">
            <a:spAutoFit/>
          </a:bodyPr>
          <a:lstStyle/>
          <a:p>
            <a:pPr marL="0" indent="0" algn="ctr">
              <a:buNone/>
            </a:pPr>
            <a:r>
              <a:rPr lang="zh-CN" altLang="en-US" sz="1200" dirty="0">
                <a:solidFill>
                  <a:srgbClr val="7F8C8D"/>
                </a:solidFill>
                <a:latin typeface="微软雅黑" panose="020B0503020204020204" pitchFamily="34" charset="-122"/>
                <a:ea typeface="微软雅黑" panose="020B0503020204020204" pitchFamily="34" charset="-122"/>
                <a:cs typeface="Noto Sans" pitchFamily="34" charset="-120"/>
              </a:rPr>
              <a:t>凯撒密码盘</a:t>
            </a:r>
            <a:endParaRPr lang="en-US" sz="1200" dirty="0">
              <a:latin typeface="微软雅黑" panose="020B0503020204020204" pitchFamily="34" charset="-122"/>
              <a:ea typeface="微软雅黑" panose="020B0503020204020204" pitchFamily="34" charset="-122"/>
            </a:endParaRPr>
          </a:p>
        </p:txBody>
      </p:sp>
      <p:sp>
        <p:nvSpPr>
          <p:cNvPr id="50" name="Text 39">
            <a:extLst>
              <a:ext uri="{FF2B5EF4-FFF2-40B4-BE49-F238E27FC236}">
                <a16:creationId xmlns:a16="http://schemas.microsoft.com/office/drawing/2014/main" id="{8578CAF3-BE46-CD4A-27B5-BCEB9CD61065}"/>
              </a:ext>
            </a:extLst>
          </p:cNvPr>
          <p:cNvSpPr/>
          <p:nvPr/>
        </p:nvSpPr>
        <p:spPr>
          <a:xfrm>
            <a:off x="5314717" y="6615076"/>
            <a:ext cx="1846659" cy="184666"/>
          </a:xfrm>
          <a:prstGeom prst="rect">
            <a:avLst/>
          </a:prstGeom>
          <a:noFill/>
          <a:ln/>
        </p:spPr>
        <p:txBody>
          <a:bodyPr wrap="none" lIns="0" tIns="0" rIns="0" bIns="0" rtlCol="0" anchor="ctr">
            <a:spAutoFit/>
          </a:bodyPr>
          <a:lstStyle/>
          <a:p>
            <a:pPr marL="0" indent="0" algn="ctr">
              <a:buNone/>
            </a:pPr>
            <a:r>
              <a:rPr lang="en-US" sz="1200" dirty="0">
                <a:solidFill>
                  <a:srgbClr val="7F8C8D"/>
                </a:solidFill>
                <a:latin typeface="微软雅黑" panose="020B0503020204020204" pitchFamily="34" charset="-122"/>
                <a:ea typeface="微软雅黑" panose="020B0503020204020204" pitchFamily="34" charset="-122"/>
                <a:cs typeface="Noto Sans" pitchFamily="34" charset="-120"/>
              </a:rPr>
              <a:t>二战时期的恩尼格玛密码机</a:t>
            </a:r>
            <a:endParaRPr lang="en-US" sz="1200" dirty="0">
              <a:latin typeface="微软雅黑" panose="020B0503020204020204" pitchFamily="34" charset="-122"/>
              <a:ea typeface="微软雅黑" panose="020B0503020204020204" pitchFamily="34" charset="-122"/>
            </a:endParaRPr>
          </a:p>
        </p:txBody>
      </p:sp>
      <p:pic>
        <p:nvPicPr>
          <p:cNvPr id="51" name="Image 3" descr="preencoded.png">
            <a:extLst>
              <a:ext uri="{FF2B5EF4-FFF2-40B4-BE49-F238E27FC236}">
                <a16:creationId xmlns:a16="http://schemas.microsoft.com/office/drawing/2014/main" id="{2A53A8D4-74EB-21A0-09E7-A496B7F92098}"/>
              </a:ext>
            </a:extLst>
          </p:cNvPr>
          <p:cNvPicPr>
            <a:picLocks noChangeAspect="1"/>
          </p:cNvPicPr>
          <p:nvPr/>
        </p:nvPicPr>
        <p:blipFill>
          <a:blip r:embed="rId3"/>
          <a:stretch>
            <a:fillRect/>
          </a:stretch>
        </p:blipFill>
        <p:spPr>
          <a:xfrm>
            <a:off x="8775964" y="5021729"/>
            <a:ext cx="1468755" cy="1501122"/>
          </a:xfrm>
          <a:prstGeom prst="rect">
            <a:avLst/>
          </a:prstGeom>
        </p:spPr>
      </p:pic>
      <p:sp>
        <p:nvSpPr>
          <p:cNvPr id="52" name="Text 40">
            <a:extLst>
              <a:ext uri="{FF2B5EF4-FFF2-40B4-BE49-F238E27FC236}">
                <a16:creationId xmlns:a16="http://schemas.microsoft.com/office/drawing/2014/main" id="{A3EA157F-1CD1-8DB3-0045-2888F94BBE81}"/>
              </a:ext>
            </a:extLst>
          </p:cNvPr>
          <p:cNvSpPr/>
          <p:nvPr/>
        </p:nvSpPr>
        <p:spPr>
          <a:xfrm>
            <a:off x="8836203" y="6605649"/>
            <a:ext cx="1538883" cy="184666"/>
          </a:xfrm>
          <a:prstGeom prst="rect">
            <a:avLst/>
          </a:prstGeom>
          <a:noFill/>
          <a:ln/>
        </p:spPr>
        <p:txBody>
          <a:bodyPr wrap="none" lIns="0" tIns="0" rIns="0" bIns="0" rtlCol="0" anchor="ctr">
            <a:spAutoFit/>
          </a:bodyPr>
          <a:lstStyle/>
          <a:p>
            <a:pPr marL="0" indent="0" algn="ctr">
              <a:buNone/>
            </a:pPr>
            <a:r>
              <a:rPr lang="en-US" sz="1200" dirty="0">
                <a:solidFill>
                  <a:srgbClr val="7F8C8D"/>
                </a:solidFill>
                <a:latin typeface="微软雅黑" panose="020B0503020204020204" pitchFamily="34" charset="-122"/>
                <a:ea typeface="微软雅黑" panose="020B0503020204020204" pitchFamily="34" charset="-122"/>
                <a:cs typeface="Noto Sans" pitchFamily="34" charset="-120"/>
              </a:rPr>
              <a:t>现代密码学的数学基础</a:t>
            </a:r>
            <a:endParaRPr lang="en-US" sz="1200" dirty="0">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40729679-FB7A-B7E0-3383-6165D9713C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8316" y="4656152"/>
            <a:ext cx="1538883" cy="189869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63E4408-5497-4304-05A3-DB21E188C6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0" y="5064865"/>
            <a:ext cx="1792606" cy="1457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184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4458C-370C-DD9A-7932-200B3DEC7987}"/>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250914C-DFF4-4117-361B-87EBF6A702DC}"/>
              </a:ext>
            </a:extLst>
          </p:cNvPr>
          <p:cNvSpPr/>
          <p:nvPr/>
        </p:nvSpPr>
        <p:spPr>
          <a:xfrm>
            <a:off x="-4445" y="130331"/>
            <a:ext cx="12196445" cy="835998"/>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4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目录</a:t>
            </a:r>
            <a:endParaRPr kumimoji="0" lang="en-US" altLang="zh-CN" sz="4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879B3FCB-E434-0C35-E62F-FF745E4FF55C}"/>
              </a:ext>
            </a:extLst>
          </p:cNvPr>
          <p:cNvSpPr txBox="1"/>
          <p:nvPr>
            <p:custDataLst>
              <p:tags r:id="rId1"/>
            </p:custDataLst>
          </p:nvPr>
        </p:nvSpPr>
        <p:spPr>
          <a:xfrm>
            <a:off x="0" y="1180323"/>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alt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18649D54-13C6-8963-07A4-A11C15BA9051}"/>
              </a:ext>
            </a:extLst>
          </p:cNvPr>
          <p:cNvSpPr txBox="1"/>
          <p:nvPr/>
        </p:nvSpPr>
        <p:spPr>
          <a:xfrm>
            <a:off x="4544504" y="2066722"/>
            <a:ext cx="3098545" cy="2820131"/>
          </a:xfrm>
          <a:prstGeom prst="rect">
            <a:avLst/>
          </a:prstGeom>
          <a:noFill/>
        </p:spPr>
        <p:txBody>
          <a:bodyPr wrap="square" rtlCol="0">
            <a:spAutoFit/>
          </a:bodyPr>
          <a:lstStyle/>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密码学发展简介</a:t>
            </a:r>
          </a:p>
          <a:p>
            <a:pPr marL="457200" indent="-457200">
              <a:lnSpc>
                <a:spcPct val="125000"/>
              </a:lnSpc>
              <a:buFont typeface="+mj-ea"/>
              <a:buAutoNum type="circleNumDbPlain"/>
            </a:pPr>
            <a:r>
              <a:rPr lang="en-IE" altLang="zh-CN" sz="2400" b="1" dirty="0">
                <a:solidFill>
                  <a:srgbClr val="002060"/>
                </a:solidFill>
                <a:latin typeface="微软雅黑" panose="020B0503020204020204" pitchFamily="34" charset="-122"/>
                <a:ea typeface="微软雅黑" panose="020B0503020204020204" pitchFamily="34" charset="-122"/>
              </a:rPr>
              <a:t>Shannon</a:t>
            </a:r>
            <a:r>
              <a:rPr lang="zh-CN" altLang="en-US" sz="2400" b="1" dirty="0">
                <a:solidFill>
                  <a:srgbClr val="002060"/>
                </a:solidFill>
                <a:latin typeface="微软雅黑" panose="020B0503020204020204" pitchFamily="34" charset="-122"/>
                <a:ea typeface="微软雅黑" panose="020B0503020204020204" pitchFamily="34" charset="-122"/>
              </a:rPr>
              <a:t>理论</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Hash</a:t>
            </a:r>
            <a:r>
              <a:rPr lang="zh-CN" altLang="en-US" sz="2400" dirty="0">
                <a:solidFill>
                  <a:srgbClr val="002060"/>
                </a:solidFill>
                <a:latin typeface="微软雅黑" panose="020B0503020204020204" pitchFamily="34" charset="-122"/>
                <a:ea typeface="微软雅黑" panose="020B0503020204020204" pitchFamily="34" charset="-122"/>
              </a:rPr>
              <a:t>函数</a:t>
            </a: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非对称密码算法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密码协议</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6001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7B7B2-638C-8D6D-62CB-E122864D751B}"/>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D2CDDA96-931B-E2B7-05B7-48A7534B1250}"/>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IE" altLang="zh-CN" sz="2800" b="1" dirty="0">
                <a:solidFill>
                  <a:srgbClr val="002060"/>
                </a:solidFill>
                <a:latin typeface="微软雅黑" panose="020B0503020204020204" pitchFamily="34" charset="-122"/>
                <a:ea typeface="微软雅黑" panose="020B0503020204020204" pitchFamily="34" charset="-122"/>
              </a:rPr>
              <a:t>Shannon</a:t>
            </a:r>
            <a:r>
              <a:rPr lang="zh-CN" altLang="en-US" sz="2800" b="1" dirty="0">
                <a:solidFill>
                  <a:srgbClr val="002060"/>
                </a:solidFill>
                <a:latin typeface="微软雅黑" panose="020B0503020204020204" pitchFamily="34" charset="-122"/>
                <a:ea typeface="微软雅黑" panose="020B0503020204020204" pitchFamily="34" charset="-122"/>
              </a:rPr>
              <a:t>理论</a:t>
            </a:r>
          </a:p>
        </p:txBody>
      </p:sp>
      <p:grpSp>
        <p:nvGrpSpPr>
          <p:cNvPr id="33" name="组合 2">
            <a:extLst>
              <a:ext uri="{FF2B5EF4-FFF2-40B4-BE49-F238E27FC236}">
                <a16:creationId xmlns:a16="http://schemas.microsoft.com/office/drawing/2014/main" id="{EEC0C5E3-49A3-BE2D-611B-391A39038278}"/>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B8629369-D216-9BB1-DCE8-9ABE362D6D41}"/>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2EAABC42-6D52-8295-B111-660FE723B511}"/>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85379D0D-A71D-5B5D-8F3E-12BD40075BC0}"/>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DC956CD3-5492-BA27-83BE-44D462EBF2A6}"/>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Claude Shannon</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及其贡献</a:t>
              </a:r>
            </a:p>
          </p:txBody>
        </p:sp>
      </p:grpSp>
      <p:pic>
        <p:nvPicPr>
          <p:cNvPr id="40" name="Image 1" descr="preencoded.png">
            <a:extLst>
              <a:ext uri="{FF2B5EF4-FFF2-40B4-BE49-F238E27FC236}">
                <a16:creationId xmlns:a16="http://schemas.microsoft.com/office/drawing/2014/main" id="{2F06DA72-DE02-DB48-D781-3A0EE9538F35}"/>
              </a:ext>
            </a:extLst>
          </p:cNvPr>
          <p:cNvPicPr>
            <a:picLocks noChangeAspect="1"/>
          </p:cNvPicPr>
          <p:nvPr/>
        </p:nvPicPr>
        <p:blipFill>
          <a:blip r:embed="rId3"/>
          <a:srcRect l="31073" r="31713"/>
          <a:stretch>
            <a:fillRect/>
          </a:stretch>
        </p:blipFill>
        <p:spPr>
          <a:xfrm>
            <a:off x="1760388" y="1783772"/>
            <a:ext cx="1960016" cy="2297066"/>
          </a:xfrm>
          <a:prstGeom prst="rect">
            <a:avLst/>
          </a:prstGeom>
        </p:spPr>
      </p:pic>
      <p:sp>
        <p:nvSpPr>
          <p:cNvPr id="41" name="Shape 1">
            <a:extLst>
              <a:ext uri="{FF2B5EF4-FFF2-40B4-BE49-F238E27FC236}">
                <a16:creationId xmlns:a16="http://schemas.microsoft.com/office/drawing/2014/main" id="{BA02B83C-E44D-333B-8D55-674F7AFC5693}"/>
              </a:ext>
            </a:extLst>
          </p:cNvPr>
          <p:cNvSpPr/>
          <p:nvPr/>
        </p:nvSpPr>
        <p:spPr>
          <a:xfrm>
            <a:off x="123825" y="4218662"/>
            <a:ext cx="5266944" cy="1892783"/>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Shape 2">
            <a:extLst>
              <a:ext uri="{FF2B5EF4-FFF2-40B4-BE49-F238E27FC236}">
                <a16:creationId xmlns:a16="http://schemas.microsoft.com/office/drawing/2014/main" id="{74BD0338-A164-7AA5-F304-0DA0642B6743}"/>
              </a:ext>
            </a:extLst>
          </p:cNvPr>
          <p:cNvSpPr/>
          <p:nvPr/>
        </p:nvSpPr>
        <p:spPr>
          <a:xfrm>
            <a:off x="123825" y="4218662"/>
            <a:ext cx="36576" cy="1892783"/>
          </a:xfrm>
          <a:prstGeom prst="rect">
            <a:avLst/>
          </a:prstGeom>
          <a:solidFill>
            <a:srgbClr val="3498DB"/>
          </a:solidFill>
          <a:ln/>
        </p:spPr>
      </p:sp>
      <p:sp>
        <p:nvSpPr>
          <p:cNvPr id="43" name="Text 3">
            <a:extLst>
              <a:ext uri="{FF2B5EF4-FFF2-40B4-BE49-F238E27FC236}">
                <a16:creationId xmlns:a16="http://schemas.microsoft.com/office/drawing/2014/main" id="{5472A8CC-B3E2-FCB8-4853-613104729542}"/>
              </a:ext>
            </a:extLst>
          </p:cNvPr>
          <p:cNvSpPr/>
          <p:nvPr/>
        </p:nvSpPr>
        <p:spPr>
          <a:xfrm>
            <a:off x="260985" y="4355810"/>
            <a:ext cx="2414122"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生平简介 (1916-2001)</a:t>
            </a:r>
            <a:endParaRPr lang="en-US" dirty="0">
              <a:latin typeface="微软雅黑" panose="020B0503020204020204" pitchFamily="34" charset="-122"/>
              <a:ea typeface="微软雅黑" panose="020B0503020204020204" pitchFamily="34" charset="-122"/>
            </a:endParaRPr>
          </a:p>
        </p:txBody>
      </p:sp>
      <p:sp>
        <p:nvSpPr>
          <p:cNvPr id="44" name="Text 4">
            <a:extLst>
              <a:ext uri="{FF2B5EF4-FFF2-40B4-BE49-F238E27FC236}">
                <a16:creationId xmlns:a16="http://schemas.microsoft.com/office/drawing/2014/main" id="{65797A49-A722-F8B8-83CF-4D6379B0ED6F}"/>
              </a:ext>
            </a:extLst>
          </p:cNvPr>
          <p:cNvSpPr/>
          <p:nvPr/>
        </p:nvSpPr>
        <p:spPr>
          <a:xfrm>
            <a:off x="443865" y="4695776"/>
            <a:ext cx="3712555"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1916年4月30日出生于美国密歇根州</a:t>
            </a:r>
            <a:endParaRPr lang="en-US" dirty="0">
              <a:latin typeface="微软雅黑" panose="020B0503020204020204" pitchFamily="34" charset="-122"/>
              <a:ea typeface="微软雅黑" panose="020B0503020204020204" pitchFamily="34" charset="-122"/>
            </a:endParaRPr>
          </a:p>
        </p:txBody>
      </p:sp>
      <p:sp>
        <p:nvSpPr>
          <p:cNvPr id="45" name="Text 5">
            <a:extLst>
              <a:ext uri="{FF2B5EF4-FFF2-40B4-BE49-F238E27FC236}">
                <a16:creationId xmlns:a16="http://schemas.microsoft.com/office/drawing/2014/main" id="{1C931202-64E3-11A3-2845-032B4380F936}"/>
              </a:ext>
            </a:extLst>
          </p:cNvPr>
          <p:cNvSpPr/>
          <p:nvPr/>
        </p:nvSpPr>
        <p:spPr>
          <a:xfrm>
            <a:off x="443865" y="4953047"/>
            <a:ext cx="4661533"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1936年获得密歇根大学电气工程和数学双学位</a:t>
            </a:r>
            <a:endParaRPr lang="en-US" dirty="0">
              <a:latin typeface="微软雅黑" panose="020B0503020204020204" pitchFamily="34" charset="-122"/>
              <a:ea typeface="微软雅黑" panose="020B0503020204020204" pitchFamily="34" charset="-122"/>
            </a:endParaRPr>
          </a:p>
        </p:txBody>
      </p:sp>
      <p:sp>
        <p:nvSpPr>
          <p:cNvPr id="46" name="Text 6">
            <a:extLst>
              <a:ext uri="{FF2B5EF4-FFF2-40B4-BE49-F238E27FC236}">
                <a16:creationId xmlns:a16="http://schemas.microsoft.com/office/drawing/2014/main" id="{E4AFCB37-08B8-58E6-58FD-C170B17EDF6E}"/>
              </a:ext>
            </a:extLst>
          </p:cNvPr>
          <p:cNvSpPr/>
          <p:nvPr/>
        </p:nvSpPr>
        <p:spPr>
          <a:xfrm>
            <a:off x="443865" y="5210319"/>
            <a:ext cx="350737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1940年获得麻省理工学院博士学位</a:t>
            </a:r>
            <a:endParaRPr lang="en-US" dirty="0">
              <a:latin typeface="微软雅黑" panose="020B0503020204020204" pitchFamily="34" charset="-122"/>
              <a:ea typeface="微软雅黑" panose="020B0503020204020204" pitchFamily="34" charset="-122"/>
            </a:endParaRPr>
          </a:p>
        </p:txBody>
      </p:sp>
      <p:sp>
        <p:nvSpPr>
          <p:cNvPr id="47" name="Text 7">
            <a:extLst>
              <a:ext uri="{FF2B5EF4-FFF2-40B4-BE49-F238E27FC236}">
                <a16:creationId xmlns:a16="http://schemas.microsoft.com/office/drawing/2014/main" id="{0ACF1D35-9EEB-E8EC-AA5F-0D6E83BC198C}"/>
              </a:ext>
            </a:extLst>
          </p:cNvPr>
          <p:cNvSpPr/>
          <p:nvPr/>
        </p:nvSpPr>
        <p:spPr>
          <a:xfrm>
            <a:off x="443865" y="5467590"/>
            <a:ext cx="325409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1941-1972年在贝尔实验室工作</a:t>
            </a:r>
            <a:endParaRPr lang="en-US" dirty="0">
              <a:latin typeface="微软雅黑" panose="020B0503020204020204" pitchFamily="34" charset="-122"/>
              <a:ea typeface="微软雅黑" panose="020B0503020204020204" pitchFamily="34" charset="-122"/>
            </a:endParaRPr>
          </a:p>
        </p:txBody>
      </p:sp>
      <p:sp>
        <p:nvSpPr>
          <p:cNvPr id="48" name="Text 8">
            <a:extLst>
              <a:ext uri="{FF2B5EF4-FFF2-40B4-BE49-F238E27FC236}">
                <a16:creationId xmlns:a16="http://schemas.microsoft.com/office/drawing/2014/main" id="{462FCBD5-8556-7C65-F0E6-9FF1BEBE4C1A}"/>
              </a:ext>
            </a:extLst>
          </p:cNvPr>
          <p:cNvSpPr/>
          <p:nvPr/>
        </p:nvSpPr>
        <p:spPr>
          <a:xfrm>
            <a:off x="443865" y="5724861"/>
            <a:ext cx="3308598"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1956年起担任麻省理工学院教授</a:t>
            </a:r>
            <a:endParaRPr lang="en-US" dirty="0">
              <a:latin typeface="微软雅黑" panose="020B0503020204020204" pitchFamily="34" charset="-122"/>
              <a:ea typeface="微软雅黑" panose="020B0503020204020204" pitchFamily="34" charset="-122"/>
            </a:endParaRPr>
          </a:p>
        </p:txBody>
      </p:sp>
      <p:sp>
        <p:nvSpPr>
          <p:cNvPr id="49" name="Shape 9">
            <a:extLst>
              <a:ext uri="{FF2B5EF4-FFF2-40B4-BE49-F238E27FC236}">
                <a16:creationId xmlns:a16="http://schemas.microsoft.com/office/drawing/2014/main" id="{08CF6E9F-37D1-8643-2231-1176404D61B4}"/>
              </a:ext>
            </a:extLst>
          </p:cNvPr>
          <p:cNvSpPr/>
          <p:nvPr/>
        </p:nvSpPr>
        <p:spPr>
          <a:xfrm>
            <a:off x="5829681" y="1783772"/>
            <a:ext cx="5838444" cy="4327673"/>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0" name="Shape 10">
            <a:extLst>
              <a:ext uri="{FF2B5EF4-FFF2-40B4-BE49-F238E27FC236}">
                <a16:creationId xmlns:a16="http://schemas.microsoft.com/office/drawing/2014/main" id="{6535D1D6-2E2E-10FF-F8F8-E1F274F89A7A}"/>
              </a:ext>
            </a:extLst>
          </p:cNvPr>
          <p:cNvSpPr/>
          <p:nvPr/>
        </p:nvSpPr>
        <p:spPr>
          <a:xfrm>
            <a:off x="5829680" y="1783772"/>
            <a:ext cx="45719" cy="4327673"/>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1" name="Text 11">
            <a:extLst>
              <a:ext uri="{FF2B5EF4-FFF2-40B4-BE49-F238E27FC236}">
                <a16:creationId xmlns:a16="http://schemas.microsoft.com/office/drawing/2014/main" id="{B239D67C-5A54-4AA0-81BF-E4BF430EA824}"/>
              </a:ext>
            </a:extLst>
          </p:cNvPr>
          <p:cNvSpPr/>
          <p:nvPr/>
        </p:nvSpPr>
        <p:spPr>
          <a:xfrm>
            <a:off x="5966841" y="1920922"/>
            <a:ext cx="65" cy="276999"/>
          </a:xfrm>
          <a:prstGeom prst="rect">
            <a:avLst/>
          </a:prstGeom>
          <a:noFill/>
          <a:ln/>
        </p:spPr>
        <p:txBody>
          <a:bodyPr wrap="none" lIns="0" tIns="0" rIns="0" bIns="0" rtlCol="0" anchor="ctr">
            <a:spAutoFit/>
          </a:bodyPr>
          <a:lstStyle/>
          <a:p>
            <a:pPr marL="0" indent="0">
              <a:buNone/>
            </a:pPr>
            <a:endParaRPr lang="en-US" dirty="0">
              <a:latin typeface="微软雅黑" panose="020B0503020204020204" pitchFamily="34" charset="-122"/>
              <a:ea typeface="微软雅黑" panose="020B0503020204020204" pitchFamily="34" charset="-122"/>
            </a:endParaRPr>
          </a:p>
        </p:txBody>
      </p:sp>
      <p:sp>
        <p:nvSpPr>
          <p:cNvPr id="52" name="Text 12">
            <a:extLst>
              <a:ext uri="{FF2B5EF4-FFF2-40B4-BE49-F238E27FC236}">
                <a16:creationId xmlns:a16="http://schemas.microsoft.com/office/drawing/2014/main" id="{4C19A394-44E2-1675-BC2D-95634D43B12F}"/>
              </a:ext>
            </a:extLst>
          </p:cNvPr>
          <p:cNvSpPr/>
          <p:nvPr/>
        </p:nvSpPr>
        <p:spPr>
          <a:xfrm>
            <a:off x="5995451" y="1920922"/>
            <a:ext cx="5644128" cy="4528291"/>
          </a:xfrm>
          <a:prstGeom prst="rect">
            <a:avLst/>
          </a:prstGeom>
          <a:noFill/>
          <a:ln/>
        </p:spPr>
        <p:txBody>
          <a:bodyPr wrap="square" lIns="0" tIns="0" rIns="0" bIns="0" rtlCol="0" anchor="ctr">
            <a:spAutoFit/>
          </a:bodyPr>
          <a:lstStyle/>
          <a:p>
            <a:pPr>
              <a:lnSpc>
                <a:spcPct val="150000"/>
              </a:lnSpc>
            </a:pPr>
            <a:r>
              <a:rPr lang="en-US" altLang="zh-CN" b="1" dirty="0">
                <a:solidFill>
                  <a:srgbClr val="2C3E50"/>
                </a:solidFill>
                <a:latin typeface="微软雅黑" panose="020B0503020204020204" pitchFamily="34" charset="-122"/>
                <a:ea typeface="微软雅黑" panose="020B0503020204020204" pitchFamily="34" charset="-122"/>
                <a:cs typeface="Noto Sans" pitchFamily="34" charset="-120"/>
              </a:rPr>
              <a:t>主要贡献</a:t>
            </a:r>
            <a:endParaRPr lang="en-US" b="1" dirty="0">
              <a:solidFill>
                <a:srgbClr val="34495E"/>
              </a:solidFill>
              <a:latin typeface="微软雅黑" panose="020B0503020204020204" pitchFamily="34" charset="-122"/>
              <a:ea typeface="微软雅黑" panose="020B0503020204020204" pitchFamily="34" charset="-122"/>
              <a:cs typeface="Noto Sans" pitchFamily="34" charset="-120"/>
            </a:endParaRPr>
          </a:p>
          <a:p>
            <a:pPr marL="0" indent="0" algn="l">
              <a:lnSpc>
                <a:spcPct val="150000"/>
              </a:lnSpc>
              <a:buNone/>
            </a:pP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①</a:t>
            </a:r>
            <a:r>
              <a:rPr lang="en-US" dirty="0">
                <a:solidFill>
                  <a:srgbClr val="34495E"/>
                </a:solidFill>
                <a:latin typeface="微软雅黑" panose="020B0503020204020204" pitchFamily="34" charset="-122"/>
                <a:ea typeface="微软雅黑" panose="020B0503020204020204" pitchFamily="34" charset="-122"/>
                <a:cs typeface="Noto Sans" pitchFamily="34" charset="-120"/>
              </a:rPr>
              <a:t>信息论的创立</a:t>
            </a:r>
          </a:p>
          <a:p>
            <a:pPr>
              <a:lnSpc>
                <a:spcPct val="150000"/>
              </a:lnSpc>
            </a:pP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1948年发表《通信的数学理论》，奠定了信息论基础</a:t>
            </a:r>
          </a:p>
          <a:p>
            <a:pPr>
              <a:lnSpc>
                <a:spcPct val="150000"/>
              </a:lnSpc>
            </a:pP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②</a:t>
            </a: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密码学理论</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1949年发表《保密系统的通信理论》，</a:t>
            </a:r>
            <a:r>
              <a:rPr lang="en-US" altLang="zh-CN" dirty="0" err="1">
                <a:solidFill>
                  <a:srgbClr val="34495E"/>
                </a:solidFill>
                <a:latin typeface="微软雅黑" panose="020B0503020204020204" pitchFamily="34" charset="-122"/>
                <a:ea typeface="微软雅黑" panose="020B0503020204020204" pitchFamily="34" charset="-122"/>
                <a:cs typeface="Noto Sans" pitchFamily="34" charset="-120"/>
              </a:rPr>
              <a:t>将密码学从艺术转变为科学</a:t>
            </a:r>
            <a:endParaRPr lang="en-US" altLang="zh-CN" dirty="0">
              <a:solidFill>
                <a:srgbClr val="34495E"/>
              </a:solidFill>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③</a:t>
            </a:r>
            <a:r>
              <a:rPr lang="en-US" altLang="zh-CN" dirty="0" err="1">
                <a:solidFill>
                  <a:srgbClr val="34495E"/>
                </a:solidFill>
                <a:latin typeface="微软雅黑" panose="020B0503020204020204" pitchFamily="34" charset="-122"/>
                <a:ea typeface="微软雅黑" panose="020B0503020204020204" pitchFamily="34" charset="-122"/>
                <a:cs typeface="Noto Sans" pitchFamily="34" charset="-120"/>
              </a:rPr>
              <a:t>开关电路理论</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err="1">
                <a:solidFill>
                  <a:srgbClr val="34495E"/>
                </a:solidFill>
                <a:latin typeface="微软雅黑" panose="020B0503020204020204" pitchFamily="34" charset="-122"/>
                <a:ea typeface="微软雅黑" panose="020B0503020204020204" pitchFamily="34" charset="-122"/>
                <a:cs typeface="Noto Sans" pitchFamily="34" charset="-120"/>
              </a:rPr>
              <a:t>将布尔代数应用于电路设计，为数字电路奠定基础</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④</a:t>
            </a:r>
            <a:r>
              <a:rPr lang="en-US" altLang="zh-CN" dirty="0" err="1">
                <a:solidFill>
                  <a:srgbClr val="34495E"/>
                </a:solidFill>
                <a:latin typeface="微软雅黑" panose="020B0503020204020204" pitchFamily="34" charset="-122"/>
                <a:ea typeface="微软雅黑" panose="020B0503020204020204" pitchFamily="34" charset="-122"/>
                <a:cs typeface="Noto Sans" pitchFamily="34" charset="-120"/>
              </a:rPr>
              <a:t>信息熵概念</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err="1">
                <a:solidFill>
                  <a:srgbClr val="34495E"/>
                </a:solidFill>
                <a:latin typeface="微软雅黑" panose="020B0503020204020204" pitchFamily="34" charset="-122"/>
                <a:ea typeface="微软雅黑" panose="020B0503020204020204" pitchFamily="34" charset="-122"/>
                <a:cs typeface="Noto Sans" pitchFamily="34" charset="-120"/>
              </a:rPr>
              <a:t>提出用于度量信息不确定性的数学工具</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dirty="0">
              <a:latin typeface="微软雅黑" panose="020B0503020204020204" pitchFamily="34" charset="-122"/>
              <a:ea typeface="微软雅黑" panose="020B0503020204020204" pitchFamily="34" charset="-122"/>
            </a:endParaRPr>
          </a:p>
        </p:txBody>
      </p:sp>
      <p:sp>
        <p:nvSpPr>
          <p:cNvPr id="54" name="Text 14">
            <a:extLst>
              <a:ext uri="{FF2B5EF4-FFF2-40B4-BE49-F238E27FC236}">
                <a16:creationId xmlns:a16="http://schemas.microsoft.com/office/drawing/2014/main" id="{7D35D857-CF4D-D493-2976-045C3A6D2D08}"/>
              </a:ext>
            </a:extLst>
          </p:cNvPr>
          <p:cNvSpPr/>
          <p:nvPr/>
        </p:nvSpPr>
        <p:spPr>
          <a:xfrm>
            <a:off x="6134108" y="4300004"/>
            <a:ext cx="1154162" cy="276999"/>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55" name="Text 15">
            <a:extLst>
              <a:ext uri="{FF2B5EF4-FFF2-40B4-BE49-F238E27FC236}">
                <a16:creationId xmlns:a16="http://schemas.microsoft.com/office/drawing/2014/main" id="{02F7894E-6FD9-4F65-5C6D-0FD89766E181}"/>
              </a:ext>
            </a:extLst>
          </p:cNvPr>
          <p:cNvSpPr/>
          <p:nvPr/>
        </p:nvSpPr>
        <p:spPr>
          <a:xfrm>
            <a:off x="6134107" y="4410263"/>
            <a:ext cx="4901185" cy="276999"/>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56" name="Text 16">
            <a:extLst>
              <a:ext uri="{FF2B5EF4-FFF2-40B4-BE49-F238E27FC236}">
                <a16:creationId xmlns:a16="http://schemas.microsoft.com/office/drawing/2014/main" id="{FC03B132-46DF-999C-6613-DE9743FDCE2C}"/>
              </a:ext>
            </a:extLst>
          </p:cNvPr>
          <p:cNvSpPr/>
          <p:nvPr/>
        </p:nvSpPr>
        <p:spPr>
          <a:xfrm>
            <a:off x="6134108" y="4814547"/>
            <a:ext cx="1384995" cy="276999"/>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57" name="Text 17">
            <a:extLst>
              <a:ext uri="{FF2B5EF4-FFF2-40B4-BE49-F238E27FC236}">
                <a16:creationId xmlns:a16="http://schemas.microsoft.com/office/drawing/2014/main" id="{F5835C26-0C9D-6D91-E8A0-9F10262B0C0E}"/>
              </a:ext>
            </a:extLst>
          </p:cNvPr>
          <p:cNvSpPr/>
          <p:nvPr/>
        </p:nvSpPr>
        <p:spPr>
          <a:xfrm>
            <a:off x="7011932" y="4814547"/>
            <a:ext cx="3947161" cy="276999"/>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58" name="Text 18">
            <a:extLst>
              <a:ext uri="{FF2B5EF4-FFF2-40B4-BE49-F238E27FC236}">
                <a16:creationId xmlns:a16="http://schemas.microsoft.com/office/drawing/2014/main" id="{0E638199-EB61-AD9D-5EC9-E1936223AC33}"/>
              </a:ext>
            </a:extLst>
          </p:cNvPr>
          <p:cNvSpPr/>
          <p:nvPr/>
        </p:nvSpPr>
        <p:spPr>
          <a:xfrm>
            <a:off x="6134108" y="5108571"/>
            <a:ext cx="1154162" cy="276999"/>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59" name="Text 19">
            <a:extLst>
              <a:ext uri="{FF2B5EF4-FFF2-40B4-BE49-F238E27FC236}">
                <a16:creationId xmlns:a16="http://schemas.microsoft.com/office/drawing/2014/main" id="{C04C649B-AC61-86F5-929A-3AA3FDD3FD7E}"/>
              </a:ext>
            </a:extLst>
          </p:cNvPr>
          <p:cNvSpPr/>
          <p:nvPr/>
        </p:nvSpPr>
        <p:spPr>
          <a:xfrm>
            <a:off x="6865628" y="5108571"/>
            <a:ext cx="4215384" cy="276999"/>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76641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A3B1-CDEA-4113-1A51-5C65D9FB377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6D1A049C-92D5-10ED-5283-52F08EA0CCDF}"/>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IE" altLang="zh-CN" sz="2800" b="1" dirty="0">
                <a:solidFill>
                  <a:srgbClr val="002060"/>
                </a:solidFill>
                <a:latin typeface="微软雅黑" panose="020B0503020204020204" pitchFamily="34" charset="-122"/>
                <a:ea typeface="微软雅黑" panose="020B0503020204020204" pitchFamily="34" charset="-122"/>
              </a:rPr>
              <a:t>Shannon</a:t>
            </a:r>
            <a:r>
              <a:rPr lang="zh-CN" altLang="en-US" sz="2800" b="1" dirty="0">
                <a:solidFill>
                  <a:srgbClr val="002060"/>
                </a:solidFill>
                <a:latin typeface="微软雅黑" panose="020B0503020204020204" pitchFamily="34" charset="-122"/>
                <a:ea typeface="微软雅黑" panose="020B0503020204020204" pitchFamily="34" charset="-122"/>
              </a:rPr>
              <a:t>理论</a:t>
            </a:r>
          </a:p>
        </p:txBody>
      </p:sp>
      <p:grpSp>
        <p:nvGrpSpPr>
          <p:cNvPr id="33" name="组合 2">
            <a:extLst>
              <a:ext uri="{FF2B5EF4-FFF2-40B4-BE49-F238E27FC236}">
                <a16:creationId xmlns:a16="http://schemas.microsoft.com/office/drawing/2014/main" id="{ACC93590-C2C9-E3B8-D265-C5F9ECCBE792}"/>
              </a:ext>
            </a:extLst>
          </p:cNvPr>
          <p:cNvGrpSpPr/>
          <p:nvPr/>
        </p:nvGrpSpPr>
        <p:grpSpPr>
          <a:xfrm>
            <a:off x="153148" y="808658"/>
            <a:ext cx="7381902" cy="977210"/>
            <a:chOff x="180042" y="928625"/>
            <a:chExt cx="7381902" cy="977210"/>
          </a:xfrm>
        </p:grpSpPr>
        <p:grpSp>
          <p:nvGrpSpPr>
            <p:cNvPr id="34" name="组合 3">
              <a:extLst>
                <a:ext uri="{FF2B5EF4-FFF2-40B4-BE49-F238E27FC236}">
                  <a16:creationId xmlns:a16="http://schemas.microsoft.com/office/drawing/2014/main" id="{CEDBC6A9-95B0-F33C-7B7A-73DACA411EC8}"/>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855E609D-FAA3-B44D-4CC5-DF080BF39C05}"/>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CEA96990-3919-F03D-DDBF-EBD2CDC98FC4}"/>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A2AE7062-D38A-0991-A7B8-0164D1BCE79D}"/>
                </a:ext>
              </a:extLst>
            </p:cNvPr>
            <p:cNvSpPr/>
            <p:nvPr/>
          </p:nvSpPr>
          <p:spPr>
            <a:xfrm>
              <a:off x="245030" y="951728"/>
              <a:ext cx="6793796" cy="954107"/>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Shannon</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通信模型</a:t>
              </a: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sp>
        <p:nvSpPr>
          <p:cNvPr id="4" name="Text 3">
            <a:extLst>
              <a:ext uri="{FF2B5EF4-FFF2-40B4-BE49-F238E27FC236}">
                <a16:creationId xmlns:a16="http://schemas.microsoft.com/office/drawing/2014/main" id="{75BDDB9A-C18B-E804-BC1A-66A8059B9358}"/>
              </a:ext>
            </a:extLst>
          </p:cNvPr>
          <p:cNvSpPr/>
          <p:nvPr/>
        </p:nvSpPr>
        <p:spPr>
          <a:xfrm>
            <a:off x="1358297" y="2009915"/>
            <a:ext cx="65" cy="144976"/>
          </a:xfrm>
          <a:prstGeom prst="rect">
            <a:avLst/>
          </a:prstGeom>
          <a:noFill/>
          <a:ln/>
        </p:spPr>
        <p:txBody>
          <a:bodyPr wrap="none" lIns="0" tIns="0" rIns="0" bIns="0" rtlCol="0" anchor="ctr">
            <a:spAutoFit/>
          </a:bodyPr>
          <a:lstStyle/>
          <a:p>
            <a:pPr marL="0" indent="0">
              <a:buNone/>
            </a:pPr>
            <a:endParaRPr lang="en-US" sz="942" dirty="0"/>
          </a:p>
        </p:txBody>
      </p:sp>
      <p:pic>
        <p:nvPicPr>
          <p:cNvPr id="5" name="Image 1" descr="preencoded.png">
            <a:extLst>
              <a:ext uri="{FF2B5EF4-FFF2-40B4-BE49-F238E27FC236}">
                <a16:creationId xmlns:a16="http://schemas.microsoft.com/office/drawing/2014/main" id="{F49206CB-1CFA-4F1E-96F6-96311A2AAC8C}"/>
              </a:ext>
            </a:extLst>
          </p:cNvPr>
          <p:cNvPicPr>
            <a:picLocks noChangeAspect="1"/>
          </p:cNvPicPr>
          <p:nvPr/>
        </p:nvPicPr>
        <p:blipFill>
          <a:blip r:embed="rId3"/>
          <a:srcRect l="17391" r="16764"/>
          <a:stretch>
            <a:fillRect/>
          </a:stretch>
        </p:blipFill>
        <p:spPr>
          <a:xfrm>
            <a:off x="1041130" y="1683140"/>
            <a:ext cx="3663283" cy="2217348"/>
          </a:xfrm>
          <a:prstGeom prst="rect">
            <a:avLst/>
          </a:prstGeom>
        </p:spPr>
      </p:pic>
      <p:sp>
        <p:nvSpPr>
          <p:cNvPr id="7" name="Shape 5">
            <a:extLst>
              <a:ext uri="{FF2B5EF4-FFF2-40B4-BE49-F238E27FC236}">
                <a16:creationId xmlns:a16="http://schemas.microsoft.com/office/drawing/2014/main" id="{96762E90-3D4F-B994-09A2-0FD5F89E35FF}"/>
              </a:ext>
            </a:extLst>
          </p:cNvPr>
          <p:cNvSpPr/>
          <p:nvPr/>
        </p:nvSpPr>
        <p:spPr>
          <a:xfrm>
            <a:off x="333828" y="4201000"/>
            <a:ext cx="4952547" cy="2217348"/>
          </a:xfrm>
          <a:prstGeom prst="rect">
            <a:avLst/>
          </a:prstGeom>
          <a:solidFill>
            <a:srgbClr val="F8F9FA"/>
          </a:solidFill>
          <a:ln/>
        </p:spPr>
        <p:txBody>
          <a:bodyPr/>
          <a:lstStyle/>
          <a:p>
            <a:endParaRPr lang="zh-CN" altLang="en-US"/>
          </a:p>
        </p:txBody>
      </p:sp>
      <p:sp>
        <p:nvSpPr>
          <p:cNvPr id="8" name="Shape 6">
            <a:extLst>
              <a:ext uri="{FF2B5EF4-FFF2-40B4-BE49-F238E27FC236}">
                <a16:creationId xmlns:a16="http://schemas.microsoft.com/office/drawing/2014/main" id="{7A938984-E810-5D5F-02E5-55B2D809F12B}"/>
              </a:ext>
            </a:extLst>
          </p:cNvPr>
          <p:cNvSpPr/>
          <p:nvPr/>
        </p:nvSpPr>
        <p:spPr>
          <a:xfrm>
            <a:off x="333828" y="4201000"/>
            <a:ext cx="53975" cy="2217348"/>
          </a:xfrm>
          <a:prstGeom prst="rect">
            <a:avLst/>
          </a:prstGeom>
          <a:solidFill>
            <a:srgbClr val="3498DB"/>
          </a:solidFill>
          <a:ln/>
        </p:spPr>
      </p:sp>
      <p:sp>
        <p:nvSpPr>
          <p:cNvPr id="9" name="Text 7">
            <a:extLst>
              <a:ext uri="{FF2B5EF4-FFF2-40B4-BE49-F238E27FC236}">
                <a16:creationId xmlns:a16="http://schemas.microsoft.com/office/drawing/2014/main" id="{09B9811B-AAE1-45C4-F1C2-393E13E26A8D}"/>
              </a:ext>
            </a:extLst>
          </p:cNvPr>
          <p:cNvSpPr/>
          <p:nvPr/>
        </p:nvSpPr>
        <p:spPr>
          <a:xfrm>
            <a:off x="495752" y="4352461"/>
            <a:ext cx="3339714" cy="276998"/>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通信模型组成部分</a:t>
            </a:r>
            <a:endParaRPr lang="en-US" dirty="0"/>
          </a:p>
        </p:txBody>
      </p:sp>
      <p:sp>
        <p:nvSpPr>
          <p:cNvPr id="10" name="Text 8">
            <a:extLst>
              <a:ext uri="{FF2B5EF4-FFF2-40B4-BE49-F238E27FC236}">
                <a16:creationId xmlns:a16="http://schemas.microsoft.com/office/drawing/2014/main" id="{6508F02A-D7EF-CF1F-2E18-A6E836A23F3A}"/>
              </a:ext>
            </a:extLst>
          </p:cNvPr>
          <p:cNvSpPr/>
          <p:nvPr/>
        </p:nvSpPr>
        <p:spPr>
          <a:xfrm>
            <a:off x="765626" y="4731971"/>
            <a:ext cx="1252392" cy="2769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信息源</a:t>
            </a:r>
            <a:endParaRPr lang="en-US" dirty="0"/>
          </a:p>
        </p:txBody>
      </p:sp>
      <p:sp>
        <p:nvSpPr>
          <p:cNvPr id="11" name="Text 9">
            <a:extLst>
              <a:ext uri="{FF2B5EF4-FFF2-40B4-BE49-F238E27FC236}">
                <a16:creationId xmlns:a16="http://schemas.microsoft.com/office/drawing/2014/main" id="{979B7E44-CF70-E6CC-4F50-29313770BA0F}"/>
              </a:ext>
            </a:extLst>
          </p:cNvPr>
          <p:cNvSpPr/>
          <p:nvPr/>
        </p:nvSpPr>
        <p:spPr>
          <a:xfrm>
            <a:off x="1413324" y="4731971"/>
            <a:ext cx="3757179"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：产生待传输的消息</a:t>
            </a:r>
            <a:endParaRPr lang="en-US" dirty="0"/>
          </a:p>
        </p:txBody>
      </p:sp>
      <p:sp>
        <p:nvSpPr>
          <p:cNvPr id="13" name="Text 10">
            <a:extLst>
              <a:ext uri="{FF2B5EF4-FFF2-40B4-BE49-F238E27FC236}">
                <a16:creationId xmlns:a16="http://schemas.microsoft.com/office/drawing/2014/main" id="{83AF2C13-8F43-64BB-50E1-B077D3246799}"/>
              </a:ext>
            </a:extLst>
          </p:cNvPr>
          <p:cNvSpPr/>
          <p:nvPr/>
        </p:nvSpPr>
        <p:spPr>
          <a:xfrm>
            <a:off x="765626" y="5050357"/>
            <a:ext cx="1252392" cy="2769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发送器</a:t>
            </a:r>
            <a:endParaRPr lang="en-US" dirty="0"/>
          </a:p>
        </p:txBody>
      </p:sp>
      <p:sp>
        <p:nvSpPr>
          <p:cNvPr id="14" name="Text 11">
            <a:extLst>
              <a:ext uri="{FF2B5EF4-FFF2-40B4-BE49-F238E27FC236}">
                <a16:creationId xmlns:a16="http://schemas.microsoft.com/office/drawing/2014/main" id="{C7137BFE-D5AF-3E4A-CE03-61E1E4CBF5C8}"/>
              </a:ext>
            </a:extLst>
          </p:cNvPr>
          <p:cNvSpPr/>
          <p:nvPr/>
        </p:nvSpPr>
        <p:spPr>
          <a:xfrm>
            <a:off x="1413324" y="5050357"/>
            <a:ext cx="3757179"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：将消息转换为信号</a:t>
            </a:r>
            <a:endParaRPr lang="en-US" dirty="0"/>
          </a:p>
        </p:txBody>
      </p:sp>
      <p:sp>
        <p:nvSpPr>
          <p:cNvPr id="15" name="Text 12">
            <a:extLst>
              <a:ext uri="{FF2B5EF4-FFF2-40B4-BE49-F238E27FC236}">
                <a16:creationId xmlns:a16="http://schemas.microsoft.com/office/drawing/2014/main" id="{06141A74-5384-ED9A-F0FF-07123B8CE357}"/>
              </a:ext>
            </a:extLst>
          </p:cNvPr>
          <p:cNvSpPr/>
          <p:nvPr/>
        </p:nvSpPr>
        <p:spPr>
          <a:xfrm>
            <a:off x="765626" y="5368748"/>
            <a:ext cx="834929" cy="2769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信道</a:t>
            </a:r>
            <a:endParaRPr lang="en-US" dirty="0"/>
          </a:p>
        </p:txBody>
      </p:sp>
      <p:sp>
        <p:nvSpPr>
          <p:cNvPr id="16" name="Text 13">
            <a:extLst>
              <a:ext uri="{FF2B5EF4-FFF2-40B4-BE49-F238E27FC236}">
                <a16:creationId xmlns:a16="http://schemas.microsoft.com/office/drawing/2014/main" id="{666A63EC-CBB9-5115-4FCA-1DE8B4D83416}"/>
              </a:ext>
            </a:extLst>
          </p:cNvPr>
          <p:cNvSpPr/>
          <p:nvPr/>
        </p:nvSpPr>
        <p:spPr>
          <a:xfrm>
            <a:off x="1197424" y="5368748"/>
            <a:ext cx="3339714"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：传输信号的媒介</a:t>
            </a:r>
            <a:endParaRPr lang="en-US" dirty="0"/>
          </a:p>
        </p:txBody>
      </p:sp>
      <p:sp>
        <p:nvSpPr>
          <p:cNvPr id="17" name="Text 14">
            <a:extLst>
              <a:ext uri="{FF2B5EF4-FFF2-40B4-BE49-F238E27FC236}">
                <a16:creationId xmlns:a16="http://schemas.microsoft.com/office/drawing/2014/main" id="{4CD7283D-C782-BC47-CCB0-40D166E103C9}"/>
              </a:ext>
            </a:extLst>
          </p:cNvPr>
          <p:cNvSpPr/>
          <p:nvPr/>
        </p:nvSpPr>
        <p:spPr>
          <a:xfrm>
            <a:off x="765626" y="5687134"/>
            <a:ext cx="1252392" cy="2769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噪声源</a:t>
            </a:r>
            <a:endParaRPr lang="en-US" dirty="0"/>
          </a:p>
        </p:txBody>
      </p:sp>
      <p:sp>
        <p:nvSpPr>
          <p:cNvPr id="18" name="Text 15">
            <a:extLst>
              <a:ext uri="{FF2B5EF4-FFF2-40B4-BE49-F238E27FC236}">
                <a16:creationId xmlns:a16="http://schemas.microsoft.com/office/drawing/2014/main" id="{C9483232-D5C6-7CE7-E5C9-7A58ECB36E45}"/>
              </a:ext>
            </a:extLst>
          </p:cNvPr>
          <p:cNvSpPr/>
          <p:nvPr/>
        </p:nvSpPr>
        <p:spPr>
          <a:xfrm>
            <a:off x="1413324" y="5687134"/>
            <a:ext cx="4174643"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：干扰信号传输的因素</a:t>
            </a:r>
            <a:endParaRPr lang="en-US" dirty="0"/>
          </a:p>
        </p:txBody>
      </p:sp>
      <p:sp>
        <p:nvSpPr>
          <p:cNvPr id="19" name="Text 16">
            <a:extLst>
              <a:ext uri="{FF2B5EF4-FFF2-40B4-BE49-F238E27FC236}">
                <a16:creationId xmlns:a16="http://schemas.microsoft.com/office/drawing/2014/main" id="{5AA6ED94-FA88-302E-174D-8DCE70C05A7E}"/>
              </a:ext>
            </a:extLst>
          </p:cNvPr>
          <p:cNvSpPr/>
          <p:nvPr/>
        </p:nvSpPr>
        <p:spPr>
          <a:xfrm>
            <a:off x="765626" y="6005525"/>
            <a:ext cx="1252392" cy="2769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接收器</a:t>
            </a:r>
            <a:endParaRPr lang="en-US" dirty="0"/>
          </a:p>
        </p:txBody>
      </p:sp>
      <p:sp>
        <p:nvSpPr>
          <p:cNvPr id="20" name="Text 17">
            <a:extLst>
              <a:ext uri="{FF2B5EF4-FFF2-40B4-BE49-F238E27FC236}">
                <a16:creationId xmlns:a16="http://schemas.microsoft.com/office/drawing/2014/main" id="{7EA041D9-4DB3-5FEE-5A07-BF538226FAEB}"/>
              </a:ext>
            </a:extLst>
          </p:cNvPr>
          <p:cNvSpPr/>
          <p:nvPr/>
        </p:nvSpPr>
        <p:spPr>
          <a:xfrm>
            <a:off x="1413324" y="6005525"/>
            <a:ext cx="3757179"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：将信号转换回消息</a:t>
            </a:r>
            <a:endParaRPr lang="en-US" dirty="0"/>
          </a:p>
        </p:txBody>
      </p:sp>
      <p:grpSp>
        <p:nvGrpSpPr>
          <p:cNvPr id="65" name="组合 64">
            <a:extLst>
              <a:ext uri="{FF2B5EF4-FFF2-40B4-BE49-F238E27FC236}">
                <a16:creationId xmlns:a16="http://schemas.microsoft.com/office/drawing/2014/main" id="{562073E6-D3AF-EF3E-2CA8-ABD5BDC17052}"/>
              </a:ext>
            </a:extLst>
          </p:cNvPr>
          <p:cNvGrpSpPr/>
          <p:nvPr/>
        </p:nvGrpSpPr>
        <p:grpSpPr>
          <a:xfrm>
            <a:off x="5501671" y="1928728"/>
            <a:ext cx="6248549" cy="3919622"/>
            <a:chOff x="5501672" y="1917301"/>
            <a:chExt cx="4114800" cy="2347518"/>
          </a:xfrm>
        </p:grpSpPr>
        <p:sp>
          <p:nvSpPr>
            <p:cNvPr id="21" name="Text 18">
              <a:extLst>
                <a:ext uri="{FF2B5EF4-FFF2-40B4-BE49-F238E27FC236}">
                  <a16:creationId xmlns:a16="http://schemas.microsoft.com/office/drawing/2014/main" id="{0849BBEE-4DC7-8DD2-9FF9-1B95B070AB03}"/>
                </a:ext>
              </a:extLst>
            </p:cNvPr>
            <p:cNvSpPr/>
            <p:nvPr/>
          </p:nvSpPr>
          <p:spPr>
            <a:xfrm>
              <a:off x="5501672" y="1917301"/>
              <a:ext cx="1064056" cy="165899"/>
            </a:xfrm>
            <a:prstGeom prst="rect">
              <a:avLst/>
            </a:prstGeom>
            <a:noFill/>
            <a:ln/>
          </p:spPr>
          <p:txBody>
            <a:bodyPr wrap="none" lIns="0" tIns="0" rIns="0" bIns="0" rtlCol="0" anchor="ctr">
              <a:spAutoFit/>
            </a:bodyPr>
            <a:lstStyle/>
            <a:p>
              <a:pPr marL="0" indent="0">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信息论核心概念</a:t>
              </a:r>
              <a:endParaRPr lang="en-US" dirty="0">
                <a:latin typeface="微软雅黑" panose="020B0503020204020204" pitchFamily="34" charset="-122"/>
                <a:ea typeface="微软雅黑" panose="020B0503020204020204" pitchFamily="34" charset="-122"/>
              </a:endParaRPr>
            </a:p>
          </p:txBody>
        </p:sp>
        <p:sp>
          <p:nvSpPr>
            <p:cNvPr id="22" name="Shape 19">
              <a:extLst>
                <a:ext uri="{FF2B5EF4-FFF2-40B4-BE49-F238E27FC236}">
                  <a16:creationId xmlns:a16="http://schemas.microsoft.com/office/drawing/2014/main" id="{5E9A42DC-4FFD-48CB-A697-A8B1031AFF92}"/>
                </a:ext>
              </a:extLst>
            </p:cNvPr>
            <p:cNvSpPr/>
            <p:nvPr/>
          </p:nvSpPr>
          <p:spPr>
            <a:xfrm>
              <a:off x="5501672" y="2185988"/>
              <a:ext cx="4114800" cy="692944"/>
            </a:xfrm>
            <a:prstGeom prst="rect">
              <a:avLst/>
            </a:prstGeom>
            <a:solidFill>
              <a:srgbClr val="F8F9FA"/>
            </a:solidFill>
            <a:ln/>
          </p:spPr>
        </p:sp>
        <p:sp>
          <p:nvSpPr>
            <p:cNvPr id="23" name="Shape 20">
              <a:extLst>
                <a:ext uri="{FF2B5EF4-FFF2-40B4-BE49-F238E27FC236}">
                  <a16:creationId xmlns:a16="http://schemas.microsoft.com/office/drawing/2014/main" id="{4ABEBCD2-9FEE-CB12-ACE3-552E7026E00C}"/>
                </a:ext>
              </a:extLst>
            </p:cNvPr>
            <p:cNvSpPr/>
            <p:nvPr/>
          </p:nvSpPr>
          <p:spPr>
            <a:xfrm>
              <a:off x="5501672" y="2185988"/>
              <a:ext cx="28575" cy="692944"/>
            </a:xfrm>
            <a:prstGeom prst="rect">
              <a:avLst/>
            </a:prstGeom>
            <a:solidFill>
              <a:srgbClr val="3498DB"/>
            </a:solidFill>
            <a:ln/>
          </p:spPr>
        </p:sp>
        <p:sp>
          <p:nvSpPr>
            <p:cNvPr id="24" name="Text 21">
              <a:extLst>
                <a:ext uri="{FF2B5EF4-FFF2-40B4-BE49-F238E27FC236}">
                  <a16:creationId xmlns:a16="http://schemas.microsoft.com/office/drawing/2014/main" id="{EC2885A7-C506-8D52-91AD-4D75E563250F}"/>
                </a:ext>
              </a:extLst>
            </p:cNvPr>
            <p:cNvSpPr/>
            <p:nvPr/>
          </p:nvSpPr>
          <p:spPr>
            <a:xfrm>
              <a:off x="5573110" y="2260200"/>
              <a:ext cx="2139723" cy="1658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信息熵(Information Entropy)</a:t>
              </a:r>
              <a:endParaRPr lang="en-US" dirty="0">
                <a:latin typeface="微软雅黑" panose="020B0503020204020204" pitchFamily="34" charset="-122"/>
                <a:ea typeface="微软雅黑" panose="020B0503020204020204" pitchFamily="34" charset="-122"/>
              </a:endParaRPr>
            </a:p>
          </p:txBody>
        </p:sp>
        <p:sp>
          <p:nvSpPr>
            <p:cNvPr id="25" name="Text 22">
              <a:extLst>
                <a:ext uri="{FF2B5EF4-FFF2-40B4-BE49-F238E27FC236}">
                  <a16:creationId xmlns:a16="http://schemas.microsoft.com/office/drawing/2014/main" id="{E41D1173-8714-D960-39AC-62414AB446BD}"/>
                </a:ext>
              </a:extLst>
            </p:cNvPr>
            <p:cNvSpPr/>
            <p:nvPr/>
          </p:nvSpPr>
          <p:spPr>
            <a:xfrm>
              <a:off x="5573110" y="2464594"/>
              <a:ext cx="3971925" cy="171450"/>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信息的不确定性度量，表示传输一条消息所需的最小比特数</a:t>
              </a:r>
              <a:endParaRPr lang="en-US" dirty="0">
                <a:latin typeface="微软雅黑" panose="020B0503020204020204" pitchFamily="34" charset="-122"/>
                <a:ea typeface="微软雅黑" panose="020B0503020204020204" pitchFamily="34" charset="-122"/>
              </a:endParaRPr>
            </a:p>
          </p:txBody>
        </p:sp>
        <p:sp>
          <p:nvSpPr>
            <p:cNvPr id="26" name="Text 23">
              <a:extLst>
                <a:ext uri="{FF2B5EF4-FFF2-40B4-BE49-F238E27FC236}">
                  <a16:creationId xmlns:a16="http://schemas.microsoft.com/office/drawing/2014/main" id="{5749460C-1464-93C4-12BD-46F185E4288E}"/>
                </a:ext>
              </a:extLst>
            </p:cNvPr>
            <p:cNvSpPr/>
            <p:nvPr/>
          </p:nvSpPr>
          <p:spPr>
            <a:xfrm>
              <a:off x="5573110" y="2653107"/>
              <a:ext cx="1534858" cy="165899"/>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H(X) = -∑p(x)log₂p(x)</a:t>
              </a:r>
              <a:endParaRPr lang="en-US" dirty="0">
                <a:latin typeface="微软雅黑" panose="020B0503020204020204" pitchFamily="34" charset="-122"/>
                <a:ea typeface="微软雅黑" panose="020B0503020204020204" pitchFamily="34" charset="-122"/>
              </a:endParaRPr>
            </a:p>
          </p:txBody>
        </p:sp>
        <p:sp>
          <p:nvSpPr>
            <p:cNvPr id="27" name="Shape 24">
              <a:extLst>
                <a:ext uri="{FF2B5EF4-FFF2-40B4-BE49-F238E27FC236}">
                  <a16:creationId xmlns:a16="http://schemas.microsoft.com/office/drawing/2014/main" id="{4AAB466C-C30F-2340-75B2-7F39A525231F}"/>
                </a:ext>
              </a:extLst>
            </p:cNvPr>
            <p:cNvSpPr/>
            <p:nvPr/>
          </p:nvSpPr>
          <p:spPr>
            <a:xfrm>
              <a:off x="5501672" y="2964656"/>
              <a:ext cx="4114800" cy="692944"/>
            </a:xfrm>
            <a:prstGeom prst="rect">
              <a:avLst/>
            </a:prstGeom>
            <a:solidFill>
              <a:srgbClr val="F8F9FA"/>
            </a:solidFill>
            <a:ln/>
          </p:spPr>
        </p:sp>
        <p:sp>
          <p:nvSpPr>
            <p:cNvPr id="28" name="Shape 25">
              <a:extLst>
                <a:ext uri="{FF2B5EF4-FFF2-40B4-BE49-F238E27FC236}">
                  <a16:creationId xmlns:a16="http://schemas.microsoft.com/office/drawing/2014/main" id="{1A6CDA98-52E9-7467-3A4F-D7057682FF8F}"/>
                </a:ext>
              </a:extLst>
            </p:cNvPr>
            <p:cNvSpPr/>
            <p:nvPr/>
          </p:nvSpPr>
          <p:spPr>
            <a:xfrm>
              <a:off x="5501672" y="2964656"/>
              <a:ext cx="28575" cy="692944"/>
            </a:xfrm>
            <a:prstGeom prst="rect">
              <a:avLst/>
            </a:prstGeom>
            <a:solidFill>
              <a:srgbClr val="3498DB"/>
            </a:solidFill>
            <a:ln/>
          </p:spPr>
        </p:sp>
        <p:sp>
          <p:nvSpPr>
            <p:cNvPr id="29" name="Text 26">
              <a:extLst>
                <a:ext uri="{FF2B5EF4-FFF2-40B4-BE49-F238E27FC236}">
                  <a16:creationId xmlns:a16="http://schemas.microsoft.com/office/drawing/2014/main" id="{0B0CCFB9-3856-382F-6021-378CF15FF9A2}"/>
                </a:ext>
              </a:extLst>
            </p:cNvPr>
            <p:cNvSpPr/>
            <p:nvPr/>
          </p:nvSpPr>
          <p:spPr>
            <a:xfrm>
              <a:off x="5573110" y="3038869"/>
              <a:ext cx="2045774" cy="1658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信道容量(Channel Capacity)</a:t>
              </a:r>
              <a:endParaRPr lang="en-US" dirty="0">
                <a:latin typeface="微软雅黑" panose="020B0503020204020204" pitchFamily="34" charset="-122"/>
                <a:ea typeface="微软雅黑" panose="020B0503020204020204" pitchFamily="34" charset="-122"/>
              </a:endParaRPr>
            </a:p>
          </p:txBody>
        </p:sp>
        <p:sp>
          <p:nvSpPr>
            <p:cNvPr id="30" name="Text 27">
              <a:extLst>
                <a:ext uri="{FF2B5EF4-FFF2-40B4-BE49-F238E27FC236}">
                  <a16:creationId xmlns:a16="http://schemas.microsoft.com/office/drawing/2014/main" id="{CC1A1989-5687-4F28-E7CE-72B6728DB140}"/>
                </a:ext>
              </a:extLst>
            </p:cNvPr>
            <p:cNvSpPr/>
            <p:nvPr/>
          </p:nvSpPr>
          <p:spPr>
            <a:xfrm>
              <a:off x="5573110" y="3246038"/>
              <a:ext cx="2736144" cy="165899"/>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信道在单位时间内可靠传输的最大信息量</a:t>
              </a:r>
              <a:endParaRPr lang="en-US" dirty="0">
                <a:latin typeface="微软雅黑" panose="020B0503020204020204" pitchFamily="34" charset="-122"/>
                <a:ea typeface="微软雅黑" panose="020B0503020204020204" pitchFamily="34" charset="-122"/>
              </a:endParaRPr>
            </a:p>
          </p:txBody>
        </p:sp>
        <p:sp>
          <p:nvSpPr>
            <p:cNvPr id="31" name="Text 28">
              <a:extLst>
                <a:ext uri="{FF2B5EF4-FFF2-40B4-BE49-F238E27FC236}">
                  <a16:creationId xmlns:a16="http://schemas.microsoft.com/office/drawing/2014/main" id="{44AE3E42-2F9B-71D7-090F-2B257985EB67}"/>
                </a:ext>
              </a:extLst>
            </p:cNvPr>
            <p:cNvSpPr/>
            <p:nvPr/>
          </p:nvSpPr>
          <p:spPr>
            <a:xfrm>
              <a:off x="5573110" y="3431776"/>
              <a:ext cx="1313180" cy="165899"/>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C = B·log₂(1+S/N)</a:t>
              </a:r>
              <a:endParaRPr lang="en-US" dirty="0">
                <a:latin typeface="微软雅黑" panose="020B0503020204020204" pitchFamily="34" charset="-122"/>
                <a:ea typeface="微软雅黑" panose="020B0503020204020204" pitchFamily="34" charset="-122"/>
              </a:endParaRPr>
            </a:p>
          </p:txBody>
        </p:sp>
        <p:sp>
          <p:nvSpPr>
            <p:cNvPr id="32" name="Shape 29">
              <a:extLst>
                <a:ext uri="{FF2B5EF4-FFF2-40B4-BE49-F238E27FC236}">
                  <a16:creationId xmlns:a16="http://schemas.microsoft.com/office/drawing/2014/main" id="{10F1D304-5AE2-B453-9937-C55C8D4741ED}"/>
                </a:ext>
              </a:extLst>
            </p:cNvPr>
            <p:cNvSpPr/>
            <p:nvPr/>
          </p:nvSpPr>
          <p:spPr>
            <a:xfrm>
              <a:off x="5501672" y="3743325"/>
              <a:ext cx="4114800" cy="521494"/>
            </a:xfrm>
            <a:prstGeom prst="rect">
              <a:avLst/>
            </a:prstGeom>
            <a:solidFill>
              <a:srgbClr val="F8F9FA"/>
            </a:solidFill>
            <a:ln/>
          </p:spPr>
        </p:sp>
        <p:sp>
          <p:nvSpPr>
            <p:cNvPr id="38" name="Shape 30">
              <a:extLst>
                <a:ext uri="{FF2B5EF4-FFF2-40B4-BE49-F238E27FC236}">
                  <a16:creationId xmlns:a16="http://schemas.microsoft.com/office/drawing/2014/main" id="{A646F47D-B24C-B3CD-CB38-03D50AF3CC75}"/>
                </a:ext>
              </a:extLst>
            </p:cNvPr>
            <p:cNvSpPr/>
            <p:nvPr/>
          </p:nvSpPr>
          <p:spPr>
            <a:xfrm>
              <a:off x="5501672" y="3743325"/>
              <a:ext cx="28575" cy="521494"/>
            </a:xfrm>
            <a:prstGeom prst="rect">
              <a:avLst/>
            </a:prstGeom>
            <a:solidFill>
              <a:srgbClr val="3498DB"/>
            </a:solidFill>
            <a:ln/>
          </p:spPr>
        </p:sp>
        <p:sp>
          <p:nvSpPr>
            <p:cNvPr id="39" name="Text 31">
              <a:extLst>
                <a:ext uri="{FF2B5EF4-FFF2-40B4-BE49-F238E27FC236}">
                  <a16:creationId xmlns:a16="http://schemas.microsoft.com/office/drawing/2014/main" id="{F038E5D6-03AF-00B9-7F0E-6E3649DCE61C}"/>
                </a:ext>
              </a:extLst>
            </p:cNvPr>
            <p:cNvSpPr/>
            <p:nvPr/>
          </p:nvSpPr>
          <p:spPr>
            <a:xfrm>
              <a:off x="5573110" y="3817538"/>
              <a:ext cx="1513746" cy="1658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冗余度(Redundancy)</a:t>
              </a:r>
              <a:endParaRPr lang="en-US" dirty="0">
                <a:latin typeface="微软雅黑" panose="020B0503020204020204" pitchFamily="34" charset="-122"/>
                <a:ea typeface="微软雅黑" panose="020B0503020204020204" pitchFamily="34" charset="-122"/>
              </a:endParaRPr>
            </a:p>
          </p:txBody>
        </p:sp>
        <p:sp>
          <p:nvSpPr>
            <p:cNvPr id="53" name="Text 32">
              <a:extLst>
                <a:ext uri="{FF2B5EF4-FFF2-40B4-BE49-F238E27FC236}">
                  <a16:creationId xmlns:a16="http://schemas.microsoft.com/office/drawing/2014/main" id="{F7E9F852-E543-C402-891F-D620553D133B}"/>
                </a:ext>
              </a:extLst>
            </p:cNvPr>
            <p:cNvSpPr/>
            <p:nvPr/>
          </p:nvSpPr>
          <p:spPr>
            <a:xfrm>
              <a:off x="5573110" y="4024706"/>
              <a:ext cx="2888151" cy="165899"/>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信息中可被压缩或省略而不丢失内容的部分</a:t>
              </a:r>
              <a:endParaRPr 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86574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E3BC1-0ED2-26E9-CD81-E43C4FA950A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C34C8D43-89D4-6D02-8D0B-17F2E8049652}"/>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IE" altLang="zh-CN" sz="2800" b="1" dirty="0">
                <a:solidFill>
                  <a:srgbClr val="002060"/>
                </a:solidFill>
                <a:latin typeface="微软雅黑" panose="020B0503020204020204" pitchFamily="34" charset="-122"/>
                <a:ea typeface="微软雅黑" panose="020B0503020204020204" pitchFamily="34" charset="-122"/>
              </a:rPr>
              <a:t>Shannon</a:t>
            </a:r>
            <a:r>
              <a:rPr lang="zh-CN" altLang="en-US" sz="2800" b="1" dirty="0">
                <a:solidFill>
                  <a:srgbClr val="002060"/>
                </a:solidFill>
                <a:latin typeface="微软雅黑" panose="020B0503020204020204" pitchFamily="34" charset="-122"/>
                <a:ea typeface="微软雅黑" panose="020B0503020204020204" pitchFamily="34" charset="-122"/>
              </a:rPr>
              <a:t>理论</a:t>
            </a:r>
          </a:p>
        </p:txBody>
      </p:sp>
      <p:grpSp>
        <p:nvGrpSpPr>
          <p:cNvPr id="33" name="组合 2">
            <a:extLst>
              <a:ext uri="{FF2B5EF4-FFF2-40B4-BE49-F238E27FC236}">
                <a16:creationId xmlns:a16="http://schemas.microsoft.com/office/drawing/2014/main" id="{0D8A73CA-D260-5CE8-B538-8A36FB73CF4B}"/>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9FADCBF1-5FDE-A59C-4D84-536DC51A54D2}"/>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6A928CC8-60AC-8AFB-6B0F-FB79DC9ABDBF}"/>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FE4829AB-3B27-661B-492F-40D49B5AAD20}"/>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BDB29023-7016-679D-E88C-EC84808C17C9}"/>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混淆与扩散原理</a:t>
              </a:r>
            </a:p>
          </p:txBody>
        </p:sp>
      </p:grpSp>
      <p:sp>
        <p:nvSpPr>
          <p:cNvPr id="3" name="Shape 1">
            <a:extLst>
              <a:ext uri="{FF2B5EF4-FFF2-40B4-BE49-F238E27FC236}">
                <a16:creationId xmlns:a16="http://schemas.microsoft.com/office/drawing/2014/main" id="{84691E01-F557-579F-F86C-A3571957D8CA}"/>
              </a:ext>
            </a:extLst>
          </p:cNvPr>
          <p:cNvSpPr/>
          <p:nvPr/>
        </p:nvSpPr>
        <p:spPr>
          <a:xfrm>
            <a:off x="2486024" y="1523162"/>
            <a:ext cx="7051193" cy="1296634"/>
          </a:xfrm>
          <a:prstGeom prst="rect">
            <a:avLst/>
          </a:prstGeom>
          <a:solidFill>
            <a:srgbClr val="F8F9FA"/>
          </a:solidFill>
          <a:ln/>
        </p:spPr>
      </p:sp>
      <p:sp>
        <p:nvSpPr>
          <p:cNvPr id="6" name="Shape 2">
            <a:extLst>
              <a:ext uri="{FF2B5EF4-FFF2-40B4-BE49-F238E27FC236}">
                <a16:creationId xmlns:a16="http://schemas.microsoft.com/office/drawing/2014/main" id="{B75CA7C6-7830-6E2B-7BA6-E35DBA720AB2}"/>
              </a:ext>
            </a:extLst>
          </p:cNvPr>
          <p:cNvSpPr/>
          <p:nvPr/>
        </p:nvSpPr>
        <p:spPr>
          <a:xfrm>
            <a:off x="2486024" y="1523162"/>
            <a:ext cx="48967" cy="1296634"/>
          </a:xfrm>
          <a:prstGeom prst="rect">
            <a:avLst/>
          </a:prstGeom>
          <a:solidFill>
            <a:srgbClr val="3498DB"/>
          </a:solidFill>
          <a:ln/>
        </p:spPr>
      </p:sp>
      <p:sp>
        <p:nvSpPr>
          <p:cNvPr id="40" name="Text 3">
            <a:extLst>
              <a:ext uri="{FF2B5EF4-FFF2-40B4-BE49-F238E27FC236}">
                <a16:creationId xmlns:a16="http://schemas.microsoft.com/office/drawing/2014/main" id="{EFE78116-DE36-6A65-E071-820280DC129A}"/>
              </a:ext>
            </a:extLst>
          </p:cNvPr>
          <p:cNvSpPr/>
          <p:nvPr/>
        </p:nvSpPr>
        <p:spPr>
          <a:xfrm>
            <a:off x="2632924" y="1682537"/>
            <a:ext cx="1834381" cy="277000"/>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混淆 (Confusion)</a:t>
            </a:r>
            <a:endParaRPr lang="en-US" dirty="0"/>
          </a:p>
        </p:txBody>
      </p:sp>
      <p:sp>
        <p:nvSpPr>
          <p:cNvPr id="41" name="Text 4">
            <a:extLst>
              <a:ext uri="{FF2B5EF4-FFF2-40B4-BE49-F238E27FC236}">
                <a16:creationId xmlns:a16="http://schemas.microsoft.com/office/drawing/2014/main" id="{8E2266CF-26FA-85D8-5A95-D4C6E7DAD99D}"/>
              </a:ext>
            </a:extLst>
          </p:cNvPr>
          <p:cNvSpPr/>
          <p:nvPr/>
        </p:nvSpPr>
        <p:spPr>
          <a:xfrm>
            <a:off x="2632924" y="2073865"/>
            <a:ext cx="7034951" cy="277000"/>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使密文和密钥之间的关系尽可能复杂，每一位密钥都会影响多位密文</a:t>
            </a:r>
            <a:endParaRPr lang="en-US" dirty="0"/>
          </a:p>
        </p:txBody>
      </p:sp>
      <p:sp>
        <p:nvSpPr>
          <p:cNvPr id="42" name="Text 5">
            <a:extLst>
              <a:ext uri="{FF2B5EF4-FFF2-40B4-BE49-F238E27FC236}">
                <a16:creationId xmlns:a16="http://schemas.microsoft.com/office/drawing/2014/main" id="{B2EDC8A7-F22D-3C97-E092-590D62CF6449}"/>
              </a:ext>
            </a:extLst>
          </p:cNvPr>
          <p:cNvSpPr/>
          <p:nvPr/>
        </p:nvSpPr>
        <p:spPr>
          <a:xfrm>
            <a:off x="2632924" y="2428058"/>
            <a:ext cx="1134670" cy="277000"/>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实现方式：</a:t>
            </a:r>
            <a:endParaRPr lang="en-US" dirty="0"/>
          </a:p>
        </p:txBody>
      </p:sp>
      <p:sp>
        <p:nvSpPr>
          <p:cNvPr id="43" name="Text 6">
            <a:extLst>
              <a:ext uri="{FF2B5EF4-FFF2-40B4-BE49-F238E27FC236}">
                <a16:creationId xmlns:a16="http://schemas.microsoft.com/office/drawing/2014/main" id="{1D9875A4-6717-1EFD-DF96-66E73EAE1678}"/>
              </a:ext>
            </a:extLst>
          </p:cNvPr>
          <p:cNvSpPr/>
          <p:nvPr/>
        </p:nvSpPr>
        <p:spPr>
          <a:xfrm>
            <a:off x="3707508" y="2428058"/>
            <a:ext cx="4138393" cy="277000"/>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替换（S-box）- 将输入替换为另一个值。</a:t>
            </a:r>
            <a:endParaRPr lang="en-US" dirty="0"/>
          </a:p>
        </p:txBody>
      </p:sp>
      <p:sp>
        <p:nvSpPr>
          <p:cNvPr id="44" name="Shape 7">
            <a:extLst>
              <a:ext uri="{FF2B5EF4-FFF2-40B4-BE49-F238E27FC236}">
                <a16:creationId xmlns:a16="http://schemas.microsoft.com/office/drawing/2014/main" id="{F56C36D7-FF58-31D8-9230-A3F8F1F77DC0}"/>
              </a:ext>
            </a:extLst>
          </p:cNvPr>
          <p:cNvSpPr/>
          <p:nvPr/>
        </p:nvSpPr>
        <p:spPr>
          <a:xfrm>
            <a:off x="2486024" y="2995016"/>
            <a:ext cx="7051193" cy="2336278"/>
          </a:xfrm>
          <a:prstGeom prst="rect">
            <a:avLst/>
          </a:prstGeom>
          <a:solidFill>
            <a:srgbClr val="F8F9FA"/>
          </a:solidFill>
          <a:ln w="99">
            <a:solidFill>
              <a:srgbClr val="E2E8F0"/>
            </a:solidFill>
            <a:prstDash val="solid"/>
          </a:ln>
        </p:spPr>
      </p:sp>
      <p:pic>
        <p:nvPicPr>
          <p:cNvPr id="45" name="Image 1" descr="preencoded.png">
            <a:extLst>
              <a:ext uri="{FF2B5EF4-FFF2-40B4-BE49-F238E27FC236}">
                <a16:creationId xmlns:a16="http://schemas.microsoft.com/office/drawing/2014/main" id="{AB13E571-CF87-1CD2-E87C-C124230A506A}"/>
              </a:ext>
            </a:extLst>
          </p:cNvPr>
          <p:cNvPicPr>
            <a:picLocks noChangeAspect="1"/>
          </p:cNvPicPr>
          <p:nvPr/>
        </p:nvPicPr>
        <p:blipFill>
          <a:blip r:embed="rId3"/>
          <a:stretch>
            <a:fillRect/>
          </a:stretch>
        </p:blipFill>
        <p:spPr>
          <a:xfrm>
            <a:off x="2486024" y="2995016"/>
            <a:ext cx="7051193" cy="2336278"/>
          </a:xfrm>
          <a:prstGeom prst="rect">
            <a:avLst/>
          </a:prstGeom>
        </p:spPr>
      </p:pic>
      <p:sp>
        <p:nvSpPr>
          <p:cNvPr id="46" name="Shape 8">
            <a:extLst>
              <a:ext uri="{FF2B5EF4-FFF2-40B4-BE49-F238E27FC236}">
                <a16:creationId xmlns:a16="http://schemas.microsoft.com/office/drawing/2014/main" id="{2F02B757-56CF-D33B-078E-96E77FCE5532}"/>
              </a:ext>
            </a:extLst>
          </p:cNvPr>
          <p:cNvSpPr/>
          <p:nvPr/>
        </p:nvSpPr>
        <p:spPr>
          <a:xfrm>
            <a:off x="2486024" y="5506515"/>
            <a:ext cx="7051193" cy="841060"/>
          </a:xfrm>
          <a:prstGeom prst="rect">
            <a:avLst/>
          </a:prstGeom>
          <a:solidFill>
            <a:srgbClr val="EFF6FF"/>
          </a:solidFill>
          <a:ln/>
        </p:spPr>
      </p:sp>
      <p:sp>
        <p:nvSpPr>
          <p:cNvPr id="47" name="Text 9">
            <a:extLst>
              <a:ext uri="{FF2B5EF4-FFF2-40B4-BE49-F238E27FC236}">
                <a16:creationId xmlns:a16="http://schemas.microsoft.com/office/drawing/2014/main" id="{FF356699-75A4-3719-5152-0E29F1C7348B}"/>
              </a:ext>
            </a:extLst>
          </p:cNvPr>
          <p:cNvSpPr/>
          <p:nvPr/>
        </p:nvSpPr>
        <p:spPr>
          <a:xfrm>
            <a:off x="2632924" y="5648369"/>
            <a:ext cx="1588537" cy="277000"/>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混淆的应用实例</a:t>
            </a:r>
            <a:endParaRPr lang="en-US" dirty="0"/>
          </a:p>
        </p:txBody>
      </p:sp>
      <p:sp>
        <p:nvSpPr>
          <p:cNvPr id="48" name="Text 10">
            <a:extLst>
              <a:ext uri="{FF2B5EF4-FFF2-40B4-BE49-F238E27FC236}">
                <a16:creationId xmlns:a16="http://schemas.microsoft.com/office/drawing/2014/main" id="{42247617-D8BA-582A-B548-22FB6B8E949B}"/>
              </a:ext>
            </a:extLst>
          </p:cNvPr>
          <p:cNvSpPr/>
          <p:nvPr/>
        </p:nvSpPr>
        <p:spPr>
          <a:xfrm>
            <a:off x="2632924" y="5952086"/>
            <a:ext cx="5099708" cy="277000"/>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AES算法中的SubBytes操作、DES算法中的S盒替换</a:t>
            </a:r>
            <a:endParaRPr lang="en-US" dirty="0"/>
          </a:p>
        </p:txBody>
      </p:sp>
    </p:spTree>
    <p:extLst>
      <p:ext uri="{BB962C8B-B14F-4D97-AF65-F5344CB8AC3E}">
        <p14:creationId xmlns:p14="http://schemas.microsoft.com/office/powerpoint/2010/main" val="316156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644ED-259B-3BE2-E16F-A95353E7FA70}"/>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5879441B-2C32-6364-0F3D-2BF82B517BB7}"/>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IE" altLang="zh-CN" sz="2800" b="1" dirty="0">
                <a:solidFill>
                  <a:srgbClr val="002060"/>
                </a:solidFill>
                <a:latin typeface="微软雅黑" panose="020B0503020204020204" pitchFamily="34" charset="-122"/>
                <a:ea typeface="微软雅黑" panose="020B0503020204020204" pitchFamily="34" charset="-122"/>
              </a:rPr>
              <a:t>Shannon</a:t>
            </a:r>
            <a:r>
              <a:rPr lang="zh-CN" altLang="en-US" sz="2800" b="1" dirty="0">
                <a:solidFill>
                  <a:srgbClr val="002060"/>
                </a:solidFill>
                <a:latin typeface="微软雅黑" panose="020B0503020204020204" pitchFamily="34" charset="-122"/>
                <a:ea typeface="微软雅黑" panose="020B0503020204020204" pitchFamily="34" charset="-122"/>
              </a:rPr>
              <a:t>理论</a:t>
            </a:r>
          </a:p>
        </p:txBody>
      </p:sp>
      <p:grpSp>
        <p:nvGrpSpPr>
          <p:cNvPr id="33" name="组合 2">
            <a:extLst>
              <a:ext uri="{FF2B5EF4-FFF2-40B4-BE49-F238E27FC236}">
                <a16:creationId xmlns:a16="http://schemas.microsoft.com/office/drawing/2014/main" id="{28061EA6-DAD2-C95A-F556-390B016667E8}"/>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63B29D3B-2F9C-5054-A6A3-BF114CC376C3}"/>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F418BA14-F3E1-C71F-BC53-F99840A288C8}"/>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C12CA032-A739-4837-0A9E-B9B2A380CC42}"/>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5FA5F7CE-030C-3E7F-9BB1-5A6112C4B66C}"/>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混淆与扩散原理</a:t>
              </a:r>
            </a:p>
          </p:txBody>
        </p:sp>
      </p:grpSp>
      <p:sp>
        <p:nvSpPr>
          <p:cNvPr id="19" name="Shape 11">
            <a:extLst>
              <a:ext uri="{FF2B5EF4-FFF2-40B4-BE49-F238E27FC236}">
                <a16:creationId xmlns:a16="http://schemas.microsoft.com/office/drawing/2014/main" id="{9231049E-A014-49EE-A90D-961890CC9CD6}"/>
              </a:ext>
            </a:extLst>
          </p:cNvPr>
          <p:cNvSpPr/>
          <p:nvPr/>
        </p:nvSpPr>
        <p:spPr>
          <a:xfrm>
            <a:off x="2486024" y="1562543"/>
            <a:ext cx="7051192" cy="1478214"/>
          </a:xfrm>
          <a:prstGeom prst="rect">
            <a:avLst/>
          </a:prstGeom>
          <a:solidFill>
            <a:srgbClr val="F8F9FA"/>
          </a:solidFill>
          <a:ln/>
        </p:spPr>
      </p:sp>
      <p:sp>
        <p:nvSpPr>
          <p:cNvPr id="20" name="Shape 12">
            <a:extLst>
              <a:ext uri="{FF2B5EF4-FFF2-40B4-BE49-F238E27FC236}">
                <a16:creationId xmlns:a16="http://schemas.microsoft.com/office/drawing/2014/main" id="{A8C2FB41-F7F1-CB3B-06C3-13F55587D974}"/>
              </a:ext>
            </a:extLst>
          </p:cNvPr>
          <p:cNvSpPr/>
          <p:nvPr/>
        </p:nvSpPr>
        <p:spPr>
          <a:xfrm>
            <a:off x="2486024" y="1562543"/>
            <a:ext cx="48967" cy="1478214"/>
          </a:xfrm>
          <a:prstGeom prst="rect">
            <a:avLst/>
          </a:prstGeom>
          <a:solidFill>
            <a:srgbClr val="3498DB"/>
          </a:solidFill>
          <a:ln/>
        </p:spPr>
      </p:sp>
      <p:sp>
        <p:nvSpPr>
          <p:cNvPr id="21" name="Text 13">
            <a:extLst>
              <a:ext uri="{FF2B5EF4-FFF2-40B4-BE49-F238E27FC236}">
                <a16:creationId xmlns:a16="http://schemas.microsoft.com/office/drawing/2014/main" id="{FA5A855B-07A5-F513-C7E5-0EDC58972AF6}"/>
              </a:ext>
            </a:extLst>
          </p:cNvPr>
          <p:cNvSpPr/>
          <p:nvPr/>
        </p:nvSpPr>
        <p:spPr>
          <a:xfrm>
            <a:off x="2632924" y="1703261"/>
            <a:ext cx="1755289"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扩散 (Diffusion)</a:t>
            </a:r>
            <a:endParaRPr lang="en-US" dirty="0"/>
          </a:p>
        </p:txBody>
      </p:sp>
      <p:sp>
        <p:nvSpPr>
          <p:cNvPr id="22" name="Text 14">
            <a:extLst>
              <a:ext uri="{FF2B5EF4-FFF2-40B4-BE49-F238E27FC236}">
                <a16:creationId xmlns:a16="http://schemas.microsoft.com/office/drawing/2014/main" id="{31123590-826D-4265-9526-5996B027DD21}"/>
              </a:ext>
            </a:extLst>
          </p:cNvPr>
          <p:cNvSpPr/>
          <p:nvPr/>
        </p:nvSpPr>
        <p:spPr>
          <a:xfrm>
            <a:off x="2632924" y="2062974"/>
            <a:ext cx="6757392" cy="553999"/>
          </a:xfrm>
          <a:prstGeom prst="rect">
            <a:avLst/>
          </a:prstGeom>
          <a:noFill/>
          <a:ln/>
        </p:spPr>
        <p:txBody>
          <a:bodyPr wrap="squar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使明文的统计特性在密文中扩散开来，明文的微小变化会导致密文的大量变化</a:t>
            </a:r>
            <a:endParaRPr lang="en-US" dirty="0"/>
          </a:p>
        </p:txBody>
      </p:sp>
      <p:sp>
        <p:nvSpPr>
          <p:cNvPr id="23" name="Text 15">
            <a:extLst>
              <a:ext uri="{FF2B5EF4-FFF2-40B4-BE49-F238E27FC236}">
                <a16:creationId xmlns:a16="http://schemas.microsoft.com/office/drawing/2014/main" id="{7333D122-1CBA-7A29-56A9-137CC2F557CE}"/>
              </a:ext>
            </a:extLst>
          </p:cNvPr>
          <p:cNvSpPr/>
          <p:nvPr/>
        </p:nvSpPr>
        <p:spPr>
          <a:xfrm>
            <a:off x="2632924" y="2666670"/>
            <a:ext cx="1154162" cy="276999"/>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实现方式：</a:t>
            </a:r>
            <a:endParaRPr lang="en-US" dirty="0"/>
          </a:p>
        </p:txBody>
      </p:sp>
      <p:sp>
        <p:nvSpPr>
          <p:cNvPr id="24" name="Text 16">
            <a:extLst>
              <a:ext uri="{FF2B5EF4-FFF2-40B4-BE49-F238E27FC236}">
                <a16:creationId xmlns:a16="http://schemas.microsoft.com/office/drawing/2014/main" id="{ECA69C7B-3E0B-F982-0AA4-47D9BEC197CC}"/>
              </a:ext>
            </a:extLst>
          </p:cNvPr>
          <p:cNvSpPr/>
          <p:nvPr/>
        </p:nvSpPr>
        <p:spPr>
          <a:xfrm>
            <a:off x="3707507" y="2666670"/>
            <a:ext cx="4222310" cy="276999"/>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置换（P-box）- 重新排列输入位的顺序。</a:t>
            </a:r>
            <a:endParaRPr lang="en-US" dirty="0"/>
          </a:p>
        </p:txBody>
      </p:sp>
      <p:sp>
        <p:nvSpPr>
          <p:cNvPr id="25" name="Shape 17">
            <a:extLst>
              <a:ext uri="{FF2B5EF4-FFF2-40B4-BE49-F238E27FC236}">
                <a16:creationId xmlns:a16="http://schemas.microsoft.com/office/drawing/2014/main" id="{D5CAAF5D-37B4-6950-9E19-D75C127CEB12}"/>
              </a:ext>
            </a:extLst>
          </p:cNvPr>
          <p:cNvSpPr/>
          <p:nvPr/>
        </p:nvSpPr>
        <p:spPr>
          <a:xfrm>
            <a:off x="2486024" y="3205002"/>
            <a:ext cx="7051192" cy="2189947"/>
          </a:xfrm>
          <a:prstGeom prst="rect">
            <a:avLst/>
          </a:prstGeom>
          <a:solidFill>
            <a:srgbClr val="F8F9FA"/>
          </a:solidFill>
          <a:ln w="99">
            <a:solidFill>
              <a:srgbClr val="E2E8F0"/>
            </a:solidFill>
            <a:prstDash val="solid"/>
          </a:ln>
        </p:spPr>
      </p:sp>
      <p:pic>
        <p:nvPicPr>
          <p:cNvPr id="26" name="Image 2" descr="preencoded.png">
            <a:extLst>
              <a:ext uri="{FF2B5EF4-FFF2-40B4-BE49-F238E27FC236}">
                <a16:creationId xmlns:a16="http://schemas.microsoft.com/office/drawing/2014/main" id="{DC6F3A3D-A99D-54F6-BE27-ED4522317F69}"/>
              </a:ext>
            </a:extLst>
          </p:cNvPr>
          <p:cNvPicPr>
            <a:picLocks noChangeAspect="1"/>
          </p:cNvPicPr>
          <p:nvPr/>
        </p:nvPicPr>
        <p:blipFill>
          <a:blip r:embed="rId3"/>
          <a:stretch>
            <a:fillRect/>
          </a:stretch>
        </p:blipFill>
        <p:spPr>
          <a:xfrm>
            <a:off x="2486024" y="3205002"/>
            <a:ext cx="7051192" cy="2189947"/>
          </a:xfrm>
          <a:prstGeom prst="rect">
            <a:avLst/>
          </a:prstGeom>
        </p:spPr>
      </p:pic>
      <p:sp>
        <p:nvSpPr>
          <p:cNvPr id="27" name="Shape 18">
            <a:extLst>
              <a:ext uri="{FF2B5EF4-FFF2-40B4-BE49-F238E27FC236}">
                <a16:creationId xmlns:a16="http://schemas.microsoft.com/office/drawing/2014/main" id="{A6078CB3-13A3-D459-AFD9-A886A96AA470}"/>
              </a:ext>
            </a:extLst>
          </p:cNvPr>
          <p:cNvSpPr/>
          <p:nvPr/>
        </p:nvSpPr>
        <p:spPr>
          <a:xfrm>
            <a:off x="2486024" y="5559194"/>
            <a:ext cx="7051192" cy="788381"/>
          </a:xfrm>
          <a:prstGeom prst="rect">
            <a:avLst/>
          </a:prstGeom>
          <a:solidFill>
            <a:srgbClr val="EFF6FF"/>
          </a:solidFill>
          <a:ln/>
        </p:spPr>
      </p:sp>
      <p:sp>
        <p:nvSpPr>
          <p:cNvPr id="28" name="Text 19">
            <a:extLst>
              <a:ext uri="{FF2B5EF4-FFF2-40B4-BE49-F238E27FC236}">
                <a16:creationId xmlns:a16="http://schemas.microsoft.com/office/drawing/2014/main" id="{F922B9F3-1C4E-9C7C-778F-E48C93305956}"/>
              </a:ext>
            </a:extLst>
          </p:cNvPr>
          <p:cNvSpPr/>
          <p:nvPr/>
        </p:nvSpPr>
        <p:spPr>
          <a:xfrm>
            <a:off x="2632924" y="5683490"/>
            <a:ext cx="1615826" cy="276999"/>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扩散的应用实例</a:t>
            </a:r>
            <a:endParaRPr lang="en-US" dirty="0"/>
          </a:p>
        </p:txBody>
      </p:sp>
      <p:sp>
        <p:nvSpPr>
          <p:cNvPr id="29" name="Text 20">
            <a:extLst>
              <a:ext uri="{FF2B5EF4-FFF2-40B4-BE49-F238E27FC236}">
                <a16:creationId xmlns:a16="http://schemas.microsoft.com/office/drawing/2014/main" id="{B80C31CC-6F7C-B262-5E05-2A6ACBD119C7}"/>
              </a:ext>
            </a:extLst>
          </p:cNvPr>
          <p:cNvSpPr/>
          <p:nvPr/>
        </p:nvSpPr>
        <p:spPr>
          <a:xfrm>
            <a:off x="2632924" y="5968182"/>
            <a:ext cx="6843221" cy="276999"/>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AES算法中的ShiftRows和MixColumns操作、DES算法中的P盒置换</a:t>
            </a:r>
            <a:endParaRPr lang="en-US" dirty="0"/>
          </a:p>
        </p:txBody>
      </p:sp>
    </p:spTree>
    <p:extLst>
      <p:ext uri="{BB962C8B-B14F-4D97-AF65-F5344CB8AC3E}">
        <p14:creationId xmlns:p14="http://schemas.microsoft.com/office/powerpoint/2010/main" val="2544230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774C2-54CA-E170-610A-42948323C467}"/>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00E8F256-5F85-97BC-609D-F59CC8ADBB55}"/>
              </a:ext>
            </a:extLst>
          </p:cNvPr>
          <p:cNvSpPr/>
          <p:nvPr/>
        </p:nvSpPr>
        <p:spPr>
          <a:xfrm>
            <a:off x="-4445" y="130331"/>
            <a:ext cx="12196445" cy="835998"/>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4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目录</a:t>
            </a:r>
            <a:endParaRPr kumimoji="0" lang="en-US" altLang="zh-CN" sz="4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6DB3CB7C-C93D-4623-83B3-E7F14D00FA91}"/>
              </a:ext>
            </a:extLst>
          </p:cNvPr>
          <p:cNvSpPr txBox="1"/>
          <p:nvPr>
            <p:custDataLst>
              <p:tags r:id="rId1"/>
            </p:custDataLst>
          </p:nvPr>
        </p:nvSpPr>
        <p:spPr>
          <a:xfrm>
            <a:off x="0" y="1180323"/>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alt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7636A631-8DB1-1B0B-A60A-47D9C12D558C}"/>
              </a:ext>
            </a:extLst>
          </p:cNvPr>
          <p:cNvSpPr txBox="1"/>
          <p:nvPr/>
        </p:nvSpPr>
        <p:spPr>
          <a:xfrm>
            <a:off x="4544504" y="2066722"/>
            <a:ext cx="3098545" cy="2820131"/>
          </a:xfrm>
          <a:prstGeom prst="rect">
            <a:avLst/>
          </a:prstGeom>
          <a:noFill/>
        </p:spPr>
        <p:txBody>
          <a:bodyPr wrap="square" rtlCol="0">
            <a:spAutoFit/>
          </a:bodyPr>
          <a:lstStyle/>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密码学发展简介</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Shannon</a:t>
            </a:r>
            <a:r>
              <a:rPr lang="zh-CN" altLang="en-US" sz="2400" dirty="0">
                <a:solidFill>
                  <a:srgbClr val="002060"/>
                </a:solidFill>
                <a:latin typeface="微软雅黑" panose="020B0503020204020204" pitchFamily="34" charset="-122"/>
                <a:ea typeface="微软雅黑" panose="020B0503020204020204" pitchFamily="34" charset="-122"/>
              </a:rPr>
              <a:t>理论</a:t>
            </a:r>
          </a:p>
          <a:p>
            <a:pPr marL="457200" indent="-457200">
              <a:lnSpc>
                <a:spcPct val="125000"/>
              </a:lnSpc>
              <a:buFont typeface="+mj-ea"/>
              <a:buAutoNum type="circleNumDbPlain"/>
            </a:pPr>
            <a:r>
              <a:rPr lang="en-IE" altLang="zh-CN" sz="2400" b="1" dirty="0">
                <a:solidFill>
                  <a:srgbClr val="002060"/>
                </a:solidFill>
                <a:latin typeface="微软雅黑" panose="020B0503020204020204" pitchFamily="34" charset="-122"/>
                <a:ea typeface="微软雅黑" panose="020B0503020204020204" pitchFamily="34" charset="-122"/>
              </a:rPr>
              <a:t>Hash</a:t>
            </a:r>
            <a:r>
              <a:rPr lang="zh-CN" altLang="en-US" sz="2400" b="1" dirty="0">
                <a:solidFill>
                  <a:srgbClr val="002060"/>
                </a:solidFill>
                <a:latin typeface="微软雅黑" panose="020B0503020204020204" pitchFamily="34" charset="-122"/>
                <a:ea typeface="微软雅黑" panose="020B0503020204020204" pitchFamily="34" charset="-122"/>
              </a:rPr>
              <a:t>函数</a:t>
            </a: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非对称密码算法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密码协议</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87875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8C45A-259E-AA49-0E71-5001F0580BF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116C6BD0-D742-3B47-5152-66D07D51A1C4}"/>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US" altLang="zh-CN" sz="2800" b="1" dirty="0">
                <a:solidFill>
                  <a:srgbClr val="002060"/>
                </a:solidFill>
                <a:latin typeface="微软雅黑" panose="020B0503020204020204" pitchFamily="34" charset="-122"/>
                <a:ea typeface="微软雅黑" panose="020B0503020204020204" pitchFamily="34" charset="-122"/>
              </a:rPr>
              <a:t>Hash</a:t>
            </a:r>
            <a:r>
              <a:rPr lang="zh-CN" altLang="en-US" sz="2800" b="1" dirty="0">
                <a:solidFill>
                  <a:srgbClr val="002060"/>
                </a:solidFill>
                <a:latin typeface="微软雅黑" panose="020B0503020204020204" pitchFamily="34" charset="-122"/>
                <a:ea typeface="微软雅黑" panose="020B0503020204020204" pitchFamily="34" charset="-122"/>
              </a:rPr>
              <a:t>函数</a:t>
            </a:r>
          </a:p>
        </p:txBody>
      </p:sp>
      <p:grpSp>
        <p:nvGrpSpPr>
          <p:cNvPr id="33" name="组合 2">
            <a:extLst>
              <a:ext uri="{FF2B5EF4-FFF2-40B4-BE49-F238E27FC236}">
                <a16:creationId xmlns:a16="http://schemas.microsoft.com/office/drawing/2014/main" id="{6B705763-6C2A-EEC0-40AB-43E7A17D3835}"/>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CC5A0319-53B9-0DCB-AB67-B407B9DB6F4C}"/>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FA5581A7-5BCD-0FE0-4FE9-44766D86D75C}"/>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92F7587E-ED56-9A63-91F4-C1474C14469F}"/>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9C148D8B-A183-BC63-C715-A4C9A84F721B}"/>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IE" altLang="zh-CN"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Hash</a:t>
              </a:r>
              <a:r>
                <a:rPr lang="zh-CN" altLang="en-US"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函数基本概念</a:t>
              </a: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sp>
        <p:nvSpPr>
          <p:cNvPr id="3" name="Shape 1">
            <a:extLst>
              <a:ext uri="{FF2B5EF4-FFF2-40B4-BE49-F238E27FC236}">
                <a16:creationId xmlns:a16="http://schemas.microsoft.com/office/drawing/2014/main" id="{349CDCDC-9F87-5E28-1EC4-2B4FBB6DF79A}"/>
              </a:ext>
            </a:extLst>
          </p:cNvPr>
          <p:cNvSpPr/>
          <p:nvPr/>
        </p:nvSpPr>
        <p:spPr>
          <a:xfrm>
            <a:off x="578066" y="1766358"/>
            <a:ext cx="5416192" cy="1121214"/>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Shape 2">
            <a:extLst>
              <a:ext uri="{FF2B5EF4-FFF2-40B4-BE49-F238E27FC236}">
                <a16:creationId xmlns:a16="http://schemas.microsoft.com/office/drawing/2014/main" id="{DC6FC60A-251D-65AE-3FBA-75D413275A9A}"/>
              </a:ext>
            </a:extLst>
          </p:cNvPr>
          <p:cNvSpPr/>
          <p:nvPr/>
        </p:nvSpPr>
        <p:spPr>
          <a:xfrm>
            <a:off x="578066" y="1766358"/>
            <a:ext cx="37612" cy="1121214"/>
          </a:xfrm>
          <a:prstGeom prst="rect">
            <a:avLst/>
          </a:prstGeom>
          <a:solidFill>
            <a:srgbClr val="3498DB"/>
          </a:solidFill>
          <a:ln/>
        </p:spPr>
      </p:sp>
      <p:sp>
        <p:nvSpPr>
          <p:cNvPr id="5" name="Text 3">
            <a:extLst>
              <a:ext uri="{FF2B5EF4-FFF2-40B4-BE49-F238E27FC236}">
                <a16:creationId xmlns:a16="http://schemas.microsoft.com/office/drawing/2014/main" id="{60E5F26A-1D85-0B35-15BB-2CE9371E5D0D}"/>
              </a:ext>
            </a:extLst>
          </p:cNvPr>
          <p:cNvSpPr/>
          <p:nvPr/>
        </p:nvSpPr>
        <p:spPr>
          <a:xfrm>
            <a:off x="719112" y="1912913"/>
            <a:ext cx="1506823"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Hash函数定义</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90850701-7708-B9FD-E8A1-F55FAF810205}"/>
              </a:ext>
            </a:extLst>
          </p:cNvPr>
          <p:cNvSpPr/>
          <p:nvPr/>
        </p:nvSpPr>
        <p:spPr>
          <a:xfrm>
            <a:off x="860159" y="2243150"/>
            <a:ext cx="5134099" cy="553998"/>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Hash函数是将任意长度的消息压缩为固定长度输出的函数，其输出被称为哈希值、消息摘要或指纹。</a:t>
            </a:r>
            <a:endParaRPr lang="en-US" dirty="0">
              <a:latin typeface="微软雅黑" panose="020B0503020204020204" pitchFamily="34" charset="-122"/>
              <a:ea typeface="微软雅黑" panose="020B0503020204020204" pitchFamily="34" charset="-122"/>
            </a:endParaRPr>
          </a:p>
        </p:txBody>
      </p:sp>
      <p:sp>
        <p:nvSpPr>
          <p:cNvPr id="14" name="Shape 11">
            <a:extLst>
              <a:ext uri="{FF2B5EF4-FFF2-40B4-BE49-F238E27FC236}">
                <a16:creationId xmlns:a16="http://schemas.microsoft.com/office/drawing/2014/main" id="{47DA64B1-D696-AE65-96EF-FE28E790DB39}"/>
              </a:ext>
            </a:extLst>
          </p:cNvPr>
          <p:cNvSpPr/>
          <p:nvPr/>
        </p:nvSpPr>
        <p:spPr>
          <a:xfrm>
            <a:off x="578066" y="4986025"/>
            <a:ext cx="5416192" cy="1691323"/>
          </a:xfrm>
          <a:prstGeom prst="rect">
            <a:avLst/>
          </a:prstGeom>
          <a:solidFill>
            <a:srgbClr val="F8F9FA"/>
          </a:solidFill>
          <a:ln/>
        </p:spPr>
      </p:sp>
      <p:sp>
        <p:nvSpPr>
          <p:cNvPr id="15" name="Shape 12">
            <a:extLst>
              <a:ext uri="{FF2B5EF4-FFF2-40B4-BE49-F238E27FC236}">
                <a16:creationId xmlns:a16="http://schemas.microsoft.com/office/drawing/2014/main" id="{D2E72C85-572A-FD7F-55B5-4FF592332410}"/>
              </a:ext>
            </a:extLst>
          </p:cNvPr>
          <p:cNvSpPr/>
          <p:nvPr/>
        </p:nvSpPr>
        <p:spPr>
          <a:xfrm>
            <a:off x="578066" y="4986025"/>
            <a:ext cx="37612" cy="1691323"/>
          </a:xfrm>
          <a:prstGeom prst="rect">
            <a:avLst/>
          </a:prstGeom>
          <a:solidFill>
            <a:srgbClr val="3498DB"/>
          </a:solidFill>
          <a:ln/>
        </p:spPr>
      </p:sp>
      <p:sp>
        <p:nvSpPr>
          <p:cNvPr id="16" name="Text 13">
            <a:extLst>
              <a:ext uri="{FF2B5EF4-FFF2-40B4-BE49-F238E27FC236}">
                <a16:creationId xmlns:a16="http://schemas.microsoft.com/office/drawing/2014/main" id="{16182C18-37F2-DACC-954E-6411F2E7FA30}"/>
              </a:ext>
            </a:extLst>
          </p:cNvPr>
          <p:cNvSpPr/>
          <p:nvPr/>
        </p:nvSpPr>
        <p:spPr>
          <a:xfrm>
            <a:off x="719112" y="5132580"/>
            <a:ext cx="2199320"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Hash函数的基本要求</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D7E542B0-3B59-985E-EE81-829A37C653BC}"/>
              </a:ext>
            </a:extLst>
          </p:cNvPr>
          <p:cNvSpPr/>
          <p:nvPr/>
        </p:nvSpPr>
        <p:spPr>
          <a:xfrm>
            <a:off x="907175" y="5484146"/>
            <a:ext cx="2077492"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输入可以是任意长度</a:t>
            </a:r>
            <a:endParaRPr lang="en-US" dirty="0">
              <a:latin typeface="微软雅黑" panose="020B0503020204020204" pitchFamily="34" charset="-122"/>
              <a:ea typeface="微软雅黑" panose="020B0503020204020204" pitchFamily="34" charset="-122"/>
            </a:endParaRPr>
          </a:p>
        </p:txBody>
      </p:sp>
      <p:sp>
        <p:nvSpPr>
          <p:cNvPr id="18" name="Text 15">
            <a:extLst>
              <a:ext uri="{FF2B5EF4-FFF2-40B4-BE49-F238E27FC236}">
                <a16:creationId xmlns:a16="http://schemas.microsoft.com/office/drawing/2014/main" id="{4F5F00BD-A846-50C9-380F-39FB167E39D7}"/>
              </a:ext>
            </a:extLst>
          </p:cNvPr>
          <p:cNvSpPr/>
          <p:nvPr/>
        </p:nvSpPr>
        <p:spPr>
          <a:xfrm>
            <a:off x="907175" y="5750197"/>
            <a:ext cx="1384995"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输出长度固定</a:t>
            </a:r>
            <a:endParaRPr lang="en-US" dirty="0">
              <a:latin typeface="微软雅黑" panose="020B0503020204020204" pitchFamily="34" charset="-122"/>
              <a:ea typeface="微软雅黑" panose="020B0503020204020204" pitchFamily="34" charset="-122"/>
            </a:endParaRPr>
          </a:p>
        </p:txBody>
      </p:sp>
      <p:sp>
        <p:nvSpPr>
          <p:cNvPr id="19" name="Text 16">
            <a:extLst>
              <a:ext uri="{FF2B5EF4-FFF2-40B4-BE49-F238E27FC236}">
                <a16:creationId xmlns:a16="http://schemas.microsoft.com/office/drawing/2014/main" id="{D58394CF-64EF-CA24-6A10-D18E90A49FBD}"/>
              </a:ext>
            </a:extLst>
          </p:cNvPr>
          <p:cNvSpPr/>
          <p:nvPr/>
        </p:nvSpPr>
        <p:spPr>
          <a:xfrm>
            <a:off x="907175" y="6016247"/>
            <a:ext cx="415498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计算效率高（给定输入，容易计算输出）</a:t>
            </a:r>
            <a:endParaRPr lang="en-US" dirty="0">
              <a:latin typeface="微软雅黑" panose="020B0503020204020204" pitchFamily="34" charset="-122"/>
              <a:ea typeface="微软雅黑" panose="020B0503020204020204" pitchFamily="34" charset="-122"/>
            </a:endParaRPr>
          </a:p>
        </p:txBody>
      </p:sp>
      <p:sp>
        <p:nvSpPr>
          <p:cNvPr id="20" name="Text 17">
            <a:extLst>
              <a:ext uri="{FF2B5EF4-FFF2-40B4-BE49-F238E27FC236}">
                <a16:creationId xmlns:a16="http://schemas.microsoft.com/office/drawing/2014/main" id="{3DE972AD-BA4C-C0D6-E4D1-140F7C029158}"/>
              </a:ext>
            </a:extLst>
          </p:cNvPr>
          <p:cNvSpPr/>
          <p:nvPr/>
        </p:nvSpPr>
        <p:spPr>
          <a:xfrm>
            <a:off x="907175" y="6282298"/>
            <a:ext cx="4616648"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满足密码学安全特性（单向性、抗碰撞性等）</a:t>
            </a:r>
            <a:endParaRPr lang="en-US" dirty="0">
              <a:latin typeface="微软雅黑" panose="020B0503020204020204" pitchFamily="34" charset="-122"/>
              <a:ea typeface="微软雅黑" panose="020B0503020204020204" pitchFamily="34" charset="-122"/>
            </a:endParaRPr>
          </a:p>
        </p:txBody>
      </p:sp>
      <p:pic>
        <p:nvPicPr>
          <p:cNvPr id="21" name="Image 1" descr="preencoded.png">
            <a:extLst>
              <a:ext uri="{FF2B5EF4-FFF2-40B4-BE49-F238E27FC236}">
                <a16:creationId xmlns:a16="http://schemas.microsoft.com/office/drawing/2014/main" id="{7AA317B9-6BFD-6BE7-D772-3B5A68D273D1}"/>
              </a:ext>
            </a:extLst>
          </p:cNvPr>
          <p:cNvPicPr>
            <a:picLocks noChangeAspect="1"/>
          </p:cNvPicPr>
          <p:nvPr/>
        </p:nvPicPr>
        <p:blipFill>
          <a:blip r:embed="rId3"/>
          <a:srcRect l="17062" r="16970" b="5058"/>
          <a:stretch>
            <a:fillRect/>
          </a:stretch>
        </p:blipFill>
        <p:spPr>
          <a:xfrm>
            <a:off x="6816647" y="1772739"/>
            <a:ext cx="4072468" cy="2570625"/>
          </a:xfrm>
          <a:prstGeom prst="rect">
            <a:avLst/>
          </a:prstGeom>
        </p:spPr>
      </p:pic>
      <p:sp>
        <p:nvSpPr>
          <p:cNvPr id="23" name="Shape 19">
            <a:extLst>
              <a:ext uri="{FF2B5EF4-FFF2-40B4-BE49-F238E27FC236}">
                <a16:creationId xmlns:a16="http://schemas.microsoft.com/office/drawing/2014/main" id="{D0CBC1A2-6170-F07E-68F7-791D1294D75D}"/>
              </a:ext>
            </a:extLst>
          </p:cNvPr>
          <p:cNvSpPr/>
          <p:nvPr/>
        </p:nvSpPr>
        <p:spPr>
          <a:xfrm>
            <a:off x="578066" y="2958112"/>
            <a:ext cx="5416192" cy="1957373"/>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Shape 20">
            <a:extLst>
              <a:ext uri="{FF2B5EF4-FFF2-40B4-BE49-F238E27FC236}">
                <a16:creationId xmlns:a16="http://schemas.microsoft.com/office/drawing/2014/main" id="{AAC68F6D-6917-C0EB-2ACC-5B43E9426599}"/>
              </a:ext>
            </a:extLst>
          </p:cNvPr>
          <p:cNvSpPr/>
          <p:nvPr/>
        </p:nvSpPr>
        <p:spPr>
          <a:xfrm>
            <a:off x="578066" y="2958112"/>
            <a:ext cx="37612" cy="1957373"/>
          </a:xfrm>
          <a:prstGeom prst="rect">
            <a:avLst/>
          </a:prstGeom>
          <a:solidFill>
            <a:srgbClr val="3498DB"/>
          </a:solidFill>
          <a:ln/>
        </p:spPr>
      </p:sp>
      <p:sp>
        <p:nvSpPr>
          <p:cNvPr id="25" name="Text 21">
            <a:extLst>
              <a:ext uri="{FF2B5EF4-FFF2-40B4-BE49-F238E27FC236}">
                <a16:creationId xmlns:a16="http://schemas.microsoft.com/office/drawing/2014/main" id="{2AD22706-BCCB-1BDF-D49F-9CCBBF7B859A}"/>
              </a:ext>
            </a:extLst>
          </p:cNvPr>
          <p:cNvSpPr/>
          <p:nvPr/>
        </p:nvSpPr>
        <p:spPr>
          <a:xfrm>
            <a:off x="719112" y="3104666"/>
            <a:ext cx="2199320"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Hash函数的工作原理</a:t>
            </a:r>
            <a:endParaRPr lang="en-US" dirty="0">
              <a:latin typeface="微软雅黑" panose="020B0503020204020204" pitchFamily="34" charset="-122"/>
              <a:ea typeface="微软雅黑" panose="020B0503020204020204" pitchFamily="34" charset="-122"/>
            </a:endParaRPr>
          </a:p>
        </p:txBody>
      </p:sp>
      <p:sp>
        <p:nvSpPr>
          <p:cNvPr id="26" name="Text 22">
            <a:extLst>
              <a:ext uri="{FF2B5EF4-FFF2-40B4-BE49-F238E27FC236}">
                <a16:creationId xmlns:a16="http://schemas.microsoft.com/office/drawing/2014/main" id="{F9F419D3-AC72-0C77-8093-0E4B7112800F}"/>
              </a:ext>
            </a:extLst>
          </p:cNvPr>
          <p:cNvSpPr/>
          <p:nvPr/>
        </p:nvSpPr>
        <p:spPr>
          <a:xfrm>
            <a:off x="907175" y="3456233"/>
            <a:ext cx="3693319"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将输入消息分割成固定大小的数据块</a:t>
            </a:r>
            <a:endParaRPr lang="en-US" dirty="0">
              <a:latin typeface="微软雅黑" panose="020B0503020204020204" pitchFamily="34" charset="-122"/>
              <a:ea typeface="微软雅黑" panose="020B0503020204020204" pitchFamily="34" charset="-122"/>
            </a:endParaRPr>
          </a:p>
        </p:txBody>
      </p:sp>
      <p:sp>
        <p:nvSpPr>
          <p:cNvPr id="27" name="Text 23">
            <a:extLst>
              <a:ext uri="{FF2B5EF4-FFF2-40B4-BE49-F238E27FC236}">
                <a16:creationId xmlns:a16="http://schemas.microsoft.com/office/drawing/2014/main" id="{5EC61DFA-BC26-CD31-766B-5B8392644BB6}"/>
              </a:ext>
            </a:extLst>
          </p:cNvPr>
          <p:cNvSpPr/>
          <p:nvPr/>
        </p:nvSpPr>
        <p:spPr>
          <a:xfrm>
            <a:off x="907175" y="3722283"/>
            <a:ext cx="2769989"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对每个数据块进行压缩处理</a:t>
            </a:r>
            <a:endParaRPr lang="en-US" dirty="0">
              <a:latin typeface="微软雅黑" panose="020B0503020204020204" pitchFamily="34" charset="-122"/>
              <a:ea typeface="微软雅黑" panose="020B0503020204020204" pitchFamily="34" charset="-122"/>
            </a:endParaRPr>
          </a:p>
        </p:txBody>
      </p:sp>
      <p:sp>
        <p:nvSpPr>
          <p:cNvPr id="28" name="Text 24">
            <a:extLst>
              <a:ext uri="{FF2B5EF4-FFF2-40B4-BE49-F238E27FC236}">
                <a16:creationId xmlns:a16="http://schemas.microsoft.com/office/drawing/2014/main" id="{9C4384C4-3DD1-6B3E-A1DD-182B1B558E5C}"/>
              </a:ext>
            </a:extLst>
          </p:cNvPr>
          <p:cNvSpPr/>
          <p:nvPr/>
        </p:nvSpPr>
        <p:spPr>
          <a:xfrm>
            <a:off x="907175" y="3988334"/>
            <a:ext cx="323165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将处理结果与内部状态进行混合</a:t>
            </a:r>
            <a:endParaRPr lang="en-US" dirty="0">
              <a:latin typeface="微软雅黑" panose="020B0503020204020204" pitchFamily="34" charset="-122"/>
              <a:ea typeface="微软雅黑" panose="020B0503020204020204" pitchFamily="34" charset="-122"/>
            </a:endParaRPr>
          </a:p>
        </p:txBody>
      </p:sp>
      <p:sp>
        <p:nvSpPr>
          <p:cNvPr id="29" name="Text 25">
            <a:extLst>
              <a:ext uri="{FF2B5EF4-FFF2-40B4-BE49-F238E27FC236}">
                <a16:creationId xmlns:a16="http://schemas.microsoft.com/office/drawing/2014/main" id="{38254668-DF9B-3A4B-8D24-909C5FEB6042}"/>
              </a:ext>
            </a:extLst>
          </p:cNvPr>
          <p:cNvSpPr/>
          <p:nvPr/>
        </p:nvSpPr>
        <p:spPr>
          <a:xfrm>
            <a:off x="907175" y="4254385"/>
            <a:ext cx="3693319"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重复上述过程直到处理完所有数据块</a:t>
            </a:r>
            <a:endParaRPr lang="en-US" dirty="0">
              <a:latin typeface="微软雅黑" panose="020B0503020204020204" pitchFamily="34" charset="-122"/>
              <a:ea typeface="微软雅黑" panose="020B0503020204020204" pitchFamily="34" charset="-122"/>
            </a:endParaRPr>
          </a:p>
        </p:txBody>
      </p:sp>
      <p:sp>
        <p:nvSpPr>
          <p:cNvPr id="30" name="Text 26">
            <a:extLst>
              <a:ext uri="{FF2B5EF4-FFF2-40B4-BE49-F238E27FC236}">
                <a16:creationId xmlns:a16="http://schemas.microsoft.com/office/drawing/2014/main" id="{23C13D59-89F7-24AF-EE17-60E155E9197B}"/>
              </a:ext>
            </a:extLst>
          </p:cNvPr>
          <p:cNvSpPr/>
          <p:nvPr/>
        </p:nvSpPr>
        <p:spPr>
          <a:xfrm>
            <a:off x="907175" y="4520435"/>
            <a:ext cx="1846659"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输出最终的哈希值</a:t>
            </a:r>
            <a:endParaRPr lang="en-US" dirty="0">
              <a:latin typeface="微软雅黑" panose="020B0503020204020204" pitchFamily="34" charset="-122"/>
              <a:ea typeface="微软雅黑" panose="020B0503020204020204" pitchFamily="34" charset="-122"/>
            </a:endParaRPr>
          </a:p>
        </p:txBody>
      </p:sp>
      <p:sp>
        <p:nvSpPr>
          <p:cNvPr id="32" name="Shape 28">
            <a:extLst>
              <a:ext uri="{FF2B5EF4-FFF2-40B4-BE49-F238E27FC236}">
                <a16:creationId xmlns:a16="http://schemas.microsoft.com/office/drawing/2014/main" id="{76387C58-4F3F-A681-E9F8-5AAC790261B7}"/>
              </a:ext>
            </a:extLst>
          </p:cNvPr>
          <p:cNvSpPr/>
          <p:nvPr/>
        </p:nvSpPr>
        <p:spPr>
          <a:xfrm>
            <a:off x="6433532" y="4884071"/>
            <a:ext cx="2743200" cy="600075"/>
          </a:xfrm>
          <a:prstGeom prst="rect">
            <a:avLst/>
          </a:prstGeom>
          <a:solidFill>
            <a:srgbClr val="EFF6FF"/>
          </a:solidFill>
          <a:ln/>
        </p:spPr>
      </p:sp>
      <p:pic>
        <p:nvPicPr>
          <p:cNvPr id="38" name="Image 2" descr="preencoded.png">
            <a:extLst>
              <a:ext uri="{FF2B5EF4-FFF2-40B4-BE49-F238E27FC236}">
                <a16:creationId xmlns:a16="http://schemas.microsoft.com/office/drawing/2014/main" id="{DCF44BB0-2761-92D8-5D4C-AA4DCDF2DF1A}"/>
              </a:ext>
            </a:extLst>
          </p:cNvPr>
          <p:cNvPicPr>
            <a:picLocks noChangeAspect="1"/>
          </p:cNvPicPr>
          <p:nvPr/>
        </p:nvPicPr>
        <p:blipFill>
          <a:blip r:embed="rId4"/>
          <a:stretch>
            <a:fillRect/>
          </a:stretch>
        </p:blipFill>
        <p:spPr>
          <a:xfrm>
            <a:off x="6547832" y="5026946"/>
            <a:ext cx="114300" cy="114300"/>
          </a:xfrm>
          <a:prstGeom prst="rect">
            <a:avLst/>
          </a:prstGeom>
        </p:spPr>
      </p:pic>
      <p:sp>
        <p:nvSpPr>
          <p:cNvPr id="39" name="Text 29">
            <a:extLst>
              <a:ext uri="{FF2B5EF4-FFF2-40B4-BE49-F238E27FC236}">
                <a16:creationId xmlns:a16="http://schemas.microsoft.com/office/drawing/2014/main" id="{084760AF-B4AA-DE80-5CC5-FD267E3C4162}"/>
              </a:ext>
            </a:extLst>
          </p:cNvPr>
          <p:cNvSpPr/>
          <p:nvPr/>
        </p:nvSpPr>
        <p:spPr>
          <a:xfrm>
            <a:off x="6719282" y="4999457"/>
            <a:ext cx="423193" cy="169277"/>
          </a:xfrm>
          <a:prstGeom prst="rect">
            <a:avLst/>
          </a:prstGeom>
          <a:noFill/>
          <a:ln/>
        </p:spPr>
        <p:txBody>
          <a:bodyPr wrap="none" lIns="0" tIns="0" rIns="0" bIns="0" rtlCol="0" anchor="ctr">
            <a:spAutoFit/>
          </a:bodyPr>
          <a:lstStyle/>
          <a:p>
            <a:pPr marL="0" indent="0">
              <a:buNone/>
            </a:pPr>
            <a:r>
              <a:rPr lang="en-US" sz="1100" b="1" dirty="0">
                <a:solidFill>
                  <a:srgbClr val="34495E"/>
                </a:solidFill>
                <a:latin typeface="Noto Sans" pitchFamily="34" charset="0"/>
                <a:ea typeface="Noto Sans" pitchFamily="34" charset="-122"/>
                <a:cs typeface="Noto Sans" pitchFamily="34" charset="-120"/>
              </a:rPr>
              <a:t>确定性</a:t>
            </a:r>
            <a:endParaRPr lang="en-US" sz="1100" dirty="0"/>
          </a:p>
        </p:txBody>
      </p:sp>
      <p:sp>
        <p:nvSpPr>
          <p:cNvPr id="40" name="Text 30">
            <a:extLst>
              <a:ext uri="{FF2B5EF4-FFF2-40B4-BE49-F238E27FC236}">
                <a16:creationId xmlns:a16="http://schemas.microsoft.com/office/drawing/2014/main" id="{C0D062FD-FF34-F6DC-D508-D8C420CD008D}"/>
              </a:ext>
            </a:extLst>
          </p:cNvPr>
          <p:cNvSpPr/>
          <p:nvPr/>
        </p:nvSpPr>
        <p:spPr>
          <a:xfrm>
            <a:off x="6547832" y="5213770"/>
            <a:ext cx="1974900"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相同的输入总是产生相同的输出</a:t>
            </a:r>
            <a:endParaRPr lang="en-US" sz="1100" dirty="0"/>
          </a:p>
        </p:txBody>
      </p:sp>
      <p:sp>
        <p:nvSpPr>
          <p:cNvPr id="41" name="Shape 31">
            <a:extLst>
              <a:ext uri="{FF2B5EF4-FFF2-40B4-BE49-F238E27FC236}">
                <a16:creationId xmlns:a16="http://schemas.microsoft.com/office/drawing/2014/main" id="{06E9525F-EC4B-63AF-6EA9-6B2D7ED94EEF}"/>
              </a:ext>
            </a:extLst>
          </p:cNvPr>
          <p:cNvSpPr/>
          <p:nvPr/>
        </p:nvSpPr>
        <p:spPr>
          <a:xfrm>
            <a:off x="9348182" y="4884071"/>
            <a:ext cx="2743200" cy="600075"/>
          </a:xfrm>
          <a:prstGeom prst="rect">
            <a:avLst/>
          </a:prstGeom>
          <a:solidFill>
            <a:srgbClr val="EFF6FF"/>
          </a:solidFill>
          <a:ln/>
        </p:spPr>
      </p:sp>
      <p:pic>
        <p:nvPicPr>
          <p:cNvPr id="42" name="Image 3" descr="preencoded.png">
            <a:extLst>
              <a:ext uri="{FF2B5EF4-FFF2-40B4-BE49-F238E27FC236}">
                <a16:creationId xmlns:a16="http://schemas.microsoft.com/office/drawing/2014/main" id="{DD69F9BE-367D-7B28-4043-05284ECAC6BB}"/>
              </a:ext>
            </a:extLst>
          </p:cNvPr>
          <p:cNvPicPr>
            <a:picLocks noChangeAspect="1"/>
          </p:cNvPicPr>
          <p:nvPr/>
        </p:nvPicPr>
        <p:blipFill>
          <a:blip r:embed="rId5"/>
          <a:stretch>
            <a:fillRect/>
          </a:stretch>
        </p:blipFill>
        <p:spPr>
          <a:xfrm>
            <a:off x="9462482" y="5026946"/>
            <a:ext cx="114300" cy="114300"/>
          </a:xfrm>
          <a:prstGeom prst="rect">
            <a:avLst/>
          </a:prstGeom>
        </p:spPr>
      </p:pic>
      <p:sp>
        <p:nvSpPr>
          <p:cNvPr id="43" name="Text 32">
            <a:extLst>
              <a:ext uri="{FF2B5EF4-FFF2-40B4-BE49-F238E27FC236}">
                <a16:creationId xmlns:a16="http://schemas.microsoft.com/office/drawing/2014/main" id="{A902048F-AFB5-FB36-368C-00E602A26BE0}"/>
              </a:ext>
            </a:extLst>
          </p:cNvPr>
          <p:cNvSpPr/>
          <p:nvPr/>
        </p:nvSpPr>
        <p:spPr>
          <a:xfrm>
            <a:off x="9633932" y="4999457"/>
            <a:ext cx="564257" cy="169277"/>
          </a:xfrm>
          <a:prstGeom prst="rect">
            <a:avLst/>
          </a:prstGeom>
          <a:noFill/>
          <a:ln/>
        </p:spPr>
        <p:txBody>
          <a:bodyPr wrap="none" lIns="0" tIns="0" rIns="0" bIns="0" rtlCol="0" anchor="ctr">
            <a:spAutoFit/>
          </a:bodyPr>
          <a:lstStyle/>
          <a:p>
            <a:pPr marL="0" indent="0">
              <a:buNone/>
            </a:pPr>
            <a:r>
              <a:rPr lang="en-US" sz="1100" b="1" dirty="0">
                <a:solidFill>
                  <a:srgbClr val="34495E"/>
                </a:solidFill>
                <a:latin typeface="Noto Sans" pitchFamily="34" charset="0"/>
                <a:ea typeface="Noto Sans" pitchFamily="34" charset="-122"/>
                <a:cs typeface="Noto Sans" pitchFamily="34" charset="-120"/>
              </a:rPr>
              <a:t>伪随机性</a:t>
            </a:r>
            <a:endParaRPr lang="en-US" sz="1100" dirty="0"/>
          </a:p>
        </p:txBody>
      </p:sp>
      <p:sp>
        <p:nvSpPr>
          <p:cNvPr id="44" name="Text 33">
            <a:extLst>
              <a:ext uri="{FF2B5EF4-FFF2-40B4-BE49-F238E27FC236}">
                <a16:creationId xmlns:a16="http://schemas.microsoft.com/office/drawing/2014/main" id="{55D26A4C-0F3A-9ED3-2333-5ED5E600516E}"/>
              </a:ext>
            </a:extLst>
          </p:cNvPr>
          <p:cNvSpPr/>
          <p:nvPr/>
        </p:nvSpPr>
        <p:spPr>
          <a:xfrm>
            <a:off x="9462482" y="5213770"/>
            <a:ext cx="1974900"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输出在统计上呈现随机分布特性</a:t>
            </a:r>
            <a:endParaRPr lang="en-US" sz="1100" dirty="0"/>
          </a:p>
        </p:txBody>
      </p:sp>
      <p:sp>
        <p:nvSpPr>
          <p:cNvPr id="45" name="Shape 34">
            <a:extLst>
              <a:ext uri="{FF2B5EF4-FFF2-40B4-BE49-F238E27FC236}">
                <a16:creationId xmlns:a16="http://schemas.microsoft.com/office/drawing/2014/main" id="{C89B3699-15FF-F871-1135-2AE89605E9EE}"/>
              </a:ext>
            </a:extLst>
          </p:cNvPr>
          <p:cNvSpPr/>
          <p:nvPr/>
        </p:nvSpPr>
        <p:spPr>
          <a:xfrm>
            <a:off x="6433532" y="5649361"/>
            <a:ext cx="2743200" cy="600075"/>
          </a:xfrm>
          <a:prstGeom prst="rect">
            <a:avLst/>
          </a:prstGeom>
          <a:solidFill>
            <a:srgbClr val="EFF6FF"/>
          </a:solidFill>
          <a:ln/>
        </p:spPr>
      </p:sp>
      <p:pic>
        <p:nvPicPr>
          <p:cNvPr id="46" name="Image 4" descr="preencoded.png">
            <a:extLst>
              <a:ext uri="{FF2B5EF4-FFF2-40B4-BE49-F238E27FC236}">
                <a16:creationId xmlns:a16="http://schemas.microsoft.com/office/drawing/2014/main" id="{7B1757FF-6F3D-118E-0ED5-0F42D43AA7D6}"/>
              </a:ext>
            </a:extLst>
          </p:cNvPr>
          <p:cNvPicPr>
            <a:picLocks noChangeAspect="1"/>
          </p:cNvPicPr>
          <p:nvPr/>
        </p:nvPicPr>
        <p:blipFill>
          <a:blip r:embed="rId6"/>
          <a:stretch>
            <a:fillRect/>
          </a:stretch>
        </p:blipFill>
        <p:spPr>
          <a:xfrm>
            <a:off x="6547832" y="5792236"/>
            <a:ext cx="114300" cy="114300"/>
          </a:xfrm>
          <a:prstGeom prst="rect">
            <a:avLst/>
          </a:prstGeom>
        </p:spPr>
      </p:pic>
      <p:sp>
        <p:nvSpPr>
          <p:cNvPr id="47" name="Text 35">
            <a:extLst>
              <a:ext uri="{FF2B5EF4-FFF2-40B4-BE49-F238E27FC236}">
                <a16:creationId xmlns:a16="http://schemas.microsoft.com/office/drawing/2014/main" id="{10FA7826-0542-1375-A79D-4CB1FC540313}"/>
              </a:ext>
            </a:extLst>
          </p:cNvPr>
          <p:cNvSpPr/>
          <p:nvPr/>
        </p:nvSpPr>
        <p:spPr>
          <a:xfrm>
            <a:off x="6719282" y="5764747"/>
            <a:ext cx="423193" cy="169277"/>
          </a:xfrm>
          <a:prstGeom prst="rect">
            <a:avLst/>
          </a:prstGeom>
          <a:noFill/>
          <a:ln/>
        </p:spPr>
        <p:txBody>
          <a:bodyPr wrap="none" lIns="0" tIns="0" rIns="0" bIns="0" rtlCol="0" anchor="ctr">
            <a:spAutoFit/>
          </a:bodyPr>
          <a:lstStyle/>
          <a:p>
            <a:pPr marL="0" indent="0">
              <a:buNone/>
            </a:pPr>
            <a:r>
              <a:rPr lang="en-US" sz="1100" b="1" dirty="0">
                <a:solidFill>
                  <a:srgbClr val="34495E"/>
                </a:solidFill>
                <a:latin typeface="Noto Sans" pitchFamily="34" charset="0"/>
                <a:ea typeface="Noto Sans" pitchFamily="34" charset="-122"/>
                <a:cs typeface="Noto Sans" pitchFamily="34" charset="-120"/>
              </a:rPr>
              <a:t>压缩性</a:t>
            </a:r>
            <a:endParaRPr lang="en-US" sz="1100" dirty="0"/>
          </a:p>
        </p:txBody>
      </p:sp>
      <p:sp>
        <p:nvSpPr>
          <p:cNvPr id="48" name="Text 36">
            <a:extLst>
              <a:ext uri="{FF2B5EF4-FFF2-40B4-BE49-F238E27FC236}">
                <a16:creationId xmlns:a16="http://schemas.microsoft.com/office/drawing/2014/main" id="{28715E94-D464-5639-FDF9-40B1EABA6C11}"/>
              </a:ext>
            </a:extLst>
          </p:cNvPr>
          <p:cNvSpPr/>
          <p:nvPr/>
        </p:nvSpPr>
        <p:spPr>
          <a:xfrm>
            <a:off x="6547832" y="5979060"/>
            <a:ext cx="2539157"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将任意长度的输入映射为固定长度的输出</a:t>
            </a:r>
            <a:endParaRPr lang="en-US" sz="1100" dirty="0"/>
          </a:p>
        </p:txBody>
      </p:sp>
    </p:spTree>
    <p:extLst>
      <p:ext uri="{BB962C8B-B14F-4D97-AF65-F5344CB8AC3E}">
        <p14:creationId xmlns:p14="http://schemas.microsoft.com/office/powerpoint/2010/main" val="2826946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20D4D-D8FE-C729-EE51-099618C2F9F6}"/>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A222072C-2897-29F5-88BC-4D353A970A7F}"/>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US" altLang="zh-CN" sz="2800" b="1" dirty="0">
                <a:solidFill>
                  <a:srgbClr val="002060"/>
                </a:solidFill>
                <a:latin typeface="微软雅黑" panose="020B0503020204020204" pitchFamily="34" charset="-122"/>
                <a:ea typeface="微软雅黑" panose="020B0503020204020204" pitchFamily="34" charset="-122"/>
              </a:rPr>
              <a:t>Hash</a:t>
            </a:r>
            <a:r>
              <a:rPr lang="zh-CN" altLang="en-US" sz="2800" b="1" dirty="0">
                <a:solidFill>
                  <a:srgbClr val="002060"/>
                </a:solidFill>
                <a:latin typeface="微软雅黑" panose="020B0503020204020204" pitchFamily="34" charset="-122"/>
                <a:ea typeface="微软雅黑" panose="020B0503020204020204" pitchFamily="34" charset="-122"/>
              </a:rPr>
              <a:t>函数</a:t>
            </a:r>
          </a:p>
        </p:txBody>
      </p:sp>
      <p:grpSp>
        <p:nvGrpSpPr>
          <p:cNvPr id="33" name="组合 2">
            <a:extLst>
              <a:ext uri="{FF2B5EF4-FFF2-40B4-BE49-F238E27FC236}">
                <a16:creationId xmlns:a16="http://schemas.microsoft.com/office/drawing/2014/main" id="{25A03407-0A10-ADE9-D459-6D9FB08FC4F8}"/>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664210D6-367F-4608-C2BC-B3B355B2ED0D}"/>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0C67D4B7-35C3-BF0F-3EBB-3D52E0A0AA66}"/>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2772EB17-B412-625E-90B5-600AA2FA1FF6}"/>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D3D83CEF-506A-22A5-1D19-DFEDC276AA93}"/>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IE" altLang="zh-CN"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Hash</a:t>
              </a:r>
              <a:r>
                <a:rPr lang="zh-CN" altLang="en-US"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函数基本概念</a:t>
              </a: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sp>
        <p:nvSpPr>
          <p:cNvPr id="7" name="Text 0">
            <a:extLst>
              <a:ext uri="{FF2B5EF4-FFF2-40B4-BE49-F238E27FC236}">
                <a16:creationId xmlns:a16="http://schemas.microsoft.com/office/drawing/2014/main" id="{66B2EAA6-4F5B-0C18-55C3-964D5F8CF815}"/>
              </a:ext>
            </a:extLst>
          </p:cNvPr>
          <p:cNvSpPr/>
          <p:nvPr/>
        </p:nvSpPr>
        <p:spPr>
          <a:xfrm>
            <a:off x="377796" y="1393554"/>
            <a:ext cx="65" cy="276998"/>
          </a:xfrm>
          <a:prstGeom prst="rect">
            <a:avLst/>
          </a:prstGeom>
          <a:noFill/>
          <a:ln/>
        </p:spPr>
        <p:txBody>
          <a:bodyPr wrap="none" lIns="0" tIns="0" rIns="0" bIns="0" rtlCol="0" anchor="ctr">
            <a:spAutoFit/>
          </a:bodyPr>
          <a:lstStyle/>
          <a:p>
            <a:pPr marL="0" indent="0">
              <a:buNone/>
            </a:pPr>
            <a:endParaRPr lang="en-US" dirty="0">
              <a:latin typeface="微软雅黑" panose="020B0503020204020204" pitchFamily="34" charset="-122"/>
              <a:ea typeface="微软雅黑" panose="020B0503020204020204" pitchFamily="34" charset="-122"/>
            </a:endParaRPr>
          </a:p>
        </p:txBody>
      </p:sp>
      <p:grpSp>
        <p:nvGrpSpPr>
          <p:cNvPr id="73" name="组合 72">
            <a:extLst>
              <a:ext uri="{FF2B5EF4-FFF2-40B4-BE49-F238E27FC236}">
                <a16:creationId xmlns:a16="http://schemas.microsoft.com/office/drawing/2014/main" id="{AECC4DEC-F4CF-839A-841F-134B51397F82}"/>
              </a:ext>
            </a:extLst>
          </p:cNvPr>
          <p:cNvGrpSpPr/>
          <p:nvPr/>
        </p:nvGrpSpPr>
        <p:grpSpPr>
          <a:xfrm>
            <a:off x="377796" y="1931987"/>
            <a:ext cx="6242051" cy="2098145"/>
            <a:chOff x="4629150" y="814388"/>
            <a:chExt cx="4114800" cy="964406"/>
          </a:xfrm>
        </p:grpSpPr>
        <p:sp>
          <p:nvSpPr>
            <p:cNvPr id="74" name="Shape 19">
              <a:extLst>
                <a:ext uri="{FF2B5EF4-FFF2-40B4-BE49-F238E27FC236}">
                  <a16:creationId xmlns:a16="http://schemas.microsoft.com/office/drawing/2014/main" id="{AFA1599F-0C3C-BA94-7E29-182C2338865D}"/>
                </a:ext>
              </a:extLst>
            </p:cNvPr>
            <p:cNvSpPr/>
            <p:nvPr/>
          </p:nvSpPr>
          <p:spPr>
            <a:xfrm>
              <a:off x="4629150" y="814388"/>
              <a:ext cx="4114800" cy="964406"/>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75" name="Shape 20">
              <a:extLst>
                <a:ext uri="{FF2B5EF4-FFF2-40B4-BE49-F238E27FC236}">
                  <a16:creationId xmlns:a16="http://schemas.microsoft.com/office/drawing/2014/main" id="{A07EC87B-CF2A-1E4D-EF7B-6D98F0A8ED47}"/>
                </a:ext>
              </a:extLst>
            </p:cNvPr>
            <p:cNvSpPr/>
            <p:nvPr/>
          </p:nvSpPr>
          <p:spPr>
            <a:xfrm>
              <a:off x="4629150" y="814388"/>
              <a:ext cx="28575" cy="964406"/>
            </a:xfrm>
            <a:prstGeom prst="rect">
              <a:avLst/>
            </a:prstGeom>
            <a:solidFill>
              <a:srgbClr val="3498DB"/>
            </a:solidFill>
            <a:ln/>
          </p:spPr>
        </p:sp>
        <p:sp>
          <p:nvSpPr>
            <p:cNvPr id="76" name="Text 21">
              <a:extLst>
                <a:ext uri="{FF2B5EF4-FFF2-40B4-BE49-F238E27FC236}">
                  <a16:creationId xmlns:a16="http://schemas.microsoft.com/office/drawing/2014/main" id="{1488601F-7227-8131-0801-41DE67185B7C}"/>
                </a:ext>
              </a:extLst>
            </p:cNvPr>
            <p:cNvSpPr/>
            <p:nvPr/>
          </p:nvSpPr>
          <p:spPr>
            <a:xfrm>
              <a:off x="4714875" y="932893"/>
              <a:ext cx="2034167" cy="127322"/>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雪崩效应 (Avalanche Effect)</a:t>
              </a:r>
              <a:endParaRPr lang="en-US" dirty="0">
                <a:latin typeface="微软雅黑" panose="020B0503020204020204" pitchFamily="34" charset="-122"/>
                <a:ea typeface="微软雅黑" panose="020B0503020204020204" pitchFamily="34" charset="-122"/>
              </a:endParaRPr>
            </a:p>
          </p:txBody>
        </p:sp>
        <p:sp>
          <p:nvSpPr>
            <p:cNvPr id="77" name="Text 22">
              <a:extLst>
                <a:ext uri="{FF2B5EF4-FFF2-40B4-BE49-F238E27FC236}">
                  <a16:creationId xmlns:a16="http://schemas.microsoft.com/office/drawing/2014/main" id="{EB9FC153-AA85-349D-AA7B-8A2730B0AF35}"/>
                </a:ext>
              </a:extLst>
            </p:cNvPr>
            <p:cNvSpPr/>
            <p:nvPr/>
          </p:nvSpPr>
          <p:spPr>
            <a:xfrm>
              <a:off x="4714875" y="1097175"/>
              <a:ext cx="3943350" cy="636609"/>
            </a:xfrm>
            <a:prstGeom prst="rect">
              <a:avLst/>
            </a:prstGeom>
            <a:noFill/>
            <a:ln/>
          </p:spPr>
          <p:txBody>
            <a:bodyPr wrap="square" lIns="0" tIns="0" rIns="0" bIns="0" rtlCol="0" anchor="ctr">
              <a:spAutoFit/>
            </a:bodyPr>
            <a:lstStyle/>
            <a:p>
              <a:pPr marL="0" indent="0">
                <a:buNone/>
              </a:pP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即使输入数据的微小改变，也会导致输出散列值的巨大变化。这种特性称为雪崩效应，保证了数据的微小改动会在散列值中得到充分体现。</a:t>
              </a:r>
            </a:p>
            <a:p>
              <a:pPr marL="0" indent="0">
                <a:buNone/>
              </a:pPr>
              <a:endParaRPr lang="zh-CN" altLang="en-US" dirty="0">
                <a:solidFill>
                  <a:srgbClr val="34495E"/>
                </a:solidFill>
                <a:latin typeface="微软雅黑" panose="020B0503020204020204" pitchFamily="34" charset="-122"/>
                <a:ea typeface="微软雅黑" panose="020B0503020204020204" pitchFamily="34" charset="-122"/>
                <a:cs typeface="Noto Sans" pitchFamily="34" charset="-120"/>
              </a:endParaRPr>
            </a:p>
            <a:p>
              <a:pPr marL="0" indent="0">
                <a:buNone/>
              </a:pPr>
              <a:endParaRPr lang="en-US" dirty="0">
                <a:latin typeface="微软雅黑" panose="020B0503020204020204" pitchFamily="34" charset="-122"/>
                <a:ea typeface="微软雅黑" panose="020B0503020204020204" pitchFamily="34" charset="-122"/>
              </a:endParaRPr>
            </a:p>
          </p:txBody>
        </p:sp>
        <p:sp>
          <p:nvSpPr>
            <p:cNvPr id="78" name="Text 23">
              <a:extLst>
                <a:ext uri="{FF2B5EF4-FFF2-40B4-BE49-F238E27FC236}">
                  <a16:creationId xmlns:a16="http://schemas.microsoft.com/office/drawing/2014/main" id="{0CC2E301-B374-9631-0B79-1BA3EDA9885A}"/>
                </a:ext>
              </a:extLst>
            </p:cNvPr>
            <p:cNvSpPr/>
            <p:nvPr/>
          </p:nvSpPr>
          <p:spPr>
            <a:xfrm>
              <a:off x="4714875" y="1542791"/>
              <a:ext cx="456498" cy="127322"/>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意义：</a:t>
              </a:r>
              <a:endParaRPr lang="en-US" dirty="0">
                <a:latin typeface="微软雅黑" panose="020B0503020204020204" pitchFamily="34" charset="-122"/>
                <a:ea typeface="微软雅黑" panose="020B0503020204020204" pitchFamily="34" charset="-122"/>
              </a:endParaRPr>
            </a:p>
          </p:txBody>
        </p:sp>
        <p:sp>
          <p:nvSpPr>
            <p:cNvPr id="79" name="Text 24">
              <a:extLst>
                <a:ext uri="{FF2B5EF4-FFF2-40B4-BE49-F238E27FC236}">
                  <a16:creationId xmlns:a16="http://schemas.microsoft.com/office/drawing/2014/main" id="{7144C0BA-6704-F8E3-F19C-5740862A5900}"/>
                </a:ext>
              </a:extLst>
            </p:cNvPr>
            <p:cNvSpPr/>
            <p:nvPr/>
          </p:nvSpPr>
          <p:spPr>
            <a:xfrm>
              <a:off x="5108007" y="1542791"/>
              <a:ext cx="2434660" cy="127322"/>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增加密码分析的难度，提高安全性。</a:t>
              </a:r>
              <a:endParaRPr lang="en-US" dirty="0">
                <a:latin typeface="微软雅黑" panose="020B0503020204020204" pitchFamily="34" charset="-122"/>
                <a:ea typeface="微软雅黑" panose="020B0503020204020204" pitchFamily="34" charset="-122"/>
              </a:endParaRPr>
            </a:p>
          </p:txBody>
        </p:sp>
      </p:grpSp>
      <p:grpSp>
        <p:nvGrpSpPr>
          <p:cNvPr id="80" name="组合 79">
            <a:extLst>
              <a:ext uri="{FF2B5EF4-FFF2-40B4-BE49-F238E27FC236}">
                <a16:creationId xmlns:a16="http://schemas.microsoft.com/office/drawing/2014/main" id="{5C8802EC-DBF0-57CE-691B-4F8606C3745C}"/>
              </a:ext>
            </a:extLst>
          </p:cNvPr>
          <p:cNvGrpSpPr/>
          <p:nvPr/>
        </p:nvGrpSpPr>
        <p:grpSpPr>
          <a:xfrm>
            <a:off x="377796" y="4547437"/>
            <a:ext cx="11475537" cy="1031663"/>
            <a:chOff x="285750" y="4243828"/>
            <a:chExt cx="8572500" cy="756797"/>
          </a:xfrm>
        </p:grpSpPr>
        <p:sp>
          <p:nvSpPr>
            <p:cNvPr id="81" name="Text 31">
              <a:extLst>
                <a:ext uri="{FF2B5EF4-FFF2-40B4-BE49-F238E27FC236}">
                  <a16:creationId xmlns:a16="http://schemas.microsoft.com/office/drawing/2014/main" id="{A384D929-08E9-D96A-628A-CD3B405CF9AE}"/>
                </a:ext>
              </a:extLst>
            </p:cNvPr>
            <p:cNvSpPr/>
            <p:nvPr/>
          </p:nvSpPr>
          <p:spPr>
            <a:xfrm>
              <a:off x="285750" y="4243828"/>
              <a:ext cx="2041391" cy="170569"/>
            </a:xfrm>
            <a:prstGeom prst="rect">
              <a:avLst/>
            </a:prstGeom>
            <a:noFill/>
            <a:ln/>
          </p:spPr>
          <p:txBody>
            <a:bodyPr wrap="none" lIns="0" tIns="0" rIns="0" bIns="0" rtlCol="0" anchor="ctr">
              <a:spAutoFit/>
            </a:bodyPr>
            <a:lstStyle/>
            <a:p>
              <a:pPr marL="0" indent="0">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Hash函数特性的实际意义</a:t>
              </a:r>
              <a:endParaRPr lang="en-US" dirty="0">
                <a:latin typeface="微软雅黑" panose="020B0503020204020204" pitchFamily="34" charset="-122"/>
                <a:ea typeface="微软雅黑" panose="020B0503020204020204" pitchFamily="34" charset="-122"/>
              </a:endParaRPr>
            </a:p>
          </p:txBody>
        </p:sp>
        <p:sp>
          <p:nvSpPr>
            <p:cNvPr id="82" name="Shape 32">
              <a:extLst>
                <a:ext uri="{FF2B5EF4-FFF2-40B4-BE49-F238E27FC236}">
                  <a16:creationId xmlns:a16="http://schemas.microsoft.com/office/drawing/2014/main" id="{12ADAD7A-56FF-18A9-A267-149B51053B24}"/>
                </a:ext>
              </a:extLst>
            </p:cNvPr>
            <p:cNvSpPr/>
            <p:nvPr/>
          </p:nvSpPr>
          <p:spPr>
            <a:xfrm>
              <a:off x="285750" y="4486275"/>
              <a:ext cx="2781291" cy="514350"/>
            </a:xfrm>
            <a:prstGeom prst="rect">
              <a:avLst/>
            </a:prstGeom>
            <a:solidFill>
              <a:srgbClr val="EFF6FF"/>
            </a:solidFill>
            <a:ln/>
          </p:spPr>
        </p:sp>
        <p:pic>
          <p:nvPicPr>
            <p:cNvPr id="83" name="Image 2" descr="preencoded.png">
              <a:extLst>
                <a:ext uri="{FF2B5EF4-FFF2-40B4-BE49-F238E27FC236}">
                  <a16:creationId xmlns:a16="http://schemas.microsoft.com/office/drawing/2014/main" id="{19C24F43-2906-4F4D-830A-B7FC0C733D76}"/>
                </a:ext>
              </a:extLst>
            </p:cNvPr>
            <p:cNvPicPr>
              <a:picLocks noChangeAspect="1"/>
            </p:cNvPicPr>
            <p:nvPr/>
          </p:nvPicPr>
          <p:blipFill>
            <a:blip r:embed="rId3"/>
            <a:stretch>
              <a:fillRect/>
            </a:stretch>
          </p:blipFill>
          <p:spPr>
            <a:xfrm>
              <a:off x="371475" y="4600575"/>
              <a:ext cx="114300" cy="114300"/>
            </a:xfrm>
            <a:prstGeom prst="rect">
              <a:avLst/>
            </a:prstGeom>
          </p:spPr>
        </p:pic>
        <p:sp>
          <p:nvSpPr>
            <p:cNvPr id="84" name="Text 33">
              <a:extLst>
                <a:ext uri="{FF2B5EF4-FFF2-40B4-BE49-F238E27FC236}">
                  <a16:creationId xmlns:a16="http://schemas.microsoft.com/office/drawing/2014/main" id="{AFBA8628-7CA6-68CA-42EF-B3A0B5371B15}"/>
                </a:ext>
              </a:extLst>
            </p:cNvPr>
            <p:cNvSpPr/>
            <p:nvPr/>
          </p:nvSpPr>
          <p:spPr>
            <a:xfrm>
              <a:off x="542925" y="4600869"/>
              <a:ext cx="589926" cy="113713"/>
            </a:xfrm>
            <a:prstGeom prst="rect">
              <a:avLst/>
            </a:prstGeom>
            <a:noFill/>
            <a:ln/>
          </p:spPr>
          <p:txBody>
            <a:bodyPr wrap="none" lIns="0" tIns="0" rIns="0" bIns="0" rtlCol="0" anchor="ctr">
              <a:spAutoFit/>
            </a:bodyPr>
            <a:lstStyle/>
            <a:p>
              <a:pPr marL="0" indent="0">
                <a:buNone/>
              </a:pPr>
              <a:r>
                <a:rPr lang="en-US" sz="1200" b="1" dirty="0">
                  <a:solidFill>
                    <a:srgbClr val="34495E"/>
                  </a:solidFill>
                  <a:latin typeface="微软雅黑" panose="020B0503020204020204" pitchFamily="34" charset="-122"/>
                  <a:ea typeface="微软雅黑" panose="020B0503020204020204" pitchFamily="34" charset="-122"/>
                  <a:cs typeface="Noto Sans" pitchFamily="34" charset="-120"/>
                </a:rPr>
                <a:t>数据完整性</a:t>
              </a:r>
              <a:endParaRPr lang="en-US" sz="1200" dirty="0">
                <a:latin typeface="微软雅黑" panose="020B0503020204020204" pitchFamily="34" charset="-122"/>
                <a:ea typeface="微软雅黑" panose="020B0503020204020204" pitchFamily="34" charset="-122"/>
              </a:endParaRPr>
            </a:p>
          </p:txBody>
        </p:sp>
        <p:sp>
          <p:nvSpPr>
            <p:cNvPr id="85" name="Text 34">
              <a:extLst>
                <a:ext uri="{FF2B5EF4-FFF2-40B4-BE49-F238E27FC236}">
                  <a16:creationId xmlns:a16="http://schemas.microsoft.com/office/drawing/2014/main" id="{3492E496-5FF4-1B13-FAAB-C89452C19D50}"/>
                </a:ext>
              </a:extLst>
            </p:cNvPr>
            <p:cNvSpPr/>
            <p:nvPr/>
          </p:nvSpPr>
          <p:spPr>
            <a:xfrm>
              <a:off x="371475" y="4786606"/>
              <a:ext cx="2241720" cy="113713"/>
            </a:xfrm>
            <a:prstGeom prst="rect">
              <a:avLst/>
            </a:prstGeom>
            <a:noFill/>
            <a:ln/>
          </p:spPr>
          <p:txBody>
            <a:bodyPr wrap="none" lIns="0" tIns="0" rIns="0" bIns="0" rtlCol="0" anchor="ctr">
              <a:spAutoFit/>
            </a:bodyPr>
            <a:lstStyle/>
            <a:p>
              <a:pPr marL="0" indent="0">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通过比较哈希值，可以检测数据是否被篡改</a:t>
              </a:r>
              <a:endParaRPr lang="en-US" sz="1200" dirty="0">
                <a:latin typeface="微软雅黑" panose="020B0503020204020204" pitchFamily="34" charset="-122"/>
                <a:ea typeface="微软雅黑" panose="020B0503020204020204" pitchFamily="34" charset="-122"/>
              </a:endParaRPr>
            </a:p>
          </p:txBody>
        </p:sp>
        <p:sp>
          <p:nvSpPr>
            <p:cNvPr id="86" name="Shape 35">
              <a:extLst>
                <a:ext uri="{FF2B5EF4-FFF2-40B4-BE49-F238E27FC236}">
                  <a16:creationId xmlns:a16="http://schemas.microsoft.com/office/drawing/2014/main" id="{11DE1355-20E5-98EC-680A-E79110C18BC3}"/>
                </a:ext>
              </a:extLst>
            </p:cNvPr>
            <p:cNvSpPr/>
            <p:nvPr/>
          </p:nvSpPr>
          <p:spPr>
            <a:xfrm>
              <a:off x="3181341" y="4486275"/>
              <a:ext cx="2781291" cy="514350"/>
            </a:xfrm>
            <a:prstGeom prst="rect">
              <a:avLst/>
            </a:prstGeom>
            <a:solidFill>
              <a:srgbClr val="EFF6FF"/>
            </a:solidFill>
            <a:ln/>
          </p:spPr>
        </p:sp>
        <p:pic>
          <p:nvPicPr>
            <p:cNvPr id="87" name="Image 3" descr="preencoded.png">
              <a:extLst>
                <a:ext uri="{FF2B5EF4-FFF2-40B4-BE49-F238E27FC236}">
                  <a16:creationId xmlns:a16="http://schemas.microsoft.com/office/drawing/2014/main" id="{71FDE11D-A072-7E23-827C-1C48F3E6CB3D}"/>
                </a:ext>
              </a:extLst>
            </p:cNvPr>
            <p:cNvPicPr>
              <a:picLocks noChangeAspect="1"/>
            </p:cNvPicPr>
            <p:nvPr/>
          </p:nvPicPr>
          <p:blipFill>
            <a:blip r:embed="rId4"/>
            <a:stretch>
              <a:fillRect/>
            </a:stretch>
          </p:blipFill>
          <p:spPr>
            <a:xfrm>
              <a:off x="3267066" y="4600575"/>
              <a:ext cx="142875" cy="114300"/>
            </a:xfrm>
            <a:prstGeom prst="rect">
              <a:avLst/>
            </a:prstGeom>
          </p:spPr>
        </p:pic>
        <p:sp>
          <p:nvSpPr>
            <p:cNvPr id="88" name="Text 36">
              <a:extLst>
                <a:ext uri="{FF2B5EF4-FFF2-40B4-BE49-F238E27FC236}">
                  <a16:creationId xmlns:a16="http://schemas.microsoft.com/office/drawing/2014/main" id="{982E4816-A538-0F2A-6435-598987FF2F78}"/>
                </a:ext>
              </a:extLst>
            </p:cNvPr>
            <p:cNvSpPr/>
            <p:nvPr/>
          </p:nvSpPr>
          <p:spPr>
            <a:xfrm>
              <a:off x="3467091" y="4600869"/>
              <a:ext cx="471941" cy="113713"/>
            </a:xfrm>
            <a:prstGeom prst="rect">
              <a:avLst/>
            </a:prstGeom>
            <a:noFill/>
            <a:ln/>
          </p:spPr>
          <p:txBody>
            <a:bodyPr wrap="none" lIns="0" tIns="0" rIns="0" bIns="0" rtlCol="0" anchor="ctr">
              <a:spAutoFit/>
            </a:bodyPr>
            <a:lstStyle/>
            <a:p>
              <a:pPr marL="0" indent="0">
                <a:buNone/>
              </a:pPr>
              <a:r>
                <a:rPr lang="en-US" sz="1200" b="1" dirty="0">
                  <a:solidFill>
                    <a:srgbClr val="34495E"/>
                  </a:solidFill>
                  <a:latin typeface="微软雅黑" panose="020B0503020204020204" pitchFamily="34" charset="-122"/>
                  <a:ea typeface="微软雅黑" panose="020B0503020204020204" pitchFamily="34" charset="-122"/>
                  <a:cs typeface="Noto Sans" pitchFamily="34" charset="-120"/>
                </a:rPr>
                <a:t>数字签名</a:t>
              </a:r>
              <a:endParaRPr lang="en-US" sz="1200" dirty="0">
                <a:latin typeface="微软雅黑" panose="020B0503020204020204" pitchFamily="34" charset="-122"/>
                <a:ea typeface="微软雅黑" panose="020B0503020204020204" pitchFamily="34" charset="-122"/>
              </a:endParaRPr>
            </a:p>
          </p:txBody>
        </p:sp>
        <p:sp>
          <p:nvSpPr>
            <p:cNvPr id="89" name="Text 37">
              <a:extLst>
                <a:ext uri="{FF2B5EF4-FFF2-40B4-BE49-F238E27FC236}">
                  <a16:creationId xmlns:a16="http://schemas.microsoft.com/office/drawing/2014/main" id="{A6FA8257-F3B8-A85B-0AD8-7BE49DD56FD2}"/>
                </a:ext>
              </a:extLst>
            </p:cNvPr>
            <p:cNvSpPr/>
            <p:nvPr/>
          </p:nvSpPr>
          <p:spPr>
            <a:xfrm>
              <a:off x="3267066" y="4786606"/>
              <a:ext cx="2595676" cy="113713"/>
            </a:xfrm>
            <a:prstGeom prst="rect">
              <a:avLst/>
            </a:prstGeom>
            <a:noFill/>
            <a:ln/>
          </p:spPr>
          <p:txBody>
            <a:bodyPr wrap="none" lIns="0" tIns="0" rIns="0" bIns="0" rtlCol="0" anchor="ctr">
              <a:spAutoFit/>
            </a:bodyPr>
            <a:lstStyle/>
            <a:p>
              <a:pPr marL="0" indent="0">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对消息的哈希值进行签名，提高效率并确保完整性</a:t>
              </a:r>
              <a:endParaRPr lang="en-US" sz="1200" dirty="0">
                <a:latin typeface="微软雅黑" panose="020B0503020204020204" pitchFamily="34" charset="-122"/>
                <a:ea typeface="微软雅黑" panose="020B0503020204020204" pitchFamily="34" charset="-122"/>
              </a:endParaRPr>
            </a:p>
          </p:txBody>
        </p:sp>
        <p:sp>
          <p:nvSpPr>
            <p:cNvPr id="90" name="Shape 38">
              <a:extLst>
                <a:ext uri="{FF2B5EF4-FFF2-40B4-BE49-F238E27FC236}">
                  <a16:creationId xmlns:a16="http://schemas.microsoft.com/office/drawing/2014/main" id="{DEFD2A7C-36EA-52A0-91DE-181DF3742C52}"/>
                </a:ext>
              </a:extLst>
            </p:cNvPr>
            <p:cNvSpPr/>
            <p:nvPr/>
          </p:nvSpPr>
          <p:spPr>
            <a:xfrm>
              <a:off x="6076931" y="4486275"/>
              <a:ext cx="2781319" cy="514350"/>
            </a:xfrm>
            <a:prstGeom prst="rect">
              <a:avLst/>
            </a:prstGeom>
            <a:solidFill>
              <a:srgbClr val="EFF6FF"/>
            </a:solidFill>
            <a:ln/>
          </p:spPr>
        </p:sp>
        <p:pic>
          <p:nvPicPr>
            <p:cNvPr id="91" name="Image 4" descr="preencoded.png">
              <a:extLst>
                <a:ext uri="{FF2B5EF4-FFF2-40B4-BE49-F238E27FC236}">
                  <a16:creationId xmlns:a16="http://schemas.microsoft.com/office/drawing/2014/main" id="{4D01895A-C5CB-5A5F-2105-C3A6B70C00A3}"/>
                </a:ext>
              </a:extLst>
            </p:cNvPr>
            <p:cNvPicPr>
              <a:picLocks noChangeAspect="1"/>
            </p:cNvPicPr>
            <p:nvPr/>
          </p:nvPicPr>
          <p:blipFill>
            <a:blip r:embed="rId5"/>
            <a:stretch>
              <a:fillRect/>
            </a:stretch>
          </p:blipFill>
          <p:spPr>
            <a:xfrm>
              <a:off x="6162656" y="4600575"/>
              <a:ext cx="114300" cy="114300"/>
            </a:xfrm>
            <a:prstGeom prst="rect">
              <a:avLst/>
            </a:prstGeom>
          </p:spPr>
        </p:pic>
        <p:sp>
          <p:nvSpPr>
            <p:cNvPr id="92" name="Text 39">
              <a:extLst>
                <a:ext uri="{FF2B5EF4-FFF2-40B4-BE49-F238E27FC236}">
                  <a16:creationId xmlns:a16="http://schemas.microsoft.com/office/drawing/2014/main" id="{AC6F89BA-A7EC-6D07-4CE2-E263ABB70B35}"/>
                </a:ext>
              </a:extLst>
            </p:cNvPr>
            <p:cNvSpPr/>
            <p:nvPr/>
          </p:nvSpPr>
          <p:spPr>
            <a:xfrm>
              <a:off x="6334106" y="4600869"/>
              <a:ext cx="471941" cy="113713"/>
            </a:xfrm>
            <a:prstGeom prst="rect">
              <a:avLst/>
            </a:prstGeom>
            <a:noFill/>
            <a:ln/>
          </p:spPr>
          <p:txBody>
            <a:bodyPr wrap="none" lIns="0" tIns="0" rIns="0" bIns="0" rtlCol="0" anchor="ctr">
              <a:spAutoFit/>
            </a:bodyPr>
            <a:lstStyle/>
            <a:p>
              <a:pPr marL="0" indent="0">
                <a:buNone/>
              </a:pPr>
              <a:r>
                <a:rPr lang="en-US" sz="1200" b="1" dirty="0">
                  <a:solidFill>
                    <a:srgbClr val="34495E"/>
                  </a:solidFill>
                  <a:latin typeface="微软雅黑" panose="020B0503020204020204" pitchFamily="34" charset="-122"/>
                  <a:ea typeface="微软雅黑" panose="020B0503020204020204" pitchFamily="34" charset="-122"/>
                  <a:cs typeface="Noto Sans" pitchFamily="34" charset="-120"/>
                </a:rPr>
                <a:t>密码存储</a:t>
              </a:r>
              <a:endParaRPr lang="en-US" sz="1200" dirty="0">
                <a:latin typeface="微软雅黑" panose="020B0503020204020204" pitchFamily="34" charset="-122"/>
                <a:ea typeface="微软雅黑" panose="020B0503020204020204" pitchFamily="34" charset="-122"/>
              </a:endParaRPr>
            </a:p>
          </p:txBody>
        </p:sp>
        <p:sp>
          <p:nvSpPr>
            <p:cNvPr id="93" name="Text 40">
              <a:extLst>
                <a:ext uri="{FF2B5EF4-FFF2-40B4-BE49-F238E27FC236}">
                  <a16:creationId xmlns:a16="http://schemas.microsoft.com/office/drawing/2014/main" id="{5FEFDC62-E7FD-7521-A9E1-8640F34F319D}"/>
                </a:ext>
              </a:extLst>
            </p:cNvPr>
            <p:cNvSpPr/>
            <p:nvPr/>
          </p:nvSpPr>
          <p:spPr>
            <a:xfrm>
              <a:off x="6162656" y="4786606"/>
              <a:ext cx="2123735" cy="113713"/>
            </a:xfrm>
            <a:prstGeom prst="rect">
              <a:avLst/>
            </a:prstGeom>
            <a:noFill/>
            <a:ln/>
          </p:spPr>
          <p:txBody>
            <a:bodyPr wrap="none" lIns="0" tIns="0" rIns="0" bIns="0" rtlCol="0" anchor="ctr">
              <a:spAutoFit/>
            </a:bodyPr>
            <a:lstStyle/>
            <a:p>
              <a:pPr marL="0" indent="0">
                <a:buNone/>
              </a:pPr>
              <a:r>
                <a:rPr lang="en-US" sz="1200" dirty="0">
                  <a:solidFill>
                    <a:srgbClr val="34495E"/>
                  </a:solidFill>
                  <a:latin typeface="微软雅黑" panose="020B0503020204020204" pitchFamily="34" charset="-122"/>
                  <a:ea typeface="微软雅黑" panose="020B0503020204020204" pitchFamily="34" charset="-122"/>
                  <a:cs typeface="Noto Sans" pitchFamily="34" charset="-120"/>
                </a:rPr>
                <a:t>存储密码的哈希值而非明文，提高安全性</a:t>
              </a:r>
              <a:endParaRPr lang="en-US" sz="1200" dirty="0">
                <a:latin typeface="微软雅黑" panose="020B0503020204020204" pitchFamily="34" charset="-122"/>
                <a:ea typeface="微软雅黑" panose="020B0503020204020204" pitchFamily="34" charset="-122"/>
              </a:endParaRPr>
            </a:p>
          </p:txBody>
        </p:sp>
      </p:grpSp>
      <p:grpSp>
        <p:nvGrpSpPr>
          <p:cNvPr id="95" name="组合 94">
            <a:extLst>
              <a:ext uri="{FF2B5EF4-FFF2-40B4-BE49-F238E27FC236}">
                <a16:creationId xmlns:a16="http://schemas.microsoft.com/office/drawing/2014/main" id="{8005FA12-CBC0-1368-7D4E-C1950464A810}"/>
              </a:ext>
            </a:extLst>
          </p:cNvPr>
          <p:cNvGrpSpPr/>
          <p:nvPr/>
        </p:nvGrpSpPr>
        <p:grpSpPr>
          <a:xfrm>
            <a:off x="6776227" y="1931987"/>
            <a:ext cx="5188187" cy="2284413"/>
            <a:chOff x="4629150" y="3457575"/>
            <a:chExt cx="4114800" cy="628650"/>
          </a:xfrm>
        </p:grpSpPr>
        <p:sp>
          <p:nvSpPr>
            <p:cNvPr id="96" name="Shape 25">
              <a:extLst>
                <a:ext uri="{FF2B5EF4-FFF2-40B4-BE49-F238E27FC236}">
                  <a16:creationId xmlns:a16="http://schemas.microsoft.com/office/drawing/2014/main" id="{A26DED73-7E13-D594-3EE4-DF8DFEC4C768}"/>
                </a:ext>
              </a:extLst>
            </p:cNvPr>
            <p:cNvSpPr/>
            <p:nvPr/>
          </p:nvSpPr>
          <p:spPr>
            <a:xfrm>
              <a:off x="4629150" y="3457575"/>
              <a:ext cx="4114800" cy="628650"/>
            </a:xfrm>
            <a:prstGeom prst="rect">
              <a:avLst/>
            </a:prstGeom>
            <a:solidFill>
              <a:srgbClr val="EFF6FF"/>
            </a:solidFill>
            <a:ln/>
          </p:spPr>
          <p:txBody>
            <a:bodyPr/>
            <a:lstStyle/>
            <a:p>
              <a:endParaRPr lang="zh-CN" altLang="en-US"/>
            </a:p>
          </p:txBody>
        </p:sp>
        <p:sp>
          <p:nvSpPr>
            <p:cNvPr id="97" name="Text 26">
              <a:extLst>
                <a:ext uri="{FF2B5EF4-FFF2-40B4-BE49-F238E27FC236}">
                  <a16:creationId xmlns:a16="http://schemas.microsoft.com/office/drawing/2014/main" id="{BBBF8816-2942-FB61-E8D2-881C4178155D}"/>
                </a:ext>
              </a:extLst>
            </p:cNvPr>
            <p:cNvSpPr/>
            <p:nvPr/>
          </p:nvSpPr>
          <p:spPr>
            <a:xfrm>
              <a:off x="4695506" y="3512917"/>
              <a:ext cx="1098453" cy="76228"/>
            </a:xfrm>
            <a:prstGeom prst="rect">
              <a:avLst/>
            </a:prstGeom>
            <a:noFill/>
            <a:ln/>
          </p:spPr>
          <p:txBody>
            <a:bodyPr wrap="none" lIns="0" tIns="0" rIns="0" bIns="0" rtlCol="0" anchor="ctr">
              <a:spAutoFit/>
            </a:bodyPr>
            <a:lstStyle/>
            <a:p>
              <a:pPr marL="0" indent="0">
                <a:buNone/>
              </a:pPr>
              <a:r>
                <a:rPr lang="en-US" b="1" dirty="0">
                  <a:solidFill>
                    <a:srgbClr val="1F2937"/>
                  </a:solidFill>
                  <a:latin typeface="Noto Sans" pitchFamily="34" charset="0"/>
                  <a:ea typeface="Noto Sans" pitchFamily="34" charset="-122"/>
                  <a:cs typeface="Noto Sans" pitchFamily="34" charset="-120"/>
                </a:rPr>
                <a:t>雪崩效应示例</a:t>
              </a:r>
              <a:endParaRPr lang="en-US" dirty="0"/>
            </a:p>
          </p:txBody>
        </p:sp>
        <p:sp>
          <p:nvSpPr>
            <p:cNvPr id="98" name="Text 27">
              <a:extLst>
                <a:ext uri="{FF2B5EF4-FFF2-40B4-BE49-F238E27FC236}">
                  <a16:creationId xmlns:a16="http://schemas.microsoft.com/office/drawing/2014/main" id="{D8108E9C-EDEE-1C0A-3E43-C02A1A337C8D}"/>
                </a:ext>
              </a:extLst>
            </p:cNvPr>
            <p:cNvSpPr/>
            <p:nvPr/>
          </p:nvSpPr>
          <p:spPr>
            <a:xfrm>
              <a:off x="4816090" y="3692235"/>
              <a:ext cx="651274" cy="76228"/>
            </a:xfrm>
            <a:prstGeom prst="rect">
              <a:avLst/>
            </a:prstGeom>
            <a:noFill/>
            <a:ln w="19050">
              <a:solidFill>
                <a:schemeClr val="accent1"/>
              </a:solidFill>
            </a:ln>
          </p:spPr>
          <p:txBody>
            <a:bodyPr wrap="square" lIns="0" tIns="0" rIns="0" bIns="0" rtlCol="0" anchor="ctr">
              <a:spAutoFit/>
            </a:bodyPr>
            <a:lstStyle/>
            <a:p>
              <a:pPr marL="0" indent="0" algn="ctr">
                <a:buNone/>
              </a:pPr>
              <a:r>
                <a:rPr lang="en-US" b="1" dirty="0">
                  <a:solidFill>
                    <a:srgbClr val="34495E"/>
                  </a:solidFill>
                  <a:latin typeface="Noto Sans" pitchFamily="34" charset="0"/>
                  <a:ea typeface="Noto Sans" pitchFamily="34" charset="-122"/>
                  <a:cs typeface="Noto Sans" pitchFamily="34" charset="-120"/>
                </a:rPr>
                <a:t>Hello</a:t>
              </a:r>
              <a:endParaRPr lang="en-US" dirty="0"/>
            </a:p>
          </p:txBody>
        </p:sp>
        <p:sp>
          <p:nvSpPr>
            <p:cNvPr id="99" name="Text 28">
              <a:extLst>
                <a:ext uri="{FF2B5EF4-FFF2-40B4-BE49-F238E27FC236}">
                  <a16:creationId xmlns:a16="http://schemas.microsoft.com/office/drawing/2014/main" id="{01F85C6E-B3F5-C016-822F-CEC683FDC1CB}"/>
                </a:ext>
              </a:extLst>
            </p:cNvPr>
            <p:cNvSpPr/>
            <p:nvPr/>
          </p:nvSpPr>
          <p:spPr>
            <a:xfrm>
              <a:off x="5947487" y="3692995"/>
              <a:ext cx="2708364" cy="76228"/>
            </a:xfrm>
            <a:prstGeom prst="rect">
              <a:avLst/>
            </a:prstGeom>
            <a:noFill/>
            <a:ln w="19050">
              <a:solidFill>
                <a:schemeClr val="accent1"/>
              </a:solidFill>
            </a:ln>
          </p:spPr>
          <p:txBody>
            <a:bodyPr wrap="square" lIns="0" tIns="0" rIns="0" bIns="0" rtlCol="0" anchor="ctr">
              <a:spAutoFit/>
            </a:bodyPr>
            <a:lstStyle/>
            <a:p>
              <a:pPr marL="0" indent="0" algn="ctr">
                <a:buNone/>
              </a:pPr>
              <a:r>
                <a:rPr lang="en-US" dirty="0">
                  <a:solidFill>
                    <a:srgbClr val="34495E"/>
                  </a:solidFill>
                  <a:latin typeface="Noto Sans" pitchFamily="34" charset="0"/>
                  <a:ea typeface="Noto Sans" pitchFamily="34" charset="-122"/>
                  <a:cs typeface="Noto Sans" pitchFamily="34" charset="-120"/>
                </a:rPr>
                <a:t>1d229271928d3f9e2bb037…</a:t>
              </a:r>
              <a:endParaRPr lang="en-US" dirty="0"/>
            </a:p>
          </p:txBody>
        </p:sp>
        <p:sp>
          <p:nvSpPr>
            <p:cNvPr id="100" name="Text 29">
              <a:extLst>
                <a:ext uri="{FF2B5EF4-FFF2-40B4-BE49-F238E27FC236}">
                  <a16:creationId xmlns:a16="http://schemas.microsoft.com/office/drawing/2014/main" id="{F2C2ABCD-21CC-ADD3-56E0-6AB1D13510BD}"/>
                </a:ext>
              </a:extLst>
            </p:cNvPr>
            <p:cNvSpPr/>
            <p:nvPr/>
          </p:nvSpPr>
          <p:spPr>
            <a:xfrm>
              <a:off x="4816090" y="3836101"/>
              <a:ext cx="659454" cy="76228"/>
            </a:xfrm>
            <a:prstGeom prst="rect">
              <a:avLst/>
            </a:prstGeom>
            <a:noFill/>
            <a:ln w="19050">
              <a:solidFill>
                <a:schemeClr val="accent1"/>
              </a:solidFill>
            </a:ln>
          </p:spPr>
          <p:txBody>
            <a:bodyPr wrap="square" lIns="0" tIns="0" rIns="0" bIns="0" rtlCol="0" anchor="ctr">
              <a:spAutoFit/>
            </a:bodyPr>
            <a:lstStyle/>
            <a:p>
              <a:pPr marL="0" indent="0" algn="ctr">
                <a:buNone/>
              </a:pPr>
              <a:r>
                <a:rPr lang="en-US" b="1" dirty="0">
                  <a:solidFill>
                    <a:srgbClr val="34495E"/>
                  </a:solidFill>
                  <a:latin typeface="Noto Sans" pitchFamily="34" charset="0"/>
                  <a:ea typeface="Noto Sans" pitchFamily="34" charset="-122"/>
                  <a:cs typeface="Noto Sans" pitchFamily="34" charset="-120"/>
                </a:rPr>
                <a:t>Hell@</a:t>
              </a:r>
              <a:endParaRPr lang="en-US" dirty="0"/>
            </a:p>
          </p:txBody>
        </p:sp>
        <p:sp>
          <p:nvSpPr>
            <p:cNvPr id="101" name="Text 30">
              <a:extLst>
                <a:ext uri="{FF2B5EF4-FFF2-40B4-BE49-F238E27FC236}">
                  <a16:creationId xmlns:a16="http://schemas.microsoft.com/office/drawing/2014/main" id="{1F875A3C-4AB6-8421-7CB7-D49B6C792E8D}"/>
                </a:ext>
              </a:extLst>
            </p:cNvPr>
            <p:cNvSpPr/>
            <p:nvPr/>
          </p:nvSpPr>
          <p:spPr>
            <a:xfrm>
              <a:off x="5952571" y="3836101"/>
              <a:ext cx="2708363" cy="76228"/>
            </a:xfrm>
            <a:prstGeom prst="rect">
              <a:avLst/>
            </a:prstGeom>
            <a:noFill/>
            <a:ln w="19050">
              <a:solidFill>
                <a:schemeClr val="accent1"/>
              </a:solidFill>
            </a:ln>
          </p:spPr>
          <p:txBody>
            <a:bodyPr wrap="square" lIns="0" tIns="0" rIns="0" bIns="0" rtlCol="0" anchor="ctr">
              <a:spAutoFit/>
            </a:bodyPr>
            <a:lstStyle/>
            <a:p>
              <a:pPr marL="0" indent="0" algn="ctr">
                <a:buNone/>
              </a:pPr>
              <a:r>
                <a:rPr lang="en-US" dirty="0">
                  <a:solidFill>
                    <a:srgbClr val="34495E"/>
                  </a:solidFill>
                  <a:latin typeface="Noto Sans" pitchFamily="34" charset="0"/>
                  <a:ea typeface="Noto Sans" pitchFamily="34" charset="-122"/>
                  <a:cs typeface="Noto Sans" pitchFamily="34" charset="-120"/>
                </a:rPr>
                <a:t>2fe5b87b964a7d0e98e324…</a:t>
              </a:r>
              <a:endParaRPr lang="en-US" dirty="0"/>
            </a:p>
          </p:txBody>
        </p:sp>
      </p:grpSp>
      <p:cxnSp>
        <p:nvCxnSpPr>
          <p:cNvPr id="103" name="直接箭头连接符 102">
            <a:extLst>
              <a:ext uri="{FF2B5EF4-FFF2-40B4-BE49-F238E27FC236}">
                <a16:creationId xmlns:a16="http://schemas.microsoft.com/office/drawing/2014/main" id="{8AEE9D6E-4AED-29BB-324E-29F405D9D900}"/>
              </a:ext>
            </a:extLst>
          </p:cNvPr>
          <p:cNvCxnSpPr>
            <a:cxnSpLocks/>
            <a:endCxn id="99" idx="1"/>
          </p:cNvCxnSpPr>
          <p:nvPr/>
        </p:nvCxnSpPr>
        <p:spPr>
          <a:xfrm>
            <a:off x="7843411" y="2923204"/>
            <a:ext cx="595054" cy="2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5E175383-ACDC-2B20-C065-127631565098}"/>
              </a:ext>
            </a:extLst>
          </p:cNvPr>
          <p:cNvCxnSpPr>
            <a:cxnSpLocks/>
          </p:cNvCxnSpPr>
          <p:nvPr/>
        </p:nvCxnSpPr>
        <p:spPr>
          <a:xfrm>
            <a:off x="7843411" y="3441848"/>
            <a:ext cx="595054" cy="2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9919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083C-FDBE-7CF3-4362-02B71A6F0C4D}"/>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94F79124-9776-FE4B-81BE-52649E48DD72}"/>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US" altLang="zh-CN" sz="2800" b="1" dirty="0">
                <a:solidFill>
                  <a:srgbClr val="002060"/>
                </a:solidFill>
                <a:latin typeface="微软雅黑" panose="020B0503020204020204" pitchFamily="34" charset="-122"/>
                <a:ea typeface="微软雅黑" panose="020B0503020204020204" pitchFamily="34" charset="-122"/>
              </a:rPr>
              <a:t>Hash</a:t>
            </a:r>
            <a:r>
              <a:rPr lang="zh-CN" altLang="en-US" sz="2800" b="1" dirty="0">
                <a:solidFill>
                  <a:srgbClr val="002060"/>
                </a:solidFill>
                <a:latin typeface="微软雅黑" panose="020B0503020204020204" pitchFamily="34" charset="-122"/>
                <a:ea typeface="微软雅黑" panose="020B0503020204020204" pitchFamily="34" charset="-122"/>
              </a:rPr>
              <a:t>函数</a:t>
            </a:r>
          </a:p>
        </p:txBody>
      </p:sp>
      <p:grpSp>
        <p:nvGrpSpPr>
          <p:cNvPr id="33" name="组合 2">
            <a:extLst>
              <a:ext uri="{FF2B5EF4-FFF2-40B4-BE49-F238E27FC236}">
                <a16:creationId xmlns:a16="http://schemas.microsoft.com/office/drawing/2014/main" id="{67E1AC0F-DEA3-7372-B2EC-60C54FBAE64A}"/>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A4F1E96E-7C88-0846-5AA0-DC97C45EC950}"/>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9C156FCA-35C2-4A2D-5003-EADA6BE71C7D}"/>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174F4422-D1B5-A24E-4213-1BDC937E4C58}"/>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677D88E4-2A45-B4C2-83F6-C2C5EDE0150C}"/>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IE" altLang="zh-CN"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Hash</a:t>
              </a:r>
              <a:r>
                <a:rPr lang="zh-CN" altLang="en-US"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函数基本概念</a:t>
              </a: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sp>
        <p:nvSpPr>
          <p:cNvPr id="4" name="Shape 1">
            <a:extLst>
              <a:ext uri="{FF2B5EF4-FFF2-40B4-BE49-F238E27FC236}">
                <a16:creationId xmlns:a16="http://schemas.microsoft.com/office/drawing/2014/main" id="{D1C184A0-8904-7EEE-58D4-88D5C7F1619D}"/>
              </a:ext>
            </a:extLst>
          </p:cNvPr>
          <p:cNvSpPr/>
          <p:nvPr/>
        </p:nvSpPr>
        <p:spPr>
          <a:xfrm>
            <a:off x="489249" y="1912296"/>
            <a:ext cx="5630071" cy="1495686"/>
          </a:xfrm>
          <a:prstGeom prst="rect">
            <a:avLst/>
          </a:prstGeom>
          <a:solidFill>
            <a:srgbClr val="F8F9FA"/>
          </a:solidFill>
          <a:ln/>
        </p:spPr>
        <p:txBody>
          <a:bodyPr/>
          <a:lstStyle/>
          <a:p>
            <a:endParaRPr lang="zh-CN" altLang="en-US"/>
          </a:p>
        </p:txBody>
      </p:sp>
      <p:sp>
        <p:nvSpPr>
          <p:cNvPr id="5" name="Shape 2">
            <a:extLst>
              <a:ext uri="{FF2B5EF4-FFF2-40B4-BE49-F238E27FC236}">
                <a16:creationId xmlns:a16="http://schemas.microsoft.com/office/drawing/2014/main" id="{0E02D843-C459-8D8F-CABB-13727DA68032}"/>
              </a:ext>
            </a:extLst>
          </p:cNvPr>
          <p:cNvSpPr/>
          <p:nvPr/>
        </p:nvSpPr>
        <p:spPr>
          <a:xfrm>
            <a:off x="489250" y="1912296"/>
            <a:ext cx="45719" cy="1495686"/>
          </a:xfrm>
          <a:prstGeom prst="rect">
            <a:avLst/>
          </a:prstGeom>
          <a:solidFill>
            <a:srgbClr val="3498DB"/>
          </a:solidFill>
          <a:ln/>
        </p:spPr>
        <p:txBody>
          <a:bodyPr/>
          <a:lstStyle/>
          <a:p>
            <a:endParaRPr lang="zh-CN" altLang="en-US"/>
          </a:p>
        </p:txBody>
      </p:sp>
      <p:sp>
        <p:nvSpPr>
          <p:cNvPr id="6" name="Text 3">
            <a:extLst>
              <a:ext uri="{FF2B5EF4-FFF2-40B4-BE49-F238E27FC236}">
                <a16:creationId xmlns:a16="http://schemas.microsoft.com/office/drawing/2014/main" id="{F3B282B2-DC63-154A-82B1-D5D1FC6BB4E1}"/>
              </a:ext>
            </a:extLst>
          </p:cNvPr>
          <p:cNvSpPr/>
          <p:nvPr/>
        </p:nvSpPr>
        <p:spPr>
          <a:xfrm>
            <a:off x="570909" y="2019498"/>
            <a:ext cx="1952247" cy="276999"/>
          </a:xfrm>
          <a:prstGeom prst="rect">
            <a:avLst/>
          </a:prstGeom>
          <a:noFill/>
          <a:ln/>
        </p:spPr>
        <p:txBody>
          <a:bodyPr wrap="squar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SHA系列发展历程</a:t>
            </a:r>
            <a:endParaRPr lang="en-US" dirty="0">
              <a:latin typeface="微软雅黑" panose="020B0503020204020204" pitchFamily="34" charset="-122"/>
              <a:ea typeface="微软雅黑" panose="020B0503020204020204" pitchFamily="34" charset="-122"/>
            </a:endParaRPr>
          </a:p>
        </p:txBody>
      </p:sp>
      <p:sp>
        <p:nvSpPr>
          <p:cNvPr id="8" name="Text 4">
            <a:extLst>
              <a:ext uri="{FF2B5EF4-FFF2-40B4-BE49-F238E27FC236}">
                <a16:creationId xmlns:a16="http://schemas.microsoft.com/office/drawing/2014/main" id="{093DE42E-940A-1EEC-14DC-75EE932302DF}"/>
              </a:ext>
            </a:extLst>
          </p:cNvPr>
          <p:cNvSpPr/>
          <p:nvPr/>
        </p:nvSpPr>
        <p:spPr>
          <a:xfrm>
            <a:off x="570909" y="2366353"/>
            <a:ext cx="5356807" cy="1384995"/>
          </a:xfrm>
          <a:prstGeom prst="rect">
            <a:avLst/>
          </a:prstGeom>
          <a:noFill/>
          <a:ln/>
        </p:spPr>
        <p:txBody>
          <a:bodyPr wrap="square" lIns="0" tIns="0" rIns="0" bIns="0" rtlCol="0" anchor="ctr">
            <a:spAutoFit/>
          </a:bodyPr>
          <a:lstStyle/>
          <a:p>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SHA-1</a:t>
            </a: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：1995年发布，输出160位哈希值</a:t>
            </a:r>
            <a:endParaRPr lang="en-US" altLang="zh-CN" dirty="0">
              <a:latin typeface="微软雅黑" panose="020B0503020204020204" pitchFamily="34" charset="-122"/>
              <a:ea typeface="微软雅黑" panose="020B0503020204020204" pitchFamily="34" charset="-122"/>
            </a:endParaRPr>
          </a:p>
          <a:p>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SHA-2</a:t>
            </a: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：2001年发布，包括SHA-224/256/384/512</a:t>
            </a:r>
          </a:p>
          <a:p>
            <a:r>
              <a:rPr lang="en-US" altLang="zh-CN" b="1" dirty="0">
                <a:solidFill>
                  <a:srgbClr val="34495E"/>
                </a:solidFill>
                <a:latin typeface="微软雅黑" panose="020B0503020204020204" pitchFamily="34" charset="-122"/>
                <a:ea typeface="微软雅黑" panose="020B0503020204020204" pitchFamily="34" charset="-122"/>
                <a:cs typeface="Noto Sans" pitchFamily="34" charset="-120"/>
              </a:rPr>
              <a:t>SHA-3</a:t>
            </a: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：2015年发布，基于Keccak海绵结构</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0" indent="0" algn="l">
              <a:buNone/>
            </a:pPr>
            <a:endParaRPr lang="en-US" dirty="0">
              <a:latin typeface="微软雅黑" panose="020B0503020204020204" pitchFamily="34" charset="-122"/>
              <a:ea typeface="微软雅黑" panose="020B0503020204020204" pitchFamily="34" charset="-122"/>
            </a:endParaRPr>
          </a:p>
        </p:txBody>
      </p:sp>
      <p:sp>
        <p:nvSpPr>
          <p:cNvPr id="9" name="Text 5">
            <a:extLst>
              <a:ext uri="{FF2B5EF4-FFF2-40B4-BE49-F238E27FC236}">
                <a16:creationId xmlns:a16="http://schemas.microsoft.com/office/drawing/2014/main" id="{5EB78138-2BBF-3D62-899D-B11C08AE4ECD}"/>
              </a:ext>
            </a:extLst>
          </p:cNvPr>
          <p:cNvSpPr/>
          <p:nvPr/>
        </p:nvSpPr>
        <p:spPr>
          <a:xfrm>
            <a:off x="1113141" y="2225287"/>
            <a:ext cx="45719" cy="374527"/>
          </a:xfrm>
          <a:prstGeom prst="rect">
            <a:avLst/>
          </a:prstGeom>
          <a:noFill/>
          <a:ln/>
        </p:spPr>
        <p:txBody>
          <a:bodyPr wrap="squar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15" name="Shape 10">
            <a:extLst>
              <a:ext uri="{FF2B5EF4-FFF2-40B4-BE49-F238E27FC236}">
                <a16:creationId xmlns:a16="http://schemas.microsoft.com/office/drawing/2014/main" id="{0AAD81EF-C46E-F6F0-6A79-56CC5E13F5AF}"/>
              </a:ext>
            </a:extLst>
          </p:cNvPr>
          <p:cNvSpPr/>
          <p:nvPr/>
        </p:nvSpPr>
        <p:spPr>
          <a:xfrm>
            <a:off x="410711" y="3746375"/>
            <a:ext cx="4703538" cy="1958520"/>
          </a:xfrm>
          <a:prstGeom prst="rect">
            <a:avLst/>
          </a:prstGeom>
          <a:solidFill>
            <a:srgbClr val="F8F9FA"/>
          </a:solidFill>
          <a:ln/>
        </p:spPr>
        <p:txBody>
          <a:bodyPr/>
          <a:lstStyle/>
          <a:p>
            <a:endParaRPr lang="zh-CN" altLang="en-US"/>
          </a:p>
        </p:txBody>
      </p:sp>
      <p:sp>
        <p:nvSpPr>
          <p:cNvPr id="16" name="Shape 11">
            <a:extLst>
              <a:ext uri="{FF2B5EF4-FFF2-40B4-BE49-F238E27FC236}">
                <a16:creationId xmlns:a16="http://schemas.microsoft.com/office/drawing/2014/main" id="{6650CCE3-1418-5341-9A84-4ED177ABDEC8}"/>
              </a:ext>
            </a:extLst>
          </p:cNvPr>
          <p:cNvSpPr/>
          <p:nvPr/>
        </p:nvSpPr>
        <p:spPr>
          <a:xfrm>
            <a:off x="427578" y="3746375"/>
            <a:ext cx="45975" cy="1958520"/>
          </a:xfrm>
          <a:prstGeom prst="rect">
            <a:avLst/>
          </a:prstGeom>
          <a:solidFill>
            <a:srgbClr val="3498DB"/>
          </a:solidFill>
          <a:ln/>
        </p:spPr>
        <p:txBody>
          <a:bodyPr/>
          <a:lstStyle/>
          <a:p>
            <a:endParaRPr lang="zh-CN" altLang="en-US"/>
          </a:p>
        </p:txBody>
      </p:sp>
      <p:sp>
        <p:nvSpPr>
          <p:cNvPr id="17" name="Text 12">
            <a:extLst>
              <a:ext uri="{FF2B5EF4-FFF2-40B4-BE49-F238E27FC236}">
                <a16:creationId xmlns:a16="http://schemas.microsoft.com/office/drawing/2014/main" id="{9C2C18D5-3A9E-9830-C3EB-5E2A022DAF26}"/>
              </a:ext>
            </a:extLst>
          </p:cNvPr>
          <p:cNvSpPr/>
          <p:nvPr/>
        </p:nvSpPr>
        <p:spPr>
          <a:xfrm>
            <a:off x="492370" y="3804815"/>
            <a:ext cx="1954061"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SHA-256工作原理</a:t>
            </a:r>
            <a:endParaRPr lang="en-US" dirty="0">
              <a:latin typeface="微软雅黑" panose="020B0503020204020204" pitchFamily="34" charset="-122"/>
              <a:ea typeface="微软雅黑" panose="020B0503020204020204" pitchFamily="34" charset="-122"/>
            </a:endParaRPr>
          </a:p>
        </p:txBody>
      </p:sp>
      <p:sp>
        <p:nvSpPr>
          <p:cNvPr id="18" name="Text 13">
            <a:extLst>
              <a:ext uri="{FF2B5EF4-FFF2-40B4-BE49-F238E27FC236}">
                <a16:creationId xmlns:a16="http://schemas.microsoft.com/office/drawing/2014/main" id="{107212AD-CA8E-1C82-5304-0483DE499E8D}"/>
              </a:ext>
            </a:extLst>
          </p:cNvPr>
          <p:cNvSpPr/>
          <p:nvPr/>
        </p:nvSpPr>
        <p:spPr>
          <a:xfrm>
            <a:off x="538346" y="4140254"/>
            <a:ext cx="4640694" cy="1938992"/>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消息填充：将消息填充至512位的倍数</a:t>
            </a:r>
          </a:p>
          <a:p>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初始化哈希值：使用8个32位常量</a:t>
            </a:r>
          </a:p>
          <a:p>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消息处理：将消息分为512位块，每块进行64轮运算</a:t>
            </a:r>
            <a:endParaRPr lang="en-US" altLang="zh-CN" dirty="0">
              <a:latin typeface="微软雅黑" panose="020B0503020204020204" pitchFamily="34" charset="-122"/>
              <a:ea typeface="微软雅黑" panose="020B0503020204020204" pitchFamily="34" charset="-122"/>
            </a:endParaRPr>
          </a:p>
          <a:p>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输出：连接8个32位值得到256位哈希值</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0" indent="0" algn="l">
              <a:buNone/>
            </a:pPr>
            <a:endParaRPr lang="en-US" dirty="0">
              <a:latin typeface="微软雅黑" panose="020B0503020204020204" pitchFamily="34" charset="-122"/>
              <a:ea typeface="微软雅黑" panose="020B0503020204020204" pitchFamily="34" charset="-122"/>
            </a:endParaRPr>
          </a:p>
        </p:txBody>
      </p:sp>
      <p:sp>
        <p:nvSpPr>
          <p:cNvPr id="19" name="Text 14">
            <a:extLst>
              <a:ext uri="{FF2B5EF4-FFF2-40B4-BE49-F238E27FC236}">
                <a16:creationId xmlns:a16="http://schemas.microsoft.com/office/drawing/2014/main" id="{AAA3DAB3-D835-9781-70ED-1063E3FD7A7D}"/>
              </a:ext>
            </a:extLst>
          </p:cNvPr>
          <p:cNvSpPr/>
          <p:nvPr/>
        </p:nvSpPr>
        <p:spPr>
          <a:xfrm>
            <a:off x="655687" y="4295066"/>
            <a:ext cx="65" cy="276999"/>
          </a:xfrm>
          <a:prstGeom prst="rect">
            <a:avLst/>
          </a:prstGeom>
          <a:noFill/>
          <a:ln/>
        </p:spPr>
        <p:txBody>
          <a:bodyPr wrap="non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20" name="Text 15">
            <a:extLst>
              <a:ext uri="{FF2B5EF4-FFF2-40B4-BE49-F238E27FC236}">
                <a16:creationId xmlns:a16="http://schemas.microsoft.com/office/drawing/2014/main" id="{5BC8A563-9C98-0645-7E5C-7E20E4C0D9AA}"/>
              </a:ext>
            </a:extLst>
          </p:cNvPr>
          <p:cNvSpPr/>
          <p:nvPr/>
        </p:nvSpPr>
        <p:spPr>
          <a:xfrm>
            <a:off x="655687" y="4529714"/>
            <a:ext cx="65" cy="276999"/>
          </a:xfrm>
          <a:prstGeom prst="rect">
            <a:avLst/>
          </a:prstGeom>
          <a:noFill/>
          <a:ln/>
        </p:spPr>
        <p:txBody>
          <a:bodyPr wrap="non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21" name="Text 16">
            <a:extLst>
              <a:ext uri="{FF2B5EF4-FFF2-40B4-BE49-F238E27FC236}">
                <a16:creationId xmlns:a16="http://schemas.microsoft.com/office/drawing/2014/main" id="{58232898-E15C-DBD9-2B0A-51E782280CE5}"/>
              </a:ext>
            </a:extLst>
          </p:cNvPr>
          <p:cNvSpPr/>
          <p:nvPr/>
        </p:nvSpPr>
        <p:spPr>
          <a:xfrm>
            <a:off x="655687" y="4764365"/>
            <a:ext cx="65" cy="276999"/>
          </a:xfrm>
          <a:prstGeom prst="rect">
            <a:avLst/>
          </a:prstGeom>
          <a:noFill/>
          <a:ln/>
        </p:spPr>
        <p:txBody>
          <a:bodyPr wrap="non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grpSp>
        <p:nvGrpSpPr>
          <p:cNvPr id="67" name="组合 66">
            <a:extLst>
              <a:ext uri="{FF2B5EF4-FFF2-40B4-BE49-F238E27FC236}">
                <a16:creationId xmlns:a16="http://schemas.microsoft.com/office/drawing/2014/main" id="{5B17E84B-A118-F6E7-4782-6F04FCA4FD4B}"/>
              </a:ext>
            </a:extLst>
          </p:cNvPr>
          <p:cNvGrpSpPr/>
          <p:nvPr/>
        </p:nvGrpSpPr>
        <p:grpSpPr>
          <a:xfrm>
            <a:off x="6279518" y="1762833"/>
            <a:ext cx="5630070" cy="1456530"/>
            <a:chOff x="5323442" y="1882413"/>
            <a:chExt cx="8222991" cy="1106206"/>
          </a:xfrm>
        </p:grpSpPr>
        <p:sp>
          <p:nvSpPr>
            <p:cNvPr id="23" name="Shape 17">
              <a:extLst>
                <a:ext uri="{FF2B5EF4-FFF2-40B4-BE49-F238E27FC236}">
                  <a16:creationId xmlns:a16="http://schemas.microsoft.com/office/drawing/2014/main" id="{4F487C9D-EE64-AB87-9DA2-59F219BAD851}"/>
                </a:ext>
              </a:extLst>
            </p:cNvPr>
            <p:cNvSpPr/>
            <p:nvPr/>
          </p:nvSpPr>
          <p:spPr>
            <a:xfrm>
              <a:off x="5323442" y="1882413"/>
              <a:ext cx="5519533" cy="1106206"/>
            </a:xfrm>
            <a:prstGeom prst="rect">
              <a:avLst/>
            </a:prstGeom>
            <a:solidFill>
              <a:srgbClr val="F8F9FA"/>
            </a:solidFill>
            <a:ln w="12700">
              <a:solidFill>
                <a:schemeClr val="accent1"/>
              </a:solidFill>
              <a:round/>
            </a:ln>
            <a:effectLst>
              <a:softEdge rad="152400"/>
            </a:effectLst>
          </p:spPr>
          <p:txBody>
            <a:bodyPr/>
            <a:lstStyle/>
            <a:p>
              <a:endParaRPr lang="zh-CN" altLang="en-US"/>
            </a:p>
          </p:txBody>
        </p:sp>
        <p:sp>
          <p:nvSpPr>
            <p:cNvPr id="25" name="Text 19">
              <a:extLst>
                <a:ext uri="{FF2B5EF4-FFF2-40B4-BE49-F238E27FC236}">
                  <a16:creationId xmlns:a16="http://schemas.microsoft.com/office/drawing/2014/main" id="{609B879A-3D2D-B466-BDAC-47F48922ECAF}"/>
                </a:ext>
              </a:extLst>
            </p:cNvPr>
            <p:cNvSpPr/>
            <p:nvPr/>
          </p:nvSpPr>
          <p:spPr>
            <a:xfrm>
              <a:off x="5405101" y="1970734"/>
              <a:ext cx="4591332"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SHA-2与SHA-3的主要区别</a:t>
              </a:r>
              <a:endParaRPr lang="en-US" dirty="0">
                <a:latin typeface="微软雅黑" panose="020B0503020204020204" pitchFamily="34" charset="-122"/>
                <a:ea typeface="微软雅黑" panose="020B0503020204020204" pitchFamily="34" charset="-122"/>
              </a:endParaRPr>
            </a:p>
          </p:txBody>
        </p:sp>
        <p:sp>
          <p:nvSpPr>
            <p:cNvPr id="27" name="Text 21">
              <a:extLst>
                <a:ext uri="{FF2B5EF4-FFF2-40B4-BE49-F238E27FC236}">
                  <a16:creationId xmlns:a16="http://schemas.microsoft.com/office/drawing/2014/main" id="{53252C82-0E09-D1E5-377D-CF54827EF695}"/>
                </a:ext>
              </a:extLst>
            </p:cNvPr>
            <p:cNvSpPr/>
            <p:nvPr/>
          </p:nvSpPr>
          <p:spPr>
            <a:xfrm>
              <a:off x="6091033" y="2225287"/>
              <a:ext cx="104" cy="276999"/>
            </a:xfrm>
            <a:prstGeom prst="rect">
              <a:avLst/>
            </a:prstGeom>
            <a:noFill/>
            <a:ln/>
          </p:spPr>
          <p:txBody>
            <a:bodyPr wrap="none" lIns="0" tIns="0" rIns="0" bIns="0" rtlCol="0" anchor="ctr">
              <a:spAutoFit/>
            </a:bodyPr>
            <a:lstStyle/>
            <a:p>
              <a:pPr marL="0" indent="0" algn="l">
                <a:buNone/>
              </a:pPr>
              <a:endParaRPr lang="en-US" dirty="0">
                <a:latin typeface="微软雅黑" panose="020B0503020204020204" pitchFamily="34" charset="-122"/>
                <a:ea typeface="微软雅黑" panose="020B0503020204020204" pitchFamily="34" charset="-122"/>
              </a:endParaRPr>
            </a:p>
          </p:txBody>
        </p:sp>
        <p:sp>
          <p:nvSpPr>
            <p:cNvPr id="29" name="Text 23">
              <a:extLst>
                <a:ext uri="{FF2B5EF4-FFF2-40B4-BE49-F238E27FC236}">
                  <a16:creationId xmlns:a16="http://schemas.microsoft.com/office/drawing/2014/main" id="{234F48DA-5503-90DB-4D02-F28A47C71F4F}"/>
                </a:ext>
              </a:extLst>
            </p:cNvPr>
            <p:cNvSpPr/>
            <p:nvPr/>
          </p:nvSpPr>
          <p:spPr>
            <a:xfrm>
              <a:off x="5405101" y="2357234"/>
              <a:ext cx="8141332" cy="631126"/>
            </a:xfrm>
            <a:prstGeom prst="rect">
              <a:avLst/>
            </a:prstGeom>
            <a:noFill/>
            <a:ln/>
          </p:spPr>
          <p:txBody>
            <a:bodyPr wrap="square" lIns="0" tIns="0" rIns="0" bIns="0" rtlCol="0" anchor="ctr">
              <a:spAutoFit/>
            </a:bodyPr>
            <a:lstStyle/>
            <a:p>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SHA-2基于Merkle–Damgård结构，SHA-3基于海绵结构</a:t>
              </a: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a:t>
              </a:r>
              <a:r>
                <a:rPr lang="en-US" dirty="0">
                  <a:solidFill>
                    <a:srgbClr val="34495E"/>
                  </a:solidFill>
                  <a:latin typeface="微软雅黑" panose="020B0503020204020204" pitchFamily="34" charset="-122"/>
                  <a:ea typeface="微软雅黑" panose="020B0503020204020204" pitchFamily="34" charset="-122"/>
                  <a:cs typeface="Noto Sans" pitchFamily="34" charset="-120"/>
                </a:rPr>
                <a:t>SHA-3对长度扩展攻击有更好的抵抗力</a:t>
              </a: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a:t>
              </a:r>
              <a:r>
                <a:rPr lang="en-US" altLang="zh-CN" dirty="0">
                  <a:solidFill>
                    <a:srgbClr val="34495E"/>
                  </a:solidFill>
                  <a:latin typeface="微软雅黑" panose="020B0503020204020204" pitchFamily="34" charset="-122"/>
                  <a:ea typeface="微软雅黑" panose="020B0503020204020204" pitchFamily="34" charset="-122"/>
                  <a:cs typeface="Noto Sans" pitchFamily="34" charset="-120"/>
                </a:rPr>
                <a:t>在软件实现中SHA-2通常更快，在硬件实现中SHA-3更高效</a:t>
              </a:r>
              <a:r>
                <a:rPr lang="zh-CN" altLang="en-US" dirty="0">
                  <a:solidFill>
                    <a:srgbClr val="34495E"/>
                  </a:solidFill>
                  <a:latin typeface="微软雅黑" panose="020B0503020204020204" pitchFamily="34" charset="-122"/>
                  <a:ea typeface="微软雅黑" panose="020B0503020204020204" pitchFamily="34" charset="-122"/>
                  <a:cs typeface="Noto Sans" pitchFamily="34" charset="-120"/>
                </a:rPr>
                <a:t>。</a:t>
              </a:r>
              <a:endParaRPr lang="en-US" dirty="0">
                <a:latin typeface="微软雅黑" panose="020B0503020204020204" pitchFamily="34" charset="-122"/>
                <a:ea typeface="微软雅黑" panose="020B0503020204020204" pitchFamily="34" charset="-122"/>
              </a:endParaRPr>
            </a:p>
          </p:txBody>
        </p:sp>
      </p:grpSp>
      <p:grpSp>
        <p:nvGrpSpPr>
          <p:cNvPr id="63" name="组合 62">
            <a:extLst>
              <a:ext uri="{FF2B5EF4-FFF2-40B4-BE49-F238E27FC236}">
                <a16:creationId xmlns:a16="http://schemas.microsoft.com/office/drawing/2014/main" id="{6BE4EDB4-1001-6F69-44DD-AB8AF648E680}"/>
              </a:ext>
            </a:extLst>
          </p:cNvPr>
          <p:cNvGrpSpPr/>
          <p:nvPr/>
        </p:nvGrpSpPr>
        <p:grpSpPr>
          <a:xfrm>
            <a:off x="5405101" y="3589970"/>
            <a:ext cx="6588940" cy="2601581"/>
            <a:chOff x="5323442" y="3050740"/>
            <a:chExt cx="4703538" cy="1565722"/>
          </a:xfrm>
        </p:grpSpPr>
        <p:sp>
          <p:nvSpPr>
            <p:cNvPr id="32" name="Shape 26">
              <a:extLst>
                <a:ext uri="{FF2B5EF4-FFF2-40B4-BE49-F238E27FC236}">
                  <a16:creationId xmlns:a16="http://schemas.microsoft.com/office/drawing/2014/main" id="{5E66AB81-3388-1CC2-BC7F-1BCACE505A59}"/>
                </a:ext>
              </a:extLst>
            </p:cNvPr>
            <p:cNvSpPr/>
            <p:nvPr/>
          </p:nvSpPr>
          <p:spPr>
            <a:xfrm>
              <a:off x="5323442" y="3102304"/>
              <a:ext cx="800605" cy="259790"/>
            </a:xfrm>
            <a:prstGeom prst="rect">
              <a:avLst/>
            </a:prstGeom>
            <a:solidFill>
              <a:srgbClr val="3498DB"/>
            </a:solidFill>
            <a:ln/>
          </p:spPr>
        </p:sp>
        <p:sp>
          <p:nvSpPr>
            <p:cNvPr id="38" name="Text 27">
              <a:extLst>
                <a:ext uri="{FF2B5EF4-FFF2-40B4-BE49-F238E27FC236}">
                  <a16:creationId xmlns:a16="http://schemas.microsoft.com/office/drawing/2014/main" id="{B9B7B3B5-6440-1647-7638-F19D8B961E5A}"/>
                </a:ext>
              </a:extLst>
            </p:cNvPr>
            <p:cNvSpPr/>
            <p:nvPr/>
          </p:nvSpPr>
          <p:spPr>
            <a:xfrm>
              <a:off x="5323442" y="3050740"/>
              <a:ext cx="547586" cy="362920"/>
            </a:xfrm>
            <a:prstGeom prst="rect">
              <a:avLst/>
            </a:prstGeom>
            <a:noFill/>
            <a:ln/>
          </p:spPr>
          <p:txBody>
            <a:bodyPr wrap="none" lIns="42545" tIns="42545" rIns="42545" bIns="42545" rtlCol="0" anchor="ctr">
              <a:spAutoFit/>
            </a:bodyPr>
            <a:lstStyle/>
            <a:p>
              <a:pPr marL="0" indent="0" algn="l">
                <a:buNone/>
              </a:pPr>
              <a:r>
                <a:rPr lang="en-US" b="1" dirty="0">
                  <a:solidFill>
                    <a:srgbClr val="FFFFFF"/>
                  </a:solidFill>
                  <a:latin typeface="微软雅黑" panose="020B0503020204020204" pitchFamily="34" charset="-122"/>
                  <a:ea typeface="微软雅黑" panose="020B0503020204020204" pitchFamily="34" charset="-122"/>
                  <a:cs typeface="Noto Sans" pitchFamily="34" charset="-120"/>
                </a:rPr>
                <a:t>算法</a:t>
              </a:r>
              <a:endParaRPr lang="en-US" dirty="0">
                <a:latin typeface="微软雅黑" panose="020B0503020204020204" pitchFamily="34" charset="-122"/>
                <a:ea typeface="微软雅黑" panose="020B0503020204020204" pitchFamily="34" charset="-122"/>
              </a:endParaRPr>
            </a:p>
          </p:txBody>
        </p:sp>
        <p:sp>
          <p:nvSpPr>
            <p:cNvPr id="39" name="Shape 28">
              <a:extLst>
                <a:ext uri="{FF2B5EF4-FFF2-40B4-BE49-F238E27FC236}">
                  <a16:creationId xmlns:a16="http://schemas.microsoft.com/office/drawing/2014/main" id="{249D1FE8-1F8D-61AA-8E0D-496A942CF2A1}"/>
                </a:ext>
              </a:extLst>
            </p:cNvPr>
            <p:cNvSpPr/>
            <p:nvPr/>
          </p:nvSpPr>
          <p:spPr>
            <a:xfrm>
              <a:off x="6124047" y="3102304"/>
              <a:ext cx="1093206" cy="259790"/>
            </a:xfrm>
            <a:prstGeom prst="rect">
              <a:avLst/>
            </a:prstGeom>
            <a:solidFill>
              <a:srgbClr val="3498DB"/>
            </a:solidFill>
            <a:ln/>
          </p:spPr>
        </p:sp>
        <p:sp>
          <p:nvSpPr>
            <p:cNvPr id="40" name="Text 29">
              <a:extLst>
                <a:ext uri="{FF2B5EF4-FFF2-40B4-BE49-F238E27FC236}">
                  <a16:creationId xmlns:a16="http://schemas.microsoft.com/office/drawing/2014/main" id="{C5F368B3-013D-81AF-3C97-DB33CB3304C7}"/>
                </a:ext>
              </a:extLst>
            </p:cNvPr>
            <p:cNvSpPr/>
            <p:nvPr/>
          </p:nvSpPr>
          <p:spPr>
            <a:xfrm>
              <a:off x="6124047" y="3050740"/>
              <a:ext cx="1419620" cy="362920"/>
            </a:xfrm>
            <a:prstGeom prst="rect">
              <a:avLst/>
            </a:prstGeom>
            <a:noFill/>
            <a:ln/>
          </p:spPr>
          <p:txBody>
            <a:bodyPr wrap="none" lIns="42545" tIns="42545" rIns="42545" bIns="42545" rtlCol="0" anchor="ctr">
              <a:spAutoFit/>
            </a:bodyPr>
            <a:lstStyle/>
            <a:p>
              <a:pPr marL="0" indent="0" algn="l">
                <a:buNone/>
              </a:pPr>
              <a:r>
                <a:rPr lang="en-US" b="1" dirty="0">
                  <a:solidFill>
                    <a:srgbClr val="FFFFFF"/>
                  </a:solidFill>
                  <a:latin typeface="微软雅黑" panose="020B0503020204020204" pitchFamily="34" charset="-122"/>
                  <a:ea typeface="微软雅黑" panose="020B0503020204020204" pitchFamily="34" charset="-122"/>
                  <a:cs typeface="Noto Sans" pitchFamily="34" charset="-120"/>
                </a:rPr>
                <a:t>输出长度(位)</a:t>
              </a:r>
              <a:endParaRPr lang="en-US" dirty="0">
                <a:latin typeface="微软雅黑" panose="020B0503020204020204" pitchFamily="34" charset="-122"/>
                <a:ea typeface="微软雅黑" panose="020B0503020204020204" pitchFamily="34" charset="-122"/>
              </a:endParaRPr>
            </a:p>
          </p:txBody>
        </p:sp>
        <p:sp>
          <p:nvSpPr>
            <p:cNvPr id="41" name="Shape 30">
              <a:extLst>
                <a:ext uri="{FF2B5EF4-FFF2-40B4-BE49-F238E27FC236}">
                  <a16:creationId xmlns:a16="http://schemas.microsoft.com/office/drawing/2014/main" id="{F6CA4372-B4C9-AD4E-9E69-8F36A838E5CE}"/>
                </a:ext>
              </a:extLst>
            </p:cNvPr>
            <p:cNvSpPr/>
            <p:nvPr/>
          </p:nvSpPr>
          <p:spPr>
            <a:xfrm>
              <a:off x="7217252" y="3102304"/>
              <a:ext cx="806252" cy="259790"/>
            </a:xfrm>
            <a:prstGeom prst="rect">
              <a:avLst/>
            </a:prstGeom>
            <a:solidFill>
              <a:srgbClr val="3498DB"/>
            </a:solidFill>
            <a:ln/>
          </p:spPr>
        </p:sp>
        <p:sp>
          <p:nvSpPr>
            <p:cNvPr id="42" name="Text 31">
              <a:extLst>
                <a:ext uri="{FF2B5EF4-FFF2-40B4-BE49-F238E27FC236}">
                  <a16:creationId xmlns:a16="http://schemas.microsoft.com/office/drawing/2014/main" id="{AF0D2262-6D21-5ED8-CFC6-C665DD7D4C64}"/>
                </a:ext>
              </a:extLst>
            </p:cNvPr>
            <p:cNvSpPr/>
            <p:nvPr/>
          </p:nvSpPr>
          <p:spPr>
            <a:xfrm>
              <a:off x="7217252" y="3050740"/>
              <a:ext cx="778418" cy="362920"/>
            </a:xfrm>
            <a:prstGeom prst="rect">
              <a:avLst/>
            </a:prstGeom>
            <a:noFill/>
            <a:ln/>
          </p:spPr>
          <p:txBody>
            <a:bodyPr wrap="none" lIns="42545" tIns="42545" rIns="42545" bIns="42545" rtlCol="0" anchor="ctr">
              <a:spAutoFit/>
            </a:bodyPr>
            <a:lstStyle/>
            <a:p>
              <a:pPr marL="0" indent="0" algn="l">
                <a:buNone/>
              </a:pPr>
              <a:r>
                <a:rPr lang="en-US" b="1" dirty="0">
                  <a:solidFill>
                    <a:srgbClr val="FFFFFF"/>
                  </a:solidFill>
                  <a:latin typeface="微软雅黑" panose="020B0503020204020204" pitchFamily="34" charset="-122"/>
                  <a:ea typeface="微软雅黑" panose="020B0503020204020204" pitchFamily="34" charset="-122"/>
                  <a:cs typeface="Noto Sans" pitchFamily="34" charset="-120"/>
                </a:rPr>
                <a:t>安全性</a:t>
              </a:r>
              <a:endParaRPr lang="en-US" dirty="0">
                <a:latin typeface="微软雅黑" panose="020B0503020204020204" pitchFamily="34" charset="-122"/>
                <a:ea typeface="微软雅黑" panose="020B0503020204020204" pitchFamily="34" charset="-122"/>
              </a:endParaRPr>
            </a:p>
          </p:txBody>
        </p:sp>
        <p:sp>
          <p:nvSpPr>
            <p:cNvPr id="43" name="Shape 32">
              <a:extLst>
                <a:ext uri="{FF2B5EF4-FFF2-40B4-BE49-F238E27FC236}">
                  <a16:creationId xmlns:a16="http://schemas.microsoft.com/office/drawing/2014/main" id="{F534D0C3-1BE8-B8BD-DE94-5A624411FBB8}"/>
                </a:ext>
              </a:extLst>
            </p:cNvPr>
            <p:cNvSpPr/>
            <p:nvPr/>
          </p:nvSpPr>
          <p:spPr>
            <a:xfrm>
              <a:off x="8023504" y="3102304"/>
              <a:ext cx="2003475" cy="259790"/>
            </a:xfrm>
            <a:prstGeom prst="rect">
              <a:avLst/>
            </a:prstGeom>
            <a:solidFill>
              <a:srgbClr val="3498DB"/>
            </a:solidFill>
            <a:ln/>
          </p:spPr>
          <p:txBody>
            <a:bodyPr/>
            <a:lstStyle/>
            <a:p>
              <a:endParaRPr lang="zh-CN" altLang="en-US"/>
            </a:p>
          </p:txBody>
        </p:sp>
        <p:sp>
          <p:nvSpPr>
            <p:cNvPr id="44" name="Text 33">
              <a:extLst>
                <a:ext uri="{FF2B5EF4-FFF2-40B4-BE49-F238E27FC236}">
                  <a16:creationId xmlns:a16="http://schemas.microsoft.com/office/drawing/2014/main" id="{3E542085-1671-3A77-5DA8-1D24A1E0C82F}"/>
                </a:ext>
              </a:extLst>
            </p:cNvPr>
            <p:cNvSpPr/>
            <p:nvPr/>
          </p:nvSpPr>
          <p:spPr>
            <a:xfrm>
              <a:off x="8023504" y="3050740"/>
              <a:ext cx="1009251" cy="362920"/>
            </a:xfrm>
            <a:prstGeom prst="rect">
              <a:avLst/>
            </a:prstGeom>
            <a:noFill/>
            <a:ln/>
          </p:spPr>
          <p:txBody>
            <a:bodyPr wrap="none" lIns="42545" tIns="42545" rIns="42545" bIns="42545" rtlCol="0" anchor="ctr">
              <a:spAutoFit/>
            </a:bodyPr>
            <a:lstStyle/>
            <a:p>
              <a:pPr marL="0" indent="0" algn="l">
                <a:buNone/>
              </a:pPr>
              <a:r>
                <a:rPr lang="en-US" b="1" dirty="0">
                  <a:solidFill>
                    <a:srgbClr val="FFFFFF"/>
                  </a:solidFill>
                  <a:latin typeface="微软雅黑" panose="020B0503020204020204" pitchFamily="34" charset="-122"/>
                  <a:ea typeface="微软雅黑" panose="020B0503020204020204" pitchFamily="34" charset="-122"/>
                  <a:cs typeface="Noto Sans" pitchFamily="34" charset="-120"/>
                </a:rPr>
                <a:t>应用场景</a:t>
              </a:r>
              <a:endParaRPr lang="en-US" dirty="0">
                <a:latin typeface="微软雅黑" panose="020B0503020204020204" pitchFamily="34" charset="-122"/>
                <a:ea typeface="微软雅黑" panose="020B0503020204020204" pitchFamily="34" charset="-122"/>
              </a:endParaRPr>
            </a:p>
          </p:txBody>
        </p:sp>
        <p:sp>
          <p:nvSpPr>
            <p:cNvPr id="45" name="Text 34">
              <a:extLst>
                <a:ext uri="{FF2B5EF4-FFF2-40B4-BE49-F238E27FC236}">
                  <a16:creationId xmlns:a16="http://schemas.microsoft.com/office/drawing/2014/main" id="{2A713ABF-9F3B-2244-6575-57C79E050009}"/>
                </a:ext>
              </a:extLst>
            </p:cNvPr>
            <p:cNvSpPr/>
            <p:nvPr/>
          </p:nvSpPr>
          <p:spPr>
            <a:xfrm>
              <a:off x="5323442" y="3312625"/>
              <a:ext cx="800605"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SHA-1</a:t>
              </a:r>
              <a:endParaRPr lang="en-US" dirty="0">
                <a:latin typeface="微软雅黑" panose="020B0503020204020204" pitchFamily="34" charset="-122"/>
                <a:ea typeface="微软雅黑" panose="020B0503020204020204" pitchFamily="34" charset="-122"/>
              </a:endParaRPr>
            </a:p>
          </p:txBody>
        </p:sp>
        <p:sp>
          <p:nvSpPr>
            <p:cNvPr id="46" name="Text 35">
              <a:extLst>
                <a:ext uri="{FF2B5EF4-FFF2-40B4-BE49-F238E27FC236}">
                  <a16:creationId xmlns:a16="http://schemas.microsoft.com/office/drawing/2014/main" id="{BB55B1C2-5BE9-7EE1-613A-0D5423BD9AC2}"/>
                </a:ext>
              </a:extLst>
            </p:cNvPr>
            <p:cNvSpPr/>
            <p:nvPr/>
          </p:nvSpPr>
          <p:spPr>
            <a:xfrm>
              <a:off x="6124047" y="3312625"/>
              <a:ext cx="1093206"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160</a:t>
              </a:r>
              <a:endParaRPr lang="en-US" dirty="0">
                <a:latin typeface="微软雅黑" panose="020B0503020204020204" pitchFamily="34" charset="-122"/>
                <a:ea typeface="微软雅黑" panose="020B0503020204020204" pitchFamily="34" charset="-122"/>
              </a:endParaRPr>
            </a:p>
          </p:txBody>
        </p:sp>
        <p:sp>
          <p:nvSpPr>
            <p:cNvPr id="47" name="Text 36">
              <a:extLst>
                <a:ext uri="{FF2B5EF4-FFF2-40B4-BE49-F238E27FC236}">
                  <a16:creationId xmlns:a16="http://schemas.microsoft.com/office/drawing/2014/main" id="{C03F50A7-4F02-FE2C-4D8E-7A5F68EE1F39}"/>
                </a:ext>
              </a:extLst>
            </p:cNvPr>
            <p:cNvSpPr/>
            <p:nvPr/>
          </p:nvSpPr>
          <p:spPr>
            <a:xfrm>
              <a:off x="7217252" y="3174125"/>
              <a:ext cx="806252" cy="639919"/>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已被攻破</a:t>
              </a:r>
              <a:endParaRPr lang="en-US" dirty="0">
                <a:latin typeface="微软雅黑" panose="020B0503020204020204" pitchFamily="34" charset="-122"/>
                <a:ea typeface="微软雅黑" panose="020B0503020204020204" pitchFamily="34" charset="-122"/>
              </a:endParaRPr>
            </a:p>
          </p:txBody>
        </p:sp>
        <p:sp>
          <p:nvSpPr>
            <p:cNvPr id="48" name="Text 37">
              <a:extLst>
                <a:ext uri="{FF2B5EF4-FFF2-40B4-BE49-F238E27FC236}">
                  <a16:creationId xmlns:a16="http://schemas.microsoft.com/office/drawing/2014/main" id="{1625AA1F-EEB6-400F-C25E-CE6EB8F06D8A}"/>
                </a:ext>
              </a:extLst>
            </p:cNvPr>
            <p:cNvSpPr/>
            <p:nvPr/>
          </p:nvSpPr>
          <p:spPr>
            <a:xfrm>
              <a:off x="8023504" y="3312625"/>
              <a:ext cx="2003475"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不再推荐使用</a:t>
              </a:r>
              <a:endParaRPr lang="en-US" dirty="0">
                <a:latin typeface="微软雅黑" panose="020B0503020204020204" pitchFamily="34" charset="-122"/>
                <a:ea typeface="微软雅黑" panose="020B0503020204020204" pitchFamily="34" charset="-122"/>
              </a:endParaRPr>
            </a:p>
          </p:txBody>
        </p:sp>
        <p:sp>
          <p:nvSpPr>
            <p:cNvPr id="49" name="Shape 38">
              <a:extLst>
                <a:ext uri="{FF2B5EF4-FFF2-40B4-BE49-F238E27FC236}">
                  <a16:creationId xmlns:a16="http://schemas.microsoft.com/office/drawing/2014/main" id="{21D34A4D-653C-69CA-54EA-78C950E29A29}"/>
                </a:ext>
              </a:extLst>
            </p:cNvPr>
            <p:cNvSpPr/>
            <p:nvPr/>
          </p:nvSpPr>
          <p:spPr>
            <a:xfrm>
              <a:off x="5323442" y="3626076"/>
              <a:ext cx="4703538" cy="268171"/>
            </a:xfrm>
            <a:prstGeom prst="rect">
              <a:avLst/>
            </a:prstGeom>
            <a:solidFill>
              <a:srgbClr val="F8F9FA"/>
            </a:solidFill>
            <a:ln/>
          </p:spPr>
        </p:sp>
        <p:sp>
          <p:nvSpPr>
            <p:cNvPr id="50" name="Text 39">
              <a:extLst>
                <a:ext uri="{FF2B5EF4-FFF2-40B4-BE49-F238E27FC236}">
                  <a16:creationId xmlns:a16="http://schemas.microsoft.com/office/drawing/2014/main" id="{1345A4FB-685E-1C7D-C2CE-EFA8CA327995}"/>
                </a:ext>
              </a:extLst>
            </p:cNvPr>
            <p:cNvSpPr/>
            <p:nvPr/>
          </p:nvSpPr>
          <p:spPr>
            <a:xfrm>
              <a:off x="5323442" y="3440201"/>
              <a:ext cx="800605" cy="639919"/>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SHA-256</a:t>
              </a:r>
              <a:endParaRPr lang="en-US" dirty="0">
                <a:latin typeface="微软雅黑" panose="020B0503020204020204" pitchFamily="34" charset="-122"/>
                <a:ea typeface="微软雅黑" panose="020B0503020204020204" pitchFamily="34" charset="-122"/>
              </a:endParaRPr>
            </a:p>
          </p:txBody>
        </p:sp>
        <p:sp>
          <p:nvSpPr>
            <p:cNvPr id="51" name="Text 40">
              <a:extLst>
                <a:ext uri="{FF2B5EF4-FFF2-40B4-BE49-F238E27FC236}">
                  <a16:creationId xmlns:a16="http://schemas.microsoft.com/office/drawing/2014/main" id="{F5156BD5-49B2-0299-9BAA-010FDAFE658A}"/>
                </a:ext>
              </a:extLst>
            </p:cNvPr>
            <p:cNvSpPr/>
            <p:nvPr/>
          </p:nvSpPr>
          <p:spPr>
            <a:xfrm>
              <a:off x="6124047" y="3578701"/>
              <a:ext cx="1093206"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256</a:t>
              </a:r>
              <a:endParaRPr lang="en-US" dirty="0">
                <a:latin typeface="微软雅黑" panose="020B0503020204020204" pitchFamily="34" charset="-122"/>
                <a:ea typeface="微软雅黑" panose="020B0503020204020204" pitchFamily="34" charset="-122"/>
              </a:endParaRPr>
            </a:p>
          </p:txBody>
        </p:sp>
        <p:sp>
          <p:nvSpPr>
            <p:cNvPr id="52" name="Text 41">
              <a:extLst>
                <a:ext uri="{FF2B5EF4-FFF2-40B4-BE49-F238E27FC236}">
                  <a16:creationId xmlns:a16="http://schemas.microsoft.com/office/drawing/2014/main" id="{C5728BE4-190D-03B1-A26E-8E75B81D1D38}"/>
                </a:ext>
              </a:extLst>
            </p:cNvPr>
            <p:cNvSpPr/>
            <p:nvPr/>
          </p:nvSpPr>
          <p:spPr>
            <a:xfrm>
              <a:off x="7217252" y="3578701"/>
              <a:ext cx="806252"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高</a:t>
              </a:r>
              <a:endParaRPr lang="en-US" dirty="0">
                <a:latin typeface="微软雅黑" panose="020B0503020204020204" pitchFamily="34" charset="-122"/>
                <a:ea typeface="微软雅黑" panose="020B0503020204020204" pitchFamily="34" charset="-122"/>
              </a:endParaRPr>
            </a:p>
          </p:txBody>
        </p:sp>
        <p:sp>
          <p:nvSpPr>
            <p:cNvPr id="53" name="Text 42">
              <a:extLst>
                <a:ext uri="{FF2B5EF4-FFF2-40B4-BE49-F238E27FC236}">
                  <a16:creationId xmlns:a16="http://schemas.microsoft.com/office/drawing/2014/main" id="{D52F234D-46D4-2CFF-147B-627EA8C9E204}"/>
                </a:ext>
              </a:extLst>
            </p:cNvPr>
            <p:cNvSpPr/>
            <p:nvPr/>
          </p:nvSpPr>
          <p:spPr>
            <a:xfrm>
              <a:off x="8023504" y="3578701"/>
              <a:ext cx="2003475"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数字签名、证书</a:t>
              </a:r>
              <a:endParaRPr lang="en-US" dirty="0">
                <a:latin typeface="微软雅黑" panose="020B0503020204020204" pitchFamily="34" charset="-122"/>
                <a:ea typeface="微软雅黑" panose="020B0503020204020204" pitchFamily="34" charset="-122"/>
              </a:endParaRPr>
            </a:p>
          </p:txBody>
        </p:sp>
        <p:sp>
          <p:nvSpPr>
            <p:cNvPr id="54" name="Text 43">
              <a:extLst>
                <a:ext uri="{FF2B5EF4-FFF2-40B4-BE49-F238E27FC236}">
                  <a16:creationId xmlns:a16="http://schemas.microsoft.com/office/drawing/2014/main" id="{64CB9066-5F05-5625-2BAF-722A26E55B6A}"/>
                </a:ext>
              </a:extLst>
            </p:cNvPr>
            <p:cNvSpPr/>
            <p:nvPr/>
          </p:nvSpPr>
          <p:spPr>
            <a:xfrm>
              <a:off x="5323442" y="3708372"/>
              <a:ext cx="800605" cy="639919"/>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SHA-512</a:t>
              </a:r>
              <a:endParaRPr lang="en-US" dirty="0">
                <a:latin typeface="微软雅黑" panose="020B0503020204020204" pitchFamily="34" charset="-122"/>
                <a:ea typeface="微软雅黑" panose="020B0503020204020204" pitchFamily="34" charset="-122"/>
              </a:endParaRPr>
            </a:p>
          </p:txBody>
        </p:sp>
        <p:sp>
          <p:nvSpPr>
            <p:cNvPr id="55" name="Text 44">
              <a:extLst>
                <a:ext uri="{FF2B5EF4-FFF2-40B4-BE49-F238E27FC236}">
                  <a16:creationId xmlns:a16="http://schemas.microsoft.com/office/drawing/2014/main" id="{454261E3-4158-DB39-699D-BA5F557C947E}"/>
                </a:ext>
              </a:extLst>
            </p:cNvPr>
            <p:cNvSpPr/>
            <p:nvPr/>
          </p:nvSpPr>
          <p:spPr>
            <a:xfrm>
              <a:off x="6124047" y="3846872"/>
              <a:ext cx="1093206"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512</a:t>
              </a:r>
              <a:endParaRPr lang="en-US" dirty="0">
                <a:latin typeface="微软雅黑" panose="020B0503020204020204" pitchFamily="34" charset="-122"/>
                <a:ea typeface="微软雅黑" panose="020B0503020204020204" pitchFamily="34" charset="-122"/>
              </a:endParaRPr>
            </a:p>
          </p:txBody>
        </p:sp>
        <p:sp>
          <p:nvSpPr>
            <p:cNvPr id="56" name="Text 45">
              <a:extLst>
                <a:ext uri="{FF2B5EF4-FFF2-40B4-BE49-F238E27FC236}">
                  <a16:creationId xmlns:a16="http://schemas.microsoft.com/office/drawing/2014/main" id="{0B72DC9B-404E-4582-EC13-72D237027B47}"/>
                </a:ext>
              </a:extLst>
            </p:cNvPr>
            <p:cNvSpPr/>
            <p:nvPr/>
          </p:nvSpPr>
          <p:spPr>
            <a:xfrm>
              <a:off x="7217252" y="3846872"/>
              <a:ext cx="806252"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极高</a:t>
              </a:r>
              <a:endParaRPr lang="en-US" dirty="0">
                <a:latin typeface="微软雅黑" panose="020B0503020204020204" pitchFamily="34" charset="-122"/>
                <a:ea typeface="微软雅黑" panose="020B0503020204020204" pitchFamily="34" charset="-122"/>
              </a:endParaRPr>
            </a:p>
          </p:txBody>
        </p:sp>
        <p:sp>
          <p:nvSpPr>
            <p:cNvPr id="57" name="Text 46">
              <a:extLst>
                <a:ext uri="{FF2B5EF4-FFF2-40B4-BE49-F238E27FC236}">
                  <a16:creationId xmlns:a16="http://schemas.microsoft.com/office/drawing/2014/main" id="{7133D902-66E2-57F7-EF14-F59FDEA2CFED}"/>
                </a:ext>
              </a:extLst>
            </p:cNvPr>
            <p:cNvSpPr/>
            <p:nvPr/>
          </p:nvSpPr>
          <p:spPr>
            <a:xfrm>
              <a:off x="8023504" y="3708372"/>
              <a:ext cx="2003475" cy="639919"/>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密钥生成、高安全性应用</a:t>
              </a:r>
              <a:endParaRPr lang="en-US" dirty="0">
                <a:latin typeface="微软雅黑" panose="020B0503020204020204" pitchFamily="34" charset="-122"/>
                <a:ea typeface="微软雅黑" panose="020B0503020204020204" pitchFamily="34" charset="-122"/>
              </a:endParaRPr>
            </a:p>
          </p:txBody>
        </p:sp>
        <p:sp>
          <p:nvSpPr>
            <p:cNvPr id="58" name="Shape 47">
              <a:extLst>
                <a:ext uri="{FF2B5EF4-FFF2-40B4-BE49-F238E27FC236}">
                  <a16:creationId xmlns:a16="http://schemas.microsoft.com/office/drawing/2014/main" id="{253ECF6F-7E95-D4D9-52CF-A4E035F7C372}"/>
                </a:ext>
              </a:extLst>
            </p:cNvPr>
            <p:cNvSpPr/>
            <p:nvPr/>
          </p:nvSpPr>
          <p:spPr>
            <a:xfrm>
              <a:off x="5323442" y="4162418"/>
              <a:ext cx="4703538" cy="268171"/>
            </a:xfrm>
            <a:prstGeom prst="rect">
              <a:avLst/>
            </a:prstGeom>
            <a:solidFill>
              <a:srgbClr val="F8F9FA"/>
            </a:solidFill>
            <a:ln/>
          </p:spPr>
        </p:sp>
        <p:sp>
          <p:nvSpPr>
            <p:cNvPr id="59" name="Text 48">
              <a:extLst>
                <a:ext uri="{FF2B5EF4-FFF2-40B4-BE49-F238E27FC236}">
                  <a16:creationId xmlns:a16="http://schemas.microsoft.com/office/drawing/2014/main" id="{213ABA9C-89D8-2E31-7EFD-D28D11E77C7B}"/>
                </a:ext>
              </a:extLst>
            </p:cNvPr>
            <p:cNvSpPr/>
            <p:nvPr/>
          </p:nvSpPr>
          <p:spPr>
            <a:xfrm>
              <a:off x="5323442" y="4115043"/>
              <a:ext cx="800605"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SHA-3</a:t>
              </a:r>
              <a:endParaRPr lang="en-US" dirty="0">
                <a:latin typeface="微软雅黑" panose="020B0503020204020204" pitchFamily="34" charset="-122"/>
                <a:ea typeface="微软雅黑" panose="020B0503020204020204" pitchFamily="34" charset="-122"/>
              </a:endParaRPr>
            </a:p>
          </p:txBody>
        </p:sp>
        <p:sp>
          <p:nvSpPr>
            <p:cNvPr id="60" name="Text 49">
              <a:extLst>
                <a:ext uri="{FF2B5EF4-FFF2-40B4-BE49-F238E27FC236}">
                  <a16:creationId xmlns:a16="http://schemas.microsoft.com/office/drawing/2014/main" id="{9DED9033-A3D9-AF1D-B24C-3FB261FC21D8}"/>
                </a:ext>
              </a:extLst>
            </p:cNvPr>
            <p:cNvSpPr/>
            <p:nvPr/>
          </p:nvSpPr>
          <p:spPr>
            <a:xfrm>
              <a:off x="6124047" y="4115043"/>
              <a:ext cx="1093206"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224-512</a:t>
              </a:r>
              <a:endParaRPr lang="en-US" dirty="0">
                <a:latin typeface="微软雅黑" panose="020B0503020204020204" pitchFamily="34" charset="-122"/>
                <a:ea typeface="微软雅黑" panose="020B0503020204020204" pitchFamily="34" charset="-122"/>
              </a:endParaRPr>
            </a:p>
          </p:txBody>
        </p:sp>
        <p:sp>
          <p:nvSpPr>
            <p:cNvPr id="61" name="Text 50">
              <a:extLst>
                <a:ext uri="{FF2B5EF4-FFF2-40B4-BE49-F238E27FC236}">
                  <a16:creationId xmlns:a16="http://schemas.microsoft.com/office/drawing/2014/main" id="{D565DD91-C433-CFCA-7F33-17903D4CA1B6}"/>
                </a:ext>
              </a:extLst>
            </p:cNvPr>
            <p:cNvSpPr/>
            <p:nvPr/>
          </p:nvSpPr>
          <p:spPr>
            <a:xfrm>
              <a:off x="7217252" y="4115043"/>
              <a:ext cx="806252" cy="362920"/>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极高</a:t>
              </a:r>
              <a:endParaRPr lang="en-US" dirty="0">
                <a:latin typeface="微软雅黑" panose="020B0503020204020204" pitchFamily="34" charset="-122"/>
                <a:ea typeface="微软雅黑" panose="020B0503020204020204" pitchFamily="34" charset="-122"/>
              </a:endParaRPr>
            </a:p>
          </p:txBody>
        </p:sp>
        <p:sp>
          <p:nvSpPr>
            <p:cNvPr id="62" name="Text 51">
              <a:extLst>
                <a:ext uri="{FF2B5EF4-FFF2-40B4-BE49-F238E27FC236}">
                  <a16:creationId xmlns:a16="http://schemas.microsoft.com/office/drawing/2014/main" id="{3043C9FE-9AF4-4BE9-3979-345E4583CE23}"/>
                </a:ext>
              </a:extLst>
            </p:cNvPr>
            <p:cNvSpPr/>
            <p:nvPr/>
          </p:nvSpPr>
          <p:spPr>
            <a:xfrm>
              <a:off x="8023504" y="3976543"/>
              <a:ext cx="2003475" cy="639919"/>
            </a:xfrm>
            <a:prstGeom prst="rect">
              <a:avLst/>
            </a:prstGeom>
            <a:noFill/>
            <a:ln/>
          </p:spPr>
          <p:txBody>
            <a:bodyPr wrap="square" lIns="42545" tIns="42545" rIns="42545" bIns="42545"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未来应用、抗量子计算</a:t>
              </a:r>
              <a:endParaRPr 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612868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EA7DC-1EAE-E269-EE6D-50FE77AFCB6D}"/>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3807F7A8-21D5-6B5D-BD03-454F1AD03204}"/>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US" altLang="zh-CN" sz="2800" b="1" dirty="0">
                <a:solidFill>
                  <a:srgbClr val="002060"/>
                </a:solidFill>
                <a:latin typeface="微软雅黑" panose="020B0503020204020204" pitchFamily="34" charset="-122"/>
                <a:ea typeface="微软雅黑" panose="020B0503020204020204" pitchFamily="34" charset="-122"/>
              </a:rPr>
              <a:t>Hash</a:t>
            </a:r>
            <a:r>
              <a:rPr lang="zh-CN" altLang="en-US" sz="2800" b="1" dirty="0">
                <a:solidFill>
                  <a:srgbClr val="002060"/>
                </a:solidFill>
                <a:latin typeface="微软雅黑" panose="020B0503020204020204" pitchFamily="34" charset="-122"/>
                <a:ea typeface="微软雅黑" panose="020B0503020204020204" pitchFamily="34" charset="-122"/>
              </a:rPr>
              <a:t>函数</a:t>
            </a:r>
          </a:p>
        </p:txBody>
      </p:sp>
      <p:grpSp>
        <p:nvGrpSpPr>
          <p:cNvPr id="33" name="组合 2">
            <a:extLst>
              <a:ext uri="{FF2B5EF4-FFF2-40B4-BE49-F238E27FC236}">
                <a16:creationId xmlns:a16="http://schemas.microsoft.com/office/drawing/2014/main" id="{184F2564-815B-FAAE-2F1F-D62810B0973D}"/>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61E48430-0151-C696-FFA9-AD6A32978589}"/>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972031B4-869C-2360-F66B-E6975003C73B}"/>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4E0BE012-A3A5-795E-51B4-457E1D6E80B4}"/>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6A006D93-E4E8-F5E6-3DD3-9553A6F26B0D}"/>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国密算法</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SM3</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grpSp>
        <p:nvGrpSpPr>
          <p:cNvPr id="76" name="组合 75">
            <a:extLst>
              <a:ext uri="{FF2B5EF4-FFF2-40B4-BE49-F238E27FC236}">
                <a16:creationId xmlns:a16="http://schemas.microsoft.com/office/drawing/2014/main" id="{FE0D9A4A-DA31-2289-9AB4-5E4F9FCF62D5}"/>
              </a:ext>
            </a:extLst>
          </p:cNvPr>
          <p:cNvGrpSpPr/>
          <p:nvPr/>
        </p:nvGrpSpPr>
        <p:grpSpPr>
          <a:xfrm>
            <a:off x="153148" y="1711158"/>
            <a:ext cx="6793797" cy="2252120"/>
            <a:chOff x="377796" y="1711158"/>
            <a:chExt cx="8402311" cy="2252120"/>
          </a:xfrm>
        </p:grpSpPr>
        <p:sp>
          <p:nvSpPr>
            <p:cNvPr id="7" name="Shape 1">
              <a:extLst>
                <a:ext uri="{FF2B5EF4-FFF2-40B4-BE49-F238E27FC236}">
                  <a16:creationId xmlns:a16="http://schemas.microsoft.com/office/drawing/2014/main" id="{D8BACD9A-D83E-36F2-FD52-83BA59367889}"/>
                </a:ext>
              </a:extLst>
            </p:cNvPr>
            <p:cNvSpPr/>
            <p:nvPr/>
          </p:nvSpPr>
          <p:spPr>
            <a:xfrm>
              <a:off x="377796" y="1711158"/>
              <a:ext cx="8402311" cy="2252120"/>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Shape 2">
              <a:extLst>
                <a:ext uri="{FF2B5EF4-FFF2-40B4-BE49-F238E27FC236}">
                  <a16:creationId xmlns:a16="http://schemas.microsoft.com/office/drawing/2014/main" id="{E5C25DEA-13A0-2332-334E-FDC6457709EB}"/>
                </a:ext>
              </a:extLst>
            </p:cNvPr>
            <p:cNvSpPr/>
            <p:nvPr/>
          </p:nvSpPr>
          <p:spPr>
            <a:xfrm>
              <a:off x="377796" y="1711158"/>
              <a:ext cx="58349" cy="2252120"/>
            </a:xfrm>
            <a:prstGeom prst="rect">
              <a:avLst/>
            </a:prstGeom>
            <a:solidFill>
              <a:srgbClr val="3498DB"/>
            </a:solidFill>
            <a:ln/>
          </p:spPr>
        </p:sp>
        <p:sp>
          <p:nvSpPr>
            <p:cNvPr id="11" name="Text 3">
              <a:extLst>
                <a:ext uri="{FF2B5EF4-FFF2-40B4-BE49-F238E27FC236}">
                  <a16:creationId xmlns:a16="http://schemas.microsoft.com/office/drawing/2014/main" id="{5B39C76C-BECD-164D-E98F-76C4F38B16A9}"/>
                </a:ext>
              </a:extLst>
            </p:cNvPr>
            <p:cNvSpPr/>
            <p:nvPr/>
          </p:nvSpPr>
          <p:spPr>
            <a:xfrm>
              <a:off x="523670" y="1816551"/>
              <a:ext cx="2138144"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SM3算法简介</a:t>
              </a:r>
              <a:endParaRPr lang="en-US" dirty="0">
                <a:latin typeface="微软雅黑" panose="020B0503020204020204" pitchFamily="34" charset="-122"/>
                <a:ea typeface="微软雅黑" panose="020B0503020204020204" pitchFamily="34" charset="-122"/>
              </a:endParaRPr>
            </a:p>
          </p:txBody>
        </p:sp>
        <p:sp>
          <p:nvSpPr>
            <p:cNvPr id="13" name="Text 4">
              <a:extLst>
                <a:ext uri="{FF2B5EF4-FFF2-40B4-BE49-F238E27FC236}">
                  <a16:creationId xmlns:a16="http://schemas.microsoft.com/office/drawing/2014/main" id="{A434EDEB-3A12-6EE2-767C-A2BB810F73E6}"/>
                </a:ext>
              </a:extLst>
            </p:cNvPr>
            <p:cNvSpPr/>
            <p:nvPr/>
          </p:nvSpPr>
          <p:spPr>
            <a:xfrm>
              <a:off x="523670" y="2129513"/>
              <a:ext cx="8110564" cy="553999"/>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SM3是中国国家密码管理局发布的密码杂凑算法标准，用于生成消息摘要，是我国自主设计的杂凑函数。</a:t>
              </a:r>
              <a:endParaRPr lang="en-US" dirty="0">
                <a:latin typeface="微软雅黑" panose="020B0503020204020204" pitchFamily="34" charset="-122"/>
                <a:ea typeface="微软雅黑" panose="020B0503020204020204" pitchFamily="34" charset="-122"/>
              </a:endParaRPr>
            </a:p>
          </p:txBody>
        </p:sp>
        <p:sp>
          <p:nvSpPr>
            <p:cNvPr id="14" name="Text 5">
              <a:extLst>
                <a:ext uri="{FF2B5EF4-FFF2-40B4-BE49-F238E27FC236}">
                  <a16:creationId xmlns:a16="http://schemas.microsoft.com/office/drawing/2014/main" id="{B6B9F827-6A94-740C-BD9E-B4EF9993208C}"/>
                </a:ext>
              </a:extLst>
            </p:cNvPr>
            <p:cNvSpPr/>
            <p:nvPr/>
          </p:nvSpPr>
          <p:spPr>
            <a:xfrm>
              <a:off x="815417" y="2724664"/>
              <a:ext cx="7340959"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发布时间：2010年，标准号为GM/T 0004-2012</a:t>
              </a:r>
              <a:endParaRPr lang="en-US" dirty="0">
                <a:latin typeface="微软雅黑" panose="020B0503020204020204" pitchFamily="34" charset="-122"/>
                <a:ea typeface="微软雅黑" panose="020B0503020204020204" pitchFamily="34" charset="-122"/>
              </a:endParaRPr>
            </a:p>
          </p:txBody>
        </p:sp>
        <p:sp>
          <p:nvSpPr>
            <p:cNvPr id="22" name="Text 6">
              <a:extLst>
                <a:ext uri="{FF2B5EF4-FFF2-40B4-BE49-F238E27FC236}">
                  <a16:creationId xmlns:a16="http://schemas.microsoft.com/office/drawing/2014/main" id="{1DDA3C6B-B882-F4C0-A1E0-8D7D785CB3CB}"/>
                </a:ext>
              </a:extLst>
            </p:cNvPr>
            <p:cNvSpPr/>
            <p:nvPr/>
          </p:nvSpPr>
          <p:spPr>
            <a:xfrm>
              <a:off x="815417" y="3015262"/>
              <a:ext cx="441883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输出长度：256位（32字节）</a:t>
              </a:r>
              <a:endParaRPr lang="en-US" dirty="0">
                <a:latin typeface="微软雅黑" panose="020B0503020204020204" pitchFamily="34" charset="-122"/>
                <a:ea typeface="微软雅黑" panose="020B0503020204020204" pitchFamily="34" charset="-122"/>
              </a:endParaRPr>
            </a:p>
          </p:txBody>
        </p:sp>
        <p:sp>
          <p:nvSpPr>
            <p:cNvPr id="24" name="Text 7">
              <a:extLst>
                <a:ext uri="{FF2B5EF4-FFF2-40B4-BE49-F238E27FC236}">
                  <a16:creationId xmlns:a16="http://schemas.microsoft.com/office/drawing/2014/main" id="{CDDB825E-960F-1444-65F4-3A210B5D26DF}"/>
                </a:ext>
              </a:extLst>
            </p:cNvPr>
            <p:cNvSpPr/>
            <p:nvPr/>
          </p:nvSpPr>
          <p:spPr>
            <a:xfrm>
              <a:off x="815417" y="3305858"/>
              <a:ext cx="716506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分组长度：512位，采用Merkle-Damgård结构</a:t>
              </a:r>
              <a:endParaRPr lang="en-US" dirty="0">
                <a:latin typeface="微软雅黑" panose="020B0503020204020204" pitchFamily="34" charset="-122"/>
                <a:ea typeface="微软雅黑" panose="020B0503020204020204" pitchFamily="34" charset="-122"/>
              </a:endParaRPr>
            </a:p>
          </p:txBody>
        </p:sp>
        <p:sp>
          <p:nvSpPr>
            <p:cNvPr id="26" name="Text 8">
              <a:extLst>
                <a:ext uri="{FF2B5EF4-FFF2-40B4-BE49-F238E27FC236}">
                  <a16:creationId xmlns:a16="http://schemas.microsoft.com/office/drawing/2014/main" id="{6AF56C18-0E63-3F39-01F1-4655B4EC6DD5}"/>
                </a:ext>
              </a:extLst>
            </p:cNvPr>
            <p:cNvSpPr/>
            <p:nvPr/>
          </p:nvSpPr>
          <p:spPr>
            <a:xfrm>
              <a:off x="815417" y="3596454"/>
              <a:ext cx="548505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压缩函数：基于Feistel网络结构设计</a:t>
              </a:r>
              <a:endParaRPr lang="en-US" dirty="0">
                <a:latin typeface="微软雅黑" panose="020B0503020204020204" pitchFamily="34" charset="-122"/>
                <a:ea typeface="微软雅黑" panose="020B0503020204020204" pitchFamily="34" charset="-122"/>
              </a:endParaRPr>
            </a:p>
          </p:txBody>
        </p:sp>
      </p:grpSp>
      <p:sp>
        <p:nvSpPr>
          <p:cNvPr id="28" name="Shape 9">
            <a:extLst>
              <a:ext uri="{FF2B5EF4-FFF2-40B4-BE49-F238E27FC236}">
                <a16:creationId xmlns:a16="http://schemas.microsoft.com/office/drawing/2014/main" id="{BDC8B7A2-C213-71BE-2A4C-C78A502CE44C}"/>
              </a:ext>
            </a:extLst>
          </p:cNvPr>
          <p:cNvSpPr/>
          <p:nvPr/>
        </p:nvSpPr>
        <p:spPr>
          <a:xfrm>
            <a:off x="153148" y="4087818"/>
            <a:ext cx="6793797" cy="1961524"/>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Shape 10">
            <a:extLst>
              <a:ext uri="{FF2B5EF4-FFF2-40B4-BE49-F238E27FC236}">
                <a16:creationId xmlns:a16="http://schemas.microsoft.com/office/drawing/2014/main" id="{1BD5E499-6CCE-E4C1-ECBA-D52D949E0048}"/>
              </a:ext>
            </a:extLst>
          </p:cNvPr>
          <p:cNvSpPr/>
          <p:nvPr/>
        </p:nvSpPr>
        <p:spPr>
          <a:xfrm>
            <a:off x="153148" y="4087818"/>
            <a:ext cx="47179" cy="1961524"/>
          </a:xfrm>
          <a:prstGeom prst="rect">
            <a:avLst/>
          </a:prstGeom>
          <a:solidFill>
            <a:srgbClr val="3498DB"/>
          </a:solidFill>
          <a:ln/>
        </p:spPr>
        <p:txBody>
          <a:bodyPr/>
          <a:lstStyle/>
          <a:p>
            <a:endParaRPr lang="zh-CN" altLang="en-US"/>
          </a:p>
        </p:txBody>
      </p:sp>
      <p:sp>
        <p:nvSpPr>
          <p:cNvPr id="31" name="Text 11">
            <a:extLst>
              <a:ext uri="{FF2B5EF4-FFF2-40B4-BE49-F238E27FC236}">
                <a16:creationId xmlns:a16="http://schemas.microsoft.com/office/drawing/2014/main" id="{4CE5C773-8490-A57C-CE99-297F63EBF6ED}"/>
              </a:ext>
            </a:extLst>
          </p:cNvPr>
          <p:cNvSpPr/>
          <p:nvPr/>
        </p:nvSpPr>
        <p:spPr>
          <a:xfrm>
            <a:off x="299022" y="4193213"/>
            <a:ext cx="2138144"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SM3算法特点</a:t>
            </a:r>
            <a:endParaRPr lang="en-US" dirty="0">
              <a:latin typeface="微软雅黑" panose="020B0503020204020204" pitchFamily="34" charset="-122"/>
              <a:ea typeface="微软雅黑" panose="020B0503020204020204" pitchFamily="34" charset="-122"/>
            </a:endParaRPr>
          </a:p>
        </p:txBody>
      </p:sp>
      <p:sp>
        <p:nvSpPr>
          <p:cNvPr id="64" name="Text 12">
            <a:extLst>
              <a:ext uri="{FF2B5EF4-FFF2-40B4-BE49-F238E27FC236}">
                <a16:creationId xmlns:a16="http://schemas.microsoft.com/office/drawing/2014/main" id="{14A27188-DD10-294C-9E89-60C60204C41E}"/>
              </a:ext>
            </a:extLst>
          </p:cNvPr>
          <p:cNvSpPr/>
          <p:nvPr/>
        </p:nvSpPr>
        <p:spPr>
          <a:xfrm>
            <a:off x="590769" y="4518836"/>
            <a:ext cx="2052618"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自主知识产权</a:t>
            </a:r>
            <a:endParaRPr lang="en-US" dirty="0">
              <a:latin typeface="微软雅黑" panose="020B0503020204020204" pitchFamily="34" charset="-122"/>
              <a:ea typeface="微软雅黑" panose="020B0503020204020204" pitchFamily="34" charset="-122"/>
            </a:endParaRPr>
          </a:p>
        </p:txBody>
      </p:sp>
      <p:sp>
        <p:nvSpPr>
          <p:cNvPr id="65" name="Text 13">
            <a:extLst>
              <a:ext uri="{FF2B5EF4-FFF2-40B4-BE49-F238E27FC236}">
                <a16:creationId xmlns:a16="http://schemas.microsoft.com/office/drawing/2014/main" id="{5ADFD828-0E55-C50C-AA72-129DCCA13BB2}"/>
              </a:ext>
            </a:extLst>
          </p:cNvPr>
          <p:cNvSpPr/>
          <p:nvPr/>
        </p:nvSpPr>
        <p:spPr>
          <a:xfrm>
            <a:off x="1991155" y="4518836"/>
            <a:ext cx="410523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：完全自主设计的杂凑算法</a:t>
            </a:r>
            <a:endParaRPr lang="en-US" dirty="0">
              <a:latin typeface="微软雅黑" panose="020B0503020204020204" pitchFamily="34" charset="-122"/>
              <a:ea typeface="微软雅黑" panose="020B0503020204020204" pitchFamily="34" charset="-122"/>
            </a:endParaRPr>
          </a:p>
        </p:txBody>
      </p:sp>
      <p:sp>
        <p:nvSpPr>
          <p:cNvPr id="66" name="Text 14">
            <a:extLst>
              <a:ext uri="{FF2B5EF4-FFF2-40B4-BE49-F238E27FC236}">
                <a16:creationId xmlns:a16="http://schemas.microsoft.com/office/drawing/2014/main" id="{00BC81D0-9083-BCC4-648F-DC5DBDDBA0A1}"/>
              </a:ext>
            </a:extLst>
          </p:cNvPr>
          <p:cNvSpPr/>
          <p:nvPr/>
        </p:nvSpPr>
        <p:spPr>
          <a:xfrm>
            <a:off x="590769" y="4809432"/>
            <a:ext cx="1368412"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高安全性</a:t>
            </a:r>
            <a:endParaRPr lang="en-US" dirty="0">
              <a:latin typeface="微软雅黑" panose="020B0503020204020204" pitchFamily="34" charset="-122"/>
              <a:ea typeface="微软雅黑" panose="020B0503020204020204" pitchFamily="34" charset="-122"/>
            </a:endParaRPr>
          </a:p>
        </p:txBody>
      </p:sp>
      <p:sp>
        <p:nvSpPr>
          <p:cNvPr id="68" name="Text 15">
            <a:extLst>
              <a:ext uri="{FF2B5EF4-FFF2-40B4-BE49-F238E27FC236}">
                <a16:creationId xmlns:a16="http://schemas.microsoft.com/office/drawing/2014/main" id="{55A260DD-FADF-6AFE-886A-DD0008884994}"/>
              </a:ext>
            </a:extLst>
          </p:cNvPr>
          <p:cNvSpPr/>
          <p:nvPr/>
        </p:nvSpPr>
        <p:spPr>
          <a:xfrm>
            <a:off x="1524360" y="4809432"/>
            <a:ext cx="4447338"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：抵抗碰撞攻击、原像攻击等</a:t>
            </a:r>
            <a:endParaRPr lang="en-US" dirty="0">
              <a:latin typeface="微软雅黑" panose="020B0503020204020204" pitchFamily="34" charset="-122"/>
              <a:ea typeface="微软雅黑" panose="020B0503020204020204" pitchFamily="34" charset="-122"/>
            </a:endParaRPr>
          </a:p>
        </p:txBody>
      </p:sp>
      <p:sp>
        <p:nvSpPr>
          <p:cNvPr id="69" name="Text 16">
            <a:extLst>
              <a:ext uri="{FF2B5EF4-FFF2-40B4-BE49-F238E27FC236}">
                <a16:creationId xmlns:a16="http://schemas.microsoft.com/office/drawing/2014/main" id="{D91BF389-A32F-8E9C-BDB6-149B3B5D0534}"/>
              </a:ext>
            </a:extLst>
          </p:cNvPr>
          <p:cNvSpPr/>
          <p:nvPr/>
        </p:nvSpPr>
        <p:spPr>
          <a:xfrm>
            <a:off x="590769" y="5100028"/>
            <a:ext cx="1026308"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高效率</a:t>
            </a:r>
            <a:endParaRPr lang="en-US" dirty="0">
              <a:latin typeface="微软雅黑" panose="020B0503020204020204" pitchFamily="34" charset="-122"/>
              <a:ea typeface="微软雅黑" panose="020B0503020204020204" pitchFamily="34" charset="-122"/>
            </a:endParaRPr>
          </a:p>
        </p:txBody>
      </p:sp>
      <p:sp>
        <p:nvSpPr>
          <p:cNvPr id="70" name="Text 17">
            <a:extLst>
              <a:ext uri="{FF2B5EF4-FFF2-40B4-BE49-F238E27FC236}">
                <a16:creationId xmlns:a16="http://schemas.microsoft.com/office/drawing/2014/main" id="{DDF621DE-8DD9-82C3-68D4-DCCB9BA96811}"/>
              </a:ext>
            </a:extLst>
          </p:cNvPr>
          <p:cNvSpPr/>
          <p:nvPr/>
        </p:nvSpPr>
        <p:spPr>
          <a:xfrm>
            <a:off x="1290962" y="5100028"/>
            <a:ext cx="3078928"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：软硬件实现效率高</a:t>
            </a:r>
            <a:endParaRPr lang="en-US" dirty="0">
              <a:latin typeface="微软雅黑" panose="020B0503020204020204" pitchFamily="34" charset="-122"/>
              <a:ea typeface="微软雅黑" panose="020B0503020204020204" pitchFamily="34" charset="-122"/>
            </a:endParaRPr>
          </a:p>
        </p:txBody>
      </p:sp>
      <p:sp>
        <p:nvSpPr>
          <p:cNvPr id="71" name="Text 18">
            <a:extLst>
              <a:ext uri="{FF2B5EF4-FFF2-40B4-BE49-F238E27FC236}">
                <a16:creationId xmlns:a16="http://schemas.microsoft.com/office/drawing/2014/main" id="{8A556452-B89F-197E-9602-F264C904521E}"/>
              </a:ext>
            </a:extLst>
          </p:cNvPr>
          <p:cNvSpPr/>
          <p:nvPr/>
        </p:nvSpPr>
        <p:spPr>
          <a:xfrm>
            <a:off x="590769" y="5390624"/>
            <a:ext cx="1026308"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标准化</a:t>
            </a:r>
            <a:endParaRPr lang="en-US" dirty="0">
              <a:latin typeface="微软雅黑" panose="020B0503020204020204" pitchFamily="34" charset="-122"/>
              <a:ea typeface="微软雅黑" panose="020B0503020204020204" pitchFamily="34" charset="-122"/>
            </a:endParaRPr>
          </a:p>
        </p:txBody>
      </p:sp>
      <p:sp>
        <p:nvSpPr>
          <p:cNvPr id="72" name="Text 19">
            <a:extLst>
              <a:ext uri="{FF2B5EF4-FFF2-40B4-BE49-F238E27FC236}">
                <a16:creationId xmlns:a16="http://schemas.microsoft.com/office/drawing/2014/main" id="{1E2CCA2D-E2D4-121C-5905-11015F2A0BBC}"/>
              </a:ext>
            </a:extLst>
          </p:cNvPr>
          <p:cNvSpPr/>
          <p:nvPr/>
        </p:nvSpPr>
        <p:spPr>
          <a:xfrm>
            <a:off x="1290962" y="5390624"/>
            <a:ext cx="342103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：国家标准和行业标准</a:t>
            </a:r>
            <a:endParaRPr lang="en-US" dirty="0">
              <a:latin typeface="微软雅黑" panose="020B0503020204020204" pitchFamily="34" charset="-122"/>
              <a:ea typeface="微软雅黑" panose="020B0503020204020204" pitchFamily="34" charset="-122"/>
            </a:endParaRPr>
          </a:p>
        </p:txBody>
      </p:sp>
      <p:sp>
        <p:nvSpPr>
          <p:cNvPr id="73" name="Text 20">
            <a:extLst>
              <a:ext uri="{FF2B5EF4-FFF2-40B4-BE49-F238E27FC236}">
                <a16:creationId xmlns:a16="http://schemas.microsoft.com/office/drawing/2014/main" id="{884B9D65-DA07-B0A7-81EC-8FA886AC0F06}"/>
              </a:ext>
            </a:extLst>
          </p:cNvPr>
          <p:cNvSpPr/>
          <p:nvPr/>
        </p:nvSpPr>
        <p:spPr>
          <a:xfrm>
            <a:off x="590769" y="5681220"/>
            <a:ext cx="1368412"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广泛应用</a:t>
            </a:r>
            <a:endParaRPr lang="en-US" dirty="0">
              <a:latin typeface="微软雅黑" panose="020B0503020204020204" pitchFamily="34" charset="-122"/>
              <a:ea typeface="微软雅黑" panose="020B0503020204020204" pitchFamily="34" charset="-122"/>
            </a:endParaRPr>
          </a:p>
        </p:txBody>
      </p:sp>
      <p:sp>
        <p:nvSpPr>
          <p:cNvPr id="74" name="Text 21">
            <a:extLst>
              <a:ext uri="{FF2B5EF4-FFF2-40B4-BE49-F238E27FC236}">
                <a16:creationId xmlns:a16="http://schemas.microsoft.com/office/drawing/2014/main" id="{9E949D6F-6C56-F64E-B3C2-B90D7B9AA121}"/>
              </a:ext>
            </a:extLst>
          </p:cNvPr>
          <p:cNvSpPr/>
          <p:nvPr/>
        </p:nvSpPr>
        <p:spPr>
          <a:xfrm>
            <a:off x="1524360" y="5681220"/>
            <a:ext cx="454236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：与SM2、SM4算法配套使用</a:t>
            </a:r>
            <a:endParaRPr lang="en-US" dirty="0">
              <a:latin typeface="微软雅黑" panose="020B0503020204020204" pitchFamily="34" charset="-122"/>
              <a:ea typeface="微软雅黑" panose="020B0503020204020204" pitchFamily="34" charset="-122"/>
            </a:endParaRPr>
          </a:p>
        </p:txBody>
      </p:sp>
      <p:sp>
        <p:nvSpPr>
          <p:cNvPr id="78" name="object 5">
            <a:extLst>
              <a:ext uri="{FF2B5EF4-FFF2-40B4-BE49-F238E27FC236}">
                <a16:creationId xmlns:a16="http://schemas.microsoft.com/office/drawing/2014/main" id="{939AB3DE-A808-011C-3CC0-F7C2813C84D6}"/>
              </a:ext>
            </a:extLst>
          </p:cNvPr>
          <p:cNvSpPr/>
          <p:nvPr/>
        </p:nvSpPr>
        <p:spPr>
          <a:xfrm>
            <a:off x="7253610" y="3137420"/>
            <a:ext cx="4572000" cy="1810511"/>
          </a:xfrm>
          <a:prstGeom prst="rect">
            <a:avLst/>
          </a:prstGeom>
          <a:blipFill>
            <a:blip r:embed="rId3"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1443734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7BF1D-7A99-DE56-9819-2D26D4952AC4}"/>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109DEC7C-CFF9-4AEF-7528-C7D436C29C65}"/>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en-US" altLang="zh-CN" sz="2800" b="1" dirty="0">
                <a:solidFill>
                  <a:srgbClr val="002060"/>
                </a:solidFill>
                <a:latin typeface="微软雅黑" panose="020B0503020204020204" pitchFamily="34" charset="-122"/>
                <a:ea typeface="微软雅黑" panose="020B0503020204020204" pitchFamily="34" charset="-122"/>
              </a:rPr>
              <a:t>Hash</a:t>
            </a:r>
            <a:r>
              <a:rPr lang="zh-CN" altLang="en-US" sz="2800" b="1" dirty="0">
                <a:solidFill>
                  <a:srgbClr val="002060"/>
                </a:solidFill>
                <a:latin typeface="微软雅黑" panose="020B0503020204020204" pitchFamily="34" charset="-122"/>
                <a:ea typeface="微软雅黑" panose="020B0503020204020204" pitchFamily="34" charset="-122"/>
              </a:rPr>
              <a:t>函数</a:t>
            </a:r>
          </a:p>
        </p:txBody>
      </p:sp>
      <p:grpSp>
        <p:nvGrpSpPr>
          <p:cNvPr id="33" name="组合 2">
            <a:extLst>
              <a:ext uri="{FF2B5EF4-FFF2-40B4-BE49-F238E27FC236}">
                <a16:creationId xmlns:a16="http://schemas.microsoft.com/office/drawing/2014/main" id="{AF01D2E3-B56C-64DC-5CAA-A7EFF7A31AF4}"/>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07A98F2C-E496-E1FA-330B-7CECDA76D374}"/>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22C5476D-25DC-E76B-293E-C677A7FE5103}"/>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13D4BC42-C17A-4A84-00C7-46038D54E429}"/>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EB6FD3E0-20E7-873D-5C55-279BEED0206E}"/>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杂凑算法比较</a:t>
              </a:r>
            </a:p>
          </p:txBody>
        </p:sp>
      </p:grpSp>
      <p:pic>
        <p:nvPicPr>
          <p:cNvPr id="7" name="图片 6">
            <a:extLst>
              <a:ext uri="{FF2B5EF4-FFF2-40B4-BE49-F238E27FC236}">
                <a16:creationId xmlns:a16="http://schemas.microsoft.com/office/drawing/2014/main" id="{7F0DBE59-0AE9-6068-4031-790A16C80D73}"/>
              </a:ext>
            </a:extLst>
          </p:cNvPr>
          <p:cNvPicPr>
            <a:picLocks noChangeAspect="1"/>
          </p:cNvPicPr>
          <p:nvPr/>
        </p:nvPicPr>
        <p:blipFill>
          <a:blip r:embed="rId3"/>
          <a:stretch>
            <a:fillRect/>
          </a:stretch>
        </p:blipFill>
        <p:spPr>
          <a:xfrm>
            <a:off x="1308100" y="1756843"/>
            <a:ext cx="9575800" cy="4408221"/>
          </a:xfrm>
          <a:prstGeom prst="rect">
            <a:avLst/>
          </a:prstGeom>
        </p:spPr>
      </p:pic>
    </p:spTree>
    <p:extLst>
      <p:ext uri="{BB962C8B-B14F-4D97-AF65-F5344CB8AC3E}">
        <p14:creationId xmlns:p14="http://schemas.microsoft.com/office/powerpoint/2010/main" val="755626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2D2C6-3DAA-9683-6519-2AEB25BDD45D}"/>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772DA06B-8187-2569-5F77-ECAA7E0229BD}"/>
              </a:ext>
            </a:extLst>
          </p:cNvPr>
          <p:cNvSpPr/>
          <p:nvPr/>
        </p:nvSpPr>
        <p:spPr>
          <a:xfrm>
            <a:off x="-4445" y="130331"/>
            <a:ext cx="12196445" cy="835998"/>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4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目录</a:t>
            </a:r>
            <a:endParaRPr kumimoji="0" lang="en-US" altLang="zh-CN" sz="4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010E0F82-72AE-2A00-9C33-3195E211C8C3}"/>
              </a:ext>
            </a:extLst>
          </p:cNvPr>
          <p:cNvSpPr txBox="1"/>
          <p:nvPr>
            <p:custDataLst>
              <p:tags r:id="rId1"/>
            </p:custDataLst>
          </p:nvPr>
        </p:nvSpPr>
        <p:spPr>
          <a:xfrm>
            <a:off x="0" y="1180323"/>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alt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EC07F103-34E8-D436-FE2F-D2239B30012A}"/>
              </a:ext>
            </a:extLst>
          </p:cNvPr>
          <p:cNvSpPr txBox="1"/>
          <p:nvPr/>
        </p:nvSpPr>
        <p:spPr>
          <a:xfrm>
            <a:off x="4544504" y="2066722"/>
            <a:ext cx="3098545" cy="2820131"/>
          </a:xfrm>
          <a:prstGeom prst="rect">
            <a:avLst/>
          </a:prstGeom>
          <a:noFill/>
        </p:spPr>
        <p:txBody>
          <a:bodyPr wrap="square" rtlCol="0">
            <a:spAutoFit/>
          </a:bodyPr>
          <a:lstStyle/>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密码学发展简介</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Shannon</a:t>
            </a:r>
            <a:r>
              <a:rPr lang="zh-CN" altLang="en-US" sz="2400" dirty="0">
                <a:solidFill>
                  <a:srgbClr val="002060"/>
                </a:solidFill>
                <a:latin typeface="微软雅黑" panose="020B0503020204020204" pitchFamily="34" charset="-122"/>
                <a:ea typeface="微软雅黑" panose="020B0503020204020204" pitchFamily="34" charset="-122"/>
              </a:rPr>
              <a:t>理论</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Hash</a:t>
            </a:r>
            <a:r>
              <a:rPr lang="zh-CN" altLang="en-US" sz="2400" dirty="0">
                <a:solidFill>
                  <a:srgbClr val="002060"/>
                </a:solidFill>
                <a:latin typeface="微软雅黑" panose="020B0503020204020204" pitchFamily="34" charset="-122"/>
                <a:ea typeface="微软雅黑" panose="020B0503020204020204" pitchFamily="34" charset="-122"/>
              </a:rPr>
              <a:t>函数</a:t>
            </a:r>
          </a:p>
          <a:p>
            <a:pPr marL="457200" indent="-457200">
              <a:lnSpc>
                <a:spcPct val="125000"/>
              </a:lnSpc>
              <a:buFont typeface="+mj-ea"/>
              <a:buAutoNum type="circleNumDbPlain"/>
            </a:pPr>
            <a:r>
              <a:rPr lang="zh-CN" altLang="en-US" sz="2400" b="1" dirty="0">
                <a:solidFill>
                  <a:srgbClr val="002060"/>
                </a:solidFill>
                <a:latin typeface="微软雅黑" panose="020B0503020204020204" pitchFamily="34" charset="-122"/>
                <a:ea typeface="微软雅黑" panose="020B0503020204020204" pitchFamily="34" charset="-122"/>
              </a:rPr>
              <a:t>对称密码算法</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非对称密码算法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密码协议</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044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2A5F2-9422-87EE-3865-2C2381A5563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DD00DB6C-4C04-ADE8-172F-90DDA4E924CC}"/>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对称密码算法</a:t>
            </a:r>
          </a:p>
        </p:txBody>
      </p:sp>
      <p:grpSp>
        <p:nvGrpSpPr>
          <p:cNvPr id="33" name="组合 2">
            <a:extLst>
              <a:ext uri="{FF2B5EF4-FFF2-40B4-BE49-F238E27FC236}">
                <a16:creationId xmlns:a16="http://schemas.microsoft.com/office/drawing/2014/main" id="{E5BF9FCB-D7BA-7E1C-D1EE-07051153B6F3}"/>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1517A630-D7CE-973F-DDC1-E50654B3CBED}"/>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58766276-B99D-814A-B068-009A9A5C52C3}"/>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FBF84838-4EE1-B10A-C73D-930F72DB5A79}"/>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01AAD370-A690-3A04-47EA-1EEA77FF6347}"/>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对称密码算法简介</a:t>
              </a:r>
            </a:p>
          </p:txBody>
        </p:sp>
      </p:grpSp>
      <p:sp>
        <p:nvSpPr>
          <p:cNvPr id="3" name="Shape 1">
            <a:extLst>
              <a:ext uri="{FF2B5EF4-FFF2-40B4-BE49-F238E27FC236}">
                <a16:creationId xmlns:a16="http://schemas.microsoft.com/office/drawing/2014/main" id="{D64BFC4D-93FF-F881-3F48-2F1C264B0AFC}"/>
              </a:ext>
            </a:extLst>
          </p:cNvPr>
          <p:cNvSpPr/>
          <p:nvPr/>
        </p:nvSpPr>
        <p:spPr>
          <a:xfrm>
            <a:off x="1877599" y="1549394"/>
            <a:ext cx="8436802" cy="1123393"/>
          </a:xfrm>
          <a:prstGeom prst="rect">
            <a:avLst/>
          </a:prstGeom>
          <a:solidFill>
            <a:srgbClr val="F8F9FA"/>
          </a:solidFill>
          <a:ln/>
        </p:spPr>
        <p:txBody>
          <a:bodyPr/>
          <a:lstStyle/>
          <a:p>
            <a:endParaRPr lang="zh-CN" altLang="en-US"/>
          </a:p>
        </p:txBody>
      </p:sp>
      <p:sp>
        <p:nvSpPr>
          <p:cNvPr id="4" name="Shape 2">
            <a:extLst>
              <a:ext uri="{FF2B5EF4-FFF2-40B4-BE49-F238E27FC236}">
                <a16:creationId xmlns:a16="http://schemas.microsoft.com/office/drawing/2014/main" id="{85EBCFC3-6E29-694E-8E03-DD4E4588D0E9}"/>
              </a:ext>
            </a:extLst>
          </p:cNvPr>
          <p:cNvSpPr/>
          <p:nvPr/>
        </p:nvSpPr>
        <p:spPr>
          <a:xfrm>
            <a:off x="1877599" y="1549394"/>
            <a:ext cx="58589" cy="1123393"/>
          </a:xfrm>
          <a:prstGeom prst="rect">
            <a:avLst/>
          </a:prstGeom>
          <a:solidFill>
            <a:srgbClr val="3498DB"/>
          </a:solidFill>
          <a:ln/>
        </p:spPr>
      </p:sp>
      <p:sp>
        <p:nvSpPr>
          <p:cNvPr id="5" name="Text 3">
            <a:extLst>
              <a:ext uri="{FF2B5EF4-FFF2-40B4-BE49-F238E27FC236}">
                <a16:creationId xmlns:a16="http://schemas.microsoft.com/office/drawing/2014/main" id="{C03D62E2-04C7-E287-3755-9AA3E3A63F5F}"/>
              </a:ext>
            </a:extLst>
          </p:cNvPr>
          <p:cNvSpPr/>
          <p:nvPr/>
        </p:nvSpPr>
        <p:spPr>
          <a:xfrm>
            <a:off x="2097307" y="1650428"/>
            <a:ext cx="1519990" cy="369149"/>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对称密码定义</a:t>
            </a:r>
            <a:endParaRPr lang="en-US" dirty="0"/>
          </a:p>
        </p:txBody>
      </p:sp>
      <p:sp>
        <p:nvSpPr>
          <p:cNvPr id="6" name="Text 4">
            <a:extLst>
              <a:ext uri="{FF2B5EF4-FFF2-40B4-BE49-F238E27FC236}">
                <a16:creationId xmlns:a16="http://schemas.microsoft.com/office/drawing/2014/main" id="{0D721BF2-4CA0-AA2F-2239-AD9AB2C0BEEF}"/>
              </a:ext>
            </a:extLst>
          </p:cNvPr>
          <p:cNvSpPr/>
          <p:nvPr/>
        </p:nvSpPr>
        <p:spPr>
          <a:xfrm>
            <a:off x="2097307" y="1932347"/>
            <a:ext cx="7997386" cy="738298"/>
          </a:xfrm>
          <a:prstGeom prst="rect">
            <a:avLst/>
          </a:prstGeom>
          <a:noFill/>
          <a:ln/>
        </p:spPr>
        <p:txBody>
          <a:bodyPr wrap="squar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对称密码是使用相同密钥进行加密和解密的密码系统。加密方和解密方必须事先协商并安全地共享密钥。</a:t>
            </a:r>
            <a:endParaRPr lang="en-US" dirty="0"/>
          </a:p>
        </p:txBody>
      </p:sp>
      <p:sp>
        <p:nvSpPr>
          <p:cNvPr id="7" name="Shape 5">
            <a:extLst>
              <a:ext uri="{FF2B5EF4-FFF2-40B4-BE49-F238E27FC236}">
                <a16:creationId xmlns:a16="http://schemas.microsoft.com/office/drawing/2014/main" id="{B3F7200E-C74C-69D2-44E5-D8FB1F8ED8A0}"/>
              </a:ext>
            </a:extLst>
          </p:cNvPr>
          <p:cNvSpPr/>
          <p:nvPr/>
        </p:nvSpPr>
        <p:spPr>
          <a:xfrm>
            <a:off x="1877599" y="2863192"/>
            <a:ext cx="8436802" cy="1808853"/>
          </a:xfrm>
          <a:prstGeom prst="rect">
            <a:avLst/>
          </a:prstGeom>
          <a:solidFill>
            <a:srgbClr val="F8F9FA"/>
          </a:solidFill>
          <a:ln/>
        </p:spPr>
        <p:txBody>
          <a:bodyPr/>
          <a:lstStyle/>
          <a:p>
            <a:endParaRPr lang="zh-CN" altLang="en-US"/>
          </a:p>
        </p:txBody>
      </p:sp>
      <p:sp>
        <p:nvSpPr>
          <p:cNvPr id="8" name="Shape 6">
            <a:extLst>
              <a:ext uri="{FF2B5EF4-FFF2-40B4-BE49-F238E27FC236}">
                <a16:creationId xmlns:a16="http://schemas.microsoft.com/office/drawing/2014/main" id="{7D360DA3-5A9D-558E-3176-181B85522AB0}"/>
              </a:ext>
            </a:extLst>
          </p:cNvPr>
          <p:cNvSpPr/>
          <p:nvPr/>
        </p:nvSpPr>
        <p:spPr>
          <a:xfrm>
            <a:off x="1877599" y="2863192"/>
            <a:ext cx="58589" cy="1808853"/>
          </a:xfrm>
          <a:prstGeom prst="rect">
            <a:avLst/>
          </a:prstGeom>
          <a:solidFill>
            <a:srgbClr val="3498DB"/>
          </a:solidFill>
          <a:ln/>
        </p:spPr>
      </p:sp>
      <p:sp>
        <p:nvSpPr>
          <p:cNvPr id="9" name="Text 7">
            <a:extLst>
              <a:ext uri="{FF2B5EF4-FFF2-40B4-BE49-F238E27FC236}">
                <a16:creationId xmlns:a16="http://schemas.microsoft.com/office/drawing/2014/main" id="{3DFE51A3-E2E3-94B6-C22E-B1138232C73F}"/>
              </a:ext>
            </a:extLst>
          </p:cNvPr>
          <p:cNvSpPr/>
          <p:nvPr/>
        </p:nvSpPr>
        <p:spPr>
          <a:xfrm>
            <a:off x="2097307" y="2964225"/>
            <a:ext cx="2279985" cy="369149"/>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对称密码的数学表示</a:t>
            </a:r>
            <a:endParaRPr lang="en-US" dirty="0"/>
          </a:p>
        </p:txBody>
      </p:sp>
      <p:sp>
        <p:nvSpPr>
          <p:cNvPr id="10" name="Text 8">
            <a:extLst>
              <a:ext uri="{FF2B5EF4-FFF2-40B4-BE49-F238E27FC236}">
                <a16:creationId xmlns:a16="http://schemas.microsoft.com/office/drawing/2014/main" id="{F273ACA7-D2FA-BF64-2DBB-24F0139B5115}"/>
              </a:ext>
            </a:extLst>
          </p:cNvPr>
          <p:cNvSpPr/>
          <p:nvPr/>
        </p:nvSpPr>
        <p:spPr>
          <a:xfrm>
            <a:off x="2097307" y="3316476"/>
            <a:ext cx="5548667" cy="369149"/>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如果E是加密算法，D是解密算法，K是密钥，则：</a:t>
            </a:r>
            <a:endParaRPr lang="en-US" dirty="0"/>
          </a:p>
        </p:txBody>
      </p:sp>
      <p:sp>
        <p:nvSpPr>
          <p:cNvPr id="11" name="Text 9">
            <a:extLst>
              <a:ext uri="{FF2B5EF4-FFF2-40B4-BE49-F238E27FC236}">
                <a16:creationId xmlns:a16="http://schemas.microsoft.com/office/drawing/2014/main" id="{37F068B7-530A-8D35-7F77-BC0BA8577CA8}"/>
              </a:ext>
            </a:extLst>
          </p:cNvPr>
          <p:cNvSpPr/>
          <p:nvPr/>
        </p:nvSpPr>
        <p:spPr>
          <a:xfrm>
            <a:off x="2097307" y="3621125"/>
            <a:ext cx="1947489" cy="369149"/>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加密：C = E(K, P)</a:t>
            </a:r>
            <a:endParaRPr lang="en-US" dirty="0"/>
          </a:p>
        </p:txBody>
      </p:sp>
      <p:sp>
        <p:nvSpPr>
          <p:cNvPr id="13" name="Text 10">
            <a:extLst>
              <a:ext uri="{FF2B5EF4-FFF2-40B4-BE49-F238E27FC236}">
                <a16:creationId xmlns:a16="http://schemas.microsoft.com/office/drawing/2014/main" id="{2C23D030-AA01-0F6C-CE18-E43F1B0DEAAE}"/>
              </a:ext>
            </a:extLst>
          </p:cNvPr>
          <p:cNvSpPr/>
          <p:nvPr/>
        </p:nvSpPr>
        <p:spPr>
          <a:xfrm>
            <a:off x="2097307" y="3925774"/>
            <a:ext cx="1991467" cy="369149"/>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解密：P = D(K, C)</a:t>
            </a:r>
            <a:endParaRPr lang="en-US" dirty="0"/>
          </a:p>
        </p:txBody>
      </p:sp>
      <p:sp>
        <p:nvSpPr>
          <p:cNvPr id="14" name="Text 11">
            <a:extLst>
              <a:ext uri="{FF2B5EF4-FFF2-40B4-BE49-F238E27FC236}">
                <a16:creationId xmlns:a16="http://schemas.microsoft.com/office/drawing/2014/main" id="{C4E89CEB-24E7-6199-114B-969AFFB91A0F}"/>
              </a:ext>
            </a:extLst>
          </p:cNvPr>
          <p:cNvSpPr/>
          <p:nvPr/>
        </p:nvSpPr>
        <p:spPr>
          <a:xfrm>
            <a:off x="2097307" y="4230423"/>
            <a:ext cx="2846463" cy="369149"/>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其中P是明文，C是密文。</a:t>
            </a:r>
            <a:endParaRPr lang="en-US" dirty="0"/>
          </a:p>
        </p:txBody>
      </p:sp>
      <p:sp>
        <p:nvSpPr>
          <p:cNvPr id="15" name="Shape 12">
            <a:extLst>
              <a:ext uri="{FF2B5EF4-FFF2-40B4-BE49-F238E27FC236}">
                <a16:creationId xmlns:a16="http://schemas.microsoft.com/office/drawing/2014/main" id="{497556CF-5459-9B5B-43AA-2CC2DA4E93AC}"/>
              </a:ext>
            </a:extLst>
          </p:cNvPr>
          <p:cNvSpPr/>
          <p:nvPr/>
        </p:nvSpPr>
        <p:spPr>
          <a:xfrm>
            <a:off x="1877599" y="4862450"/>
            <a:ext cx="8436802" cy="1700275"/>
          </a:xfrm>
          <a:prstGeom prst="rect">
            <a:avLst/>
          </a:prstGeom>
          <a:solidFill>
            <a:srgbClr val="F8F9FA"/>
          </a:solidFill>
          <a:ln/>
        </p:spPr>
        <p:txBody>
          <a:bodyPr/>
          <a:lstStyle/>
          <a:p>
            <a:endParaRPr lang="zh-CN" altLang="en-US"/>
          </a:p>
        </p:txBody>
      </p:sp>
      <p:sp>
        <p:nvSpPr>
          <p:cNvPr id="16" name="Shape 13">
            <a:extLst>
              <a:ext uri="{FF2B5EF4-FFF2-40B4-BE49-F238E27FC236}">
                <a16:creationId xmlns:a16="http://schemas.microsoft.com/office/drawing/2014/main" id="{6E64A1E3-0668-5D55-1200-CF8D415849F5}"/>
              </a:ext>
            </a:extLst>
          </p:cNvPr>
          <p:cNvSpPr/>
          <p:nvPr/>
        </p:nvSpPr>
        <p:spPr>
          <a:xfrm>
            <a:off x="1877599" y="4862451"/>
            <a:ext cx="58589" cy="1700274"/>
          </a:xfrm>
          <a:prstGeom prst="rect">
            <a:avLst/>
          </a:prstGeom>
          <a:solidFill>
            <a:srgbClr val="3498DB"/>
          </a:solidFill>
          <a:ln/>
        </p:spPr>
        <p:txBody>
          <a:bodyPr/>
          <a:lstStyle/>
          <a:p>
            <a:endParaRPr lang="zh-CN" altLang="en-US"/>
          </a:p>
        </p:txBody>
      </p:sp>
      <p:sp>
        <p:nvSpPr>
          <p:cNvPr id="17" name="Text 14">
            <a:extLst>
              <a:ext uri="{FF2B5EF4-FFF2-40B4-BE49-F238E27FC236}">
                <a16:creationId xmlns:a16="http://schemas.microsoft.com/office/drawing/2014/main" id="{A2C5CDD4-F024-276D-4E6D-DEE2455EE481}"/>
              </a:ext>
            </a:extLst>
          </p:cNvPr>
          <p:cNvSpPr/>
          <p:nvPr/>
        </p:nvSpPr>
        <p:spPr>
          <a:xfrm>
            <a:off x="2097307" y="4963484"/>
            <a:ext cx="2279985" cy="369149"/>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对称密码的基本要求</a:t>
            </a:r>
            <a:endParaRPr lang="en-US" dirty="0"/>
          </a:p>
        </p:txBody>
      </p:sp>
      <p:sp>
        <p:nvSpPr>
          <p:cNvPr id="18" name="Text 15">
            <a:extLst>
              <a:ext uri="{FF2B5EF4-FFF2-40B4-BE49-F238E27FC236}">
                <a16:creationId xmlns:a16="http://schemas.microsoft.com/office/drawing/2014/main" id="{65662315-A723-31CE-BFFB-FAB9CD47CF9F}"/>
              </a:ext>
            </a:extLst>
          </p:cNvPr>
          <p:cNvSpPr/>
          <p:nvPr/>
        </p:nvSpPr>
        <p:spPr>
          <a:xfrm>
            <a:off x="2097306" y="5363987"/>
            <a:ext cx="7788203"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加密算法必须足够强，即使知道算法细节，在不知道密钥的情况下也无法解密</a:t>
            </a:r>
            <a:endParaRPr lang="en-US" dirty="0"/>
          </a:p>
        </p:txBody>
      </p:sp>
      <p:sp>
        <p:nvSpPr>
          <p:cNvPr id="19" name="Text 16">
            <a:extLst>
              <a:ext uri="{FF2B5EF4-FFF2-40B4-BE49-F238E27FC236}">
                <a16:creationId xmlns:a16="http://schemas.microsoft.com/office/drawing/2014/main" id="{DD899C9D-844D-43A4-FD80-28CAC79AAE70}"/>
              </a:ext>
            </a:extLst>
          </p:cNvPr>
          <p:cNvSpPr/>
          <p:nvPr/>
        </p:nvSpPr>
        <p:spPr>
          <a:xfrm>
            <a:off x="2097307" y="5649549"/>
            <a:ext cx="5889974"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密钥空间必须足够大，使得暴力破解在计算上不可行</a:t>
            </a:r>
            <a:endParaRPr lang="en-US" dirty="0"/>
          </a:p>
        </p:txBody>
      </p:sp>
      <p:sp>
        <p:nvSpPr>
          <p:cNvPr id="20" name="Text 17">
            <a:extLst>
              <a:ext uri="{FF2B5EF4-FFF2-40B4-BE49-F238E27FC236}">
                <a16:creationId xmlns:a16="http://schemas.microsoft.com/office/drawing/2014/main" id="{5438BB87-FC8C-E115-E9F8-EEBEF71A8A36}"/>
              </a:ext>
            </a:extLst>
          </p:cNvPr>
          <p:cNvSpPr/>
          <p:nvPr/>
        </p:nvSpPr>
        <p:spPr>
          <a:xfrm>
            <a:off x="2097306" y="5916117"/>
            <a:ext cx="4097373"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算法应该易于实现，且加解密效率高</a:t>
            </a:r>
            <a:endParaRPr lang="en-US" dirty="0"/>
          </a:p>
        </p:txBody>
      </p:sp>
      <p:sp>
        <p:nvSpPr>
          <p:cNvPr id="21" name="Text 18">
            <a:extLst>
              <a:ext uri="{FF2B5EF4-FFF2-40B4-BE49-F238E27FC236}">
                <a16:creationId xmlns:a16="http://schemas.microsoft.com/office/drawing/2014/main" id="{AFA8E9A6-F08A-1E22-3252-0E6CF1AF54AE}"/>
              </a:ext>
            </a:extLst>
          </p:cNvPr>
          <p:cNvSpPr/>
          <p:nvPr/>
        </p:nvSpPr>
        <p:spPr>
          <a:xfrm>
            <a:off x="2097306" y="6182685"/>
            <a:ext cx="4353459"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算法应该能够抵抗已知的密码分析攻击</a:t>
            </a:r>
            <a:endParaRPr lang="en-US" dirty="0"/>
          </a:p>
        </p:txBody>
      </p:sp>
    </p:spTree>
    <p:extLst>
      <p:ext uri="{BB962C8B-B14F-4D97-AF65-F5344CB8AC3E}">
        <p14:creationId xmlns:p14="http://schemas.microsoft.com/office/powerpoint/2010/main" val="2379435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1250-9703-04A5-EF7A-A5B66AAC8C20}"/>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025A68EC-D029-BB94-5AC8-1B092EB004B9}"/>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对称密码算法</a:t>
            </a:r>
          </a:p>
        </p:txBody>
      </p:sp>
      <p:grpSp>
        <p:nvGrpSpPr>
          <p:cNvPr id="33" name="组合 2">
            <a:extLst>
              <a:ext uri="{FF2B5EF4-FFF2-40B4-BE49-F238E27FC236}">
                <a16:creationId xmlns:a16="http://schemas.microsoft.com/office/drawing/2014/main" id="{D512FD87-E931-2153-C59A-94C5F7EEC21B}"/>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9462478F-5B8F-2A97-E248-28B905BE96E5}"/>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ABAF38E2-AB9F-58DD-3321-F4B8D9A90DF9}"/>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470625B2-7342-947A-7A4A-6076F0004AF5}"/>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F5080E70-6F30-7D88-1554-97A1C433B128}"/>
                </a:ext>
              </a:extLst>
            </p:cNvPr>
            <p:cNvSpPr/>
            <p:nvPr/>
          </p:nvSpPr>
          <p:spPr>
            <a:xfrm>
              <a:off x="245030" y="951728"/>
              <a:ext cx="6793796" cy="523220"/>
            </a:xfrm>
            <a:prstGeom prst="rect">
              <a:avLst/>
            </a:prstGeom>
          </p:spPr>
          <p:txBody>
            <a:bodyPr wrap="square">
              <a:spAutoFit/>
            </a:bodyPr>
            <a:lstStyle/>
            <a:p>
              <a:pPr lvl="0">
                <a:defRPr/>
              </a:pPr>
              <a:r>
                <a:rPr lang="zh-CN" altLang="en-US"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对称密码工作流程</a:t>
              </a:r>
            </a:p>
          </p:txBody>
        </p:sp>
      </p:grpSp>
      <p:pic>
        <p:nvPicPr>
          <p:cNvPr id="2050" name="Picture 2">
            <a:extLst>
              <a:ext uri="{FF2B5EF4-FFF2-40B4-BE49-F238E27FC236}">
                <a16:creationId xmlns:a16="http://schemas.microsoft.com/office/drawing/2014/main" id="{212022F1-863B-6518-8D14-380E5771A4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r="5668" b="9698"/>
          <a:stretch>
            <a:fillRect/>
          </a:stretch>
        </p:blipFill>
        <p:spPr bwMode="auto">
          <a:xfrm>
            <a:off x="6658620" y="2641082"/>
            <a:ext cx="4741075" cy="2337067"/>
          </a:xfrm>
          <a:prstGeom prst="rect">
            <a:avLst/>
          </a:prstGeom>
          <a:noFill/>
          <a:extLst>
            <a:ext uri="{909E8E84-426E-40DD-AFC4-6F175D3DCCD1}">
              <a14:hiddenFill xmlns:a14="http://schemas.microsoft.com/office/drawing/2010/main">
                <a:solidFill>
                  <a:srgbClr val="FFFFFF"/>
                </a:solidFill>
              </a14:hiddenFill>
            </a:ext>
          </a:extLst>
        </p:spPr>
      </p:pic>
      <p:sp>
        <p:nvSpPr>
          <p:cNvPr id="28" name="Shape 20">
            <a:extLst>
              <a:ext uri="{FF2B5EF4-FFF2-40B4-BE49-F238E27FC236}">
                <a16:creationId xmlns:a16="http://schemas.microsoft.com/office/drawing/2014/main" id="{3DC9B309-536D-22EC-592D-AF90821ED371}"/>
              </a:ext>
            </a:extLst>
          </p:cNvPr>
          <p:cNvSpPr/>
          <p:nvPr/>
        </p:nvSpPr>
        <p:spPr>
          <a:xfrm>
            <a:off x="153148" y="1845572"/>
            <a:ext cx="6201242" cy="1983922"/>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Shape 21">
            <a:extLst>
              <a:ext uri="{FF2B5EF4-FFF2-40B4-BE49-F238E27FC236}">
                <a16:creationId xmlns:a16="http://schemas.microsoft.com/office/drawing/2014/main" id="{5E8D4E33-F175-1B83-5542-5073D81E3EB7}"/>
              </a:ext>
            </a:extLst>
          </p:cNvPr>
          <p:cNvSpPr/>
          <p:nvPr/>
        </p:nvSpPr>
        <p:spPr>
          <a:xfrm>
            <a:off x="153148" y="1845572"/>
            <a:ext cx="33803" cy="1983922"/>
          </a:xfrm>
          <a:prstGeom prst="rect">
            <a:avLst/>
          </a:prstGeom>
          <a:solidFill>
            <a:srgbClr val="3498DB"/>
          </a:solidFill>
          <a:ln/>
        </p:spPr>
      </p:sp>
      <p:sp>
        <p:nvSpPr>
          <p:cNvPr id="30" name="Text 22">
            <a:extLst>
              <a:ext uri="{FF2B5EF4-FFF2-40B4-BE49-F238E27FC236}">
                <a16:creationId xmlns:a16="http://schemas.microsoft.com/office/drawing/2014/main" id="{A1E4BB92-5E70-B9BF-5ABE-712F53789B38}"/>
              </a:ext>
            </a:extLst>
          </p:cNvPr>
          <p:cNvSpPr/>
          <p:nvPr/>
        </p:nvSpPr>
        <p:spPr>
          <a:xfrm>
            <a:off x="279910" y="2041442"/>
            <a:ext cx="2077492" cy="277000"/>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对称密码的工作流程</a:t>
            </a:r>
            <a:endParaRPr lang="en-US" dirty="0">
              <a:latin typeface="微软雅黑" panose="020B0503020204020204" pitchFamily="34" charset="-122"/>
              <a:ea typeface="微软雅黑" panose="020B0503020204020204" pitchFamily="34" charset="-122"/>
            </a:endParaRPr>
          </a:p>
        </p:txBody>
      </p:sp>
      <p:sp>
        <p:nvSpPr>
          <p:cNvPr id="31" name="Text 23">
            <a:extLst>
              <a:ext uri="{FF2B5EF4-FFF2-40B4-BE49-F238E27FC236}">
                <a16:creationId xmlns:a16="http://schemas.microsoft.com/office/drawing/2014/main" id="{0B712500-9C31-A277-6A54-FCAEBC826801}"/>
              </a:ext>
            </a:extLst>
          </p:cNvPr>
          <p:cNvSpPr/>
          <p:nvPr/>
        </p:nvSpPr>
        <p:spPr>
          <a:xfrm>
            <a:off x="448927" y="2453829"/>
            <a:ext cx="4528484" cy="27700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发送方和接收方事先协商并安全地共享密钥K</a:t>
            </a:r>
            <a:endParaRPr lang="en-US" dirty="0">
              <a:latin typeface="微软雅黑" panose="020B0503020204020204" pitchFamily="34" charset="-122"/>
              <a:ea typeface="微软雅黑" panose="020B0503020204020204" pitchFamily="34" charset="-122"/>
            </a:endParaRPr>
          </a:p>
        </p:txBody>
      </p:sp>
      <p:sp>
        <p:nvSpPr>
          <p:cNvPr id="32" name="Text 24">
            <a:extLst>
              <a:ext uri="{FF2B5EF4-FFF2-40B4-BE49-F238E27FC236}">
                <a16:creationId xmlns:a16="http://schemas.microsoft.com/office/drawing/2014/main" id="{8F6E9302-4F98-AA92-0D23-00D4413FFEA4}"/>
              </a:ext>
            </a:extLst>
          </p:cNvPr>
          <p:cNvSpPr/>
          <p:nvPr/>
        </p:nvSpPr>
        <p:spPr>
          <a:xfrm>
            <a:off x="448927" y="2765906"/>
            <a:ext cx="5172890" cy="27700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发送方使用密钥K和加密算法E将明文P加密为密文C</a:t>
            </a:r>
            <a:endParaRPr lang="en-US" dirty="0">
              <a:latin typeface="微软雅黑" panose="020B0503020204020204" pitchFamily="34" charset="-122"/>
              <a:ea typeface="微软雅黑" panose="020B0503020204020204" pitchFamily="34" charset="-122"/>
            </a:endParaRPr>
          </a:p>
        </p:txBody>
      </p:sp>
      <p:sp>
        <p:nvSpPr>
          <p:cNvPr id="38" name="Text 25">
            <a:extLst>
              <a:ext uri="{FF2B5EF4-FFF2-40B4-BE49-F238E27FC236}">
                <a16:creationId xmlns:a16="http://schemas.microsoft.com/office/drawing/2014/main" id="{C435002F-1C9A-5840-F72B-285D0F0407E4}"/>
              </a:ext>
            </a:extLst>
          </p:cNvPr>
          <p:cNvSpPr/>
          <p:nvPr/>
        </p:nvSpPr>
        <p:spPr>
          <a:xfrm>
            <a:off x="448927" y="3077983"/>
            <a:ext cx="4531690" cy="27700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发送方将密文C通过不安全信道传输给接收方</a:t>
            </a:r>
            <a:endParaRPr lang="en-US" dirty="0">
              <a:latin typeface="微软雅黑" panose="020B0503020204020204" pitchFamily="34" charset="-122"/>
              <a:ea typeface="微软雅黑" panose="020B0503020204020204" pitchFamily="34" charset="-122"/>
            </a:endParaRPr>
          </a:p>
        </p:txBody>
      </p:sp>
      <p:sp>
        <p:nvSpPr>
          <p:cNvPr id="39" name="Text 26">
            <a:extLst>
              <a:ext uri="{FF2B5EF4-FFF2-40B4-BE49-F238E27FC236}">
                <a16:creationId xmlns:a16="http://schemas.microsoft.com/office/drawing/2014/main" id="{984A2497-DF5B-36AA-BE6D-74E2A6C0F87F}"/>
              </a:ext>
            </a:extLst>
          </p:cNvPr>
          <p:cNvSpPr/>
          <p:nvPr/>
        </p:nvSpPr>
        <p:spPr>
          <a:xfrm>
            <a:off x="448927" y="3390061"/>
            <a:ext cx="5905463" cy="27700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接收方使用相同的密钥K和解密算法D将密文C解密为明文P</a:t>
            </a:r>
            <a:endParaRPr lang="en-US" dirty="0">
              <a:latin typeface="微软雅黑" panose="020B0503020204020204" pitchFamily="34" charset="-122"/>
              <a:ea typeface="微软雅黑" panose="020B0503020204020204" pitchFamily="34" charset="-122"/>
            </a:endParaRPr>
          </a:p>
        </p:txBody>
      </p:sp>
      <p:sp>
        <p:nvSpPr>
          <p:cNvPr id="40" name="Text 27">
            <a:extLst>
              <a:ext uri="{FF2B5EF4-FFF2-40B4-BE49-F238E27FC236}">
                <a16:creationId xmlns:a16="http://schemas.microsoft.com/office/drawing/2014/main" id="{2AD37F6A-8618-07BD-E1FE-784254F7E568}"/>
              </a:ext>
            </a:extLst>
          </p:cNvPr>
          <p:cNvSpPr/>
          <p:nvPr/>
        </p:nvSpPr>
        <p:spPr>
          <a:xfrm>
            <a:off x="224827" y="4073862"/>
            <a:ext cx="1384995" cy="277000"/>
          </a:xfrm>
          <a:prstGeom prst="rect">
            <a:avLst/>
          </a:prstGeom>
          <a:noFill/>
          <a:ln/>
        </p:spPr>
        <p:txBody>
          <a:bodyPr wrap="none" lIns="0" tIns="0" rIns="0" bIns="0" rtlCol="0" anchor="ctr">
            <a:spAutoFit/>
          </a:bodyPr>
          <a:lstStyle/>
          <a:p>
            <a:pPr marL="0" indent="0">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密钥管理挑战</a:t>
            </a:r>
            <a:endParaRPr lang="en-US" dirty="0">
              <a:latin typeface="微软雅黑" panose="020B0503020204020204" pitchFamily="34" charset="-122"/>
              <a:ea typeface="微软雅黑" panose="020B0503020204020204" pitchFamily="34" charset="-122"/>
            </a:endParaRPr>
          </a:p>
        </p:txBody>
      </p:sp>
      <p:grpSp>
        <p:nvGrpSpPr>
          <p:cNvPr id="58" name="组合 57">
            <a:extLst>
              <a:ext uri="{FF2B5EF4-FFF2-40B4-BE49-F238E27FC236}">
                <a16:creationId xmlns:a16="http://schemas.microsoft.com/office/drawing/2014/main" id="{0D607C0E-4C91-A0D0-349F-2B3E64EB6C5E}"/>
              </a:ext>
            </a:extLst>
          </p:cNvPr>
          <p:cNvGrpSpPr/>
          <p:nvPr/>
        </p:nvGrpSpPr>
        <p:grpSpPr>
          <a:xfrm>
            <a:off x="224827" y="4502148"/>
            <a:ext cx="6277469" cy="1783300"/>
            <a:chOff x="153148" y="4498229"/>
            <a:chExt cx="4936833" cy="1783300"/>
          </a:xfrm>
        </p:grpSpPr>
        <p:sp>
          <p:nvSpPr>
            <p:cNvPr id="41" name="Shape 28">
              <a:extLst>
                <a:ext uri="{FF2B5EF4-FFF2-40B4-BE49-F238E27FC236}">
                  <a16:creationId xmlns:a16="http://schemas.microsoft.com/office/drawing/2014/main" id="{EE75070E-4521-5142-194D-AA23291760F7}"/>
                </a:ext>
              </a:extLst>
            </p:cNvPr>
            <p:cNvSpPr/>
            <p:nvPr/>
          </p:nvSpPr>
          <p:spPr>
            <a:xfrm>
              <a:off x="153148" y="4498229"/>
              <a:ext cx="2366237" cy="802485"/>
            </a:xfrm>
            <a:prstGeom prst="rect">
              <a:avLst/>
            </a:prstGeom>
            <a:solidFill>
              <a:srgbClr val="EFF6FF"/>
            </a:solidFill>
            <a:ln/>
          </p:spPr>
          <p:txBody>
            <a:bodyPr/>
            <a:lstStyle/>
            <a:p>
              <a:endParaRPr lang="zh-CN" altLang="en-US" sz="1400"/>
            </a:p>
          </p:txBody>
        </p:sp>
        <p:pic>
          <p:nvPicPr>
            <p:cNvPr id="42" name="Image 2" descr="preencoded.png">
              <a:extLst>
                <a:ext uri="{FF2B5EF4-FFF2-40B4-BE49-F238E27FC236}">
                  <a16:creationId xmlns:a16="http://schemas.microsoft.com/office/drawing/2014/main" id="{FE3F60C0-8D5A-D2AD-3286-F7B75A588635}"/>
                </a:ext>
              </a:extLst>
            </p:cNvPr>
            <p:cNvPicPr>
              <a:picLocks noChangeAspect="1"/>
            </p:cNvPicPr>
            <p:nvPr/>
          </p:nvPicPr>
          <p:blipFill>
            <a:blip r:embed="rId4"/>
            <a:stretch>
              <a:fillRect/>
            </a:stretch>
          </p:blipFill>
          <p:spPr>
            <a:xfrm>
              <a:off x="254558" y="4676559"/>
              <a:ext cx="135214" cy="178330"/>
            </a:xfrm>
            <a:prstGeom prst="rect">
              <a:avLst/>
            </a:prstGeom>
          </p:spPr>
        </p:pic>
        <p:sp>
          <p:nvSpPr>
            <p:cNvPr id="43" name="Text 29">
              <a:extLst>
                <a:ext uri="{FF2B5EF4-FFF2-40B4-BE49-F238E27FC236}">
                  <a16:creationId xmlns:a16="http://schemas.microsoft.com/office/drawing/2014/main" id="{DEB11524-5D21-2A1B-2FB9-05E7121FBE1B}"/>
                </a:ext>
              </a:extLst>
            </p:cNvPr>
            <p:cNvSpPr/>
            <p:nvPr/>
          </p:nvSpPr>
          <p:spPr>
            <a:xfrm>
              <a:off x="457378" y="4658003"/>
              <a:ext cx="718145" cy="215444"/>
            </a:xfrm>
            <a:prstGeom prst="rect">
              <a:avLst/>
            </a:prstGeom>
            <a:noFill/>
            <a:ln/>
          </p:spPr>
          <p:txBody>
            <a:bodyPr wrap="none" lIns="0" tIns="0" rIns="0" bIns="0" rtlCol="0" anchor="ctr">
              <a:spAutoFit/>
            </a:bodyPr>
            <a:lstStyle/>
            <a:p>
              <a:pPr marL="0" indent="0">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密钥分发</a:t>
              </a:r>
              <a:endParaRPr lang="en-US" sz="1400" dirty="0">
                <a:latin typeface="微软雅黑" panose="020B0503020204020204" pitchFamily="34" charset="-122"/>
                <a:ea typeface="微软雅黑" panose="020B0503020204020204" pitchFamily="34" charset="-122"/>
              </a:endParaRPr>
            </a:p>
          </p:txBody>
        </p:sp>
        <p:sp>
          <p:nvSpPr>
            <p:cNvPr id="44" name="Text 30">
              <a:extLst>
                <a:ext uri="{FF2B5EF4-FFF2-40B4-BE49-F238E27FC236}">
                  <a16:creationId xmlns:a16="http://schemas.microsoft.com/office/drawing/2014/main" id="{C5D1ACD8-F204-15D4-C8CA-52B16F935F98}"/>
                </a:ext>
              </a:extLst>
            </p:cNvPr>
            <p:cNvSpPr/>
            <p:nvPr/>
          </p:nvSpPr>
          <p:spPr>
            <a:xfrm>
              <a:off x="254558" y="4947789"/>
              <a:ext cx="2693045" cy="215444"/>
            </a:xfrm>
            <a:prstGeom prst="rect">
              <a:avLst/>
            </a:prstGeom>
            <a:noFill/>
            <a:ln/>
          </p:spPr>
          <p:txBody>
            <a:bodyPr wrap="none" lIns="0" tIns="0" rIns="0" bIns="0" rtlCol="0" anchor="ctr">
              <a:spAutoFit/>
            </a:bodyPr>
            <a:lstStyle/>
            <a:p>
              <a:pPr marL="0" indent="0">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如何安全地将密钥传递给通信双方</a:t>
              </a:r>
              <a:endParaRPr lang="en-US" sz="1400" dirty="0">
                <a:latin typeface="微软雅黑" panose="020B0503020204020204" pitchFamily="34" charset="-122"/>
                <a:ea typeface="微软雅黑" panose="020B0503020204020204" pitchFamily="34" charset="-122"/>
              </a:endParaRPr>
            </a:p>
          </p:txBody>
        </p:sp>
        <p:sp>
          <p:nvSpPr>
            <p:cNvPr id="45" name="Shape 31">
              <a:extLst>
                <a:ext uri="{FF2B5EF4-FFF2-40B4-BE49-F238E27FC236}">
                  <a16:creationId xmlns:a16="http://schemas.microsoft.com/office/drawing/2014/main" id="{8FF8CB18-4849-C725-D1D1-07E13068F728}"/>
                </a:ext>
              </a:extLst>
            </p:cNvPr>
            <p:cNvSpPr/>
            <p:nvPr/>
          </p:nvSpPr>
          <p:spPr>
            <a:xfrm>
              <a:off x="2654599" y="4498229"/>
              <a:ext cx="2366237" cy="802485"/>
            </a:xfrm>
            <a:prstGeom prst="rect">
              <a:avLst/>
            </a:prstGeom>
            <a:solidFill>
              <a:srgbClr val="EFF6FF"/>
            </a:solidFill>
            <a:ln/>
          </p:spPr>
          <p:txBody>
            <a:bodyPr/>
            <a:lstStyle/>
            <a:p>
              <a:endParaRPr lang="zh-CN" altLang="en-US"/>
            </a:p>
          </p:txBody>
        </p:sp>
        <p:pic>
          <p:nvPicPr>
            <p:cNvPr id="46" name="Image 3" descr="preencoded.png">
              <a:extLst>
                <a:ext uri="{FF2B5EF4-FFF2-40B4-BE49-F238E27FC236}">
                  <a16:creationId xmlns:a16="http://schemas.microsoft.com/office/drawing/2014/main" id="{927DDA98-3CD7-93CA-EAC6-543143C7BBDF}"/>
                </a:ext>
              </a:extLst>
            </p:cNvPr>
            <p:cNvPicPr>
              <a:picLocks noChangeAspect="1"/>
            </p:cNvPicPr>
            <p:nvPr/>
          </p:nvPicPr>
          <p:blipFill>
            <a:blip r:embed="rId5"/>
            <a:stretch>
              <a:fillRect/>
            </a:stretch>
          </p:blipFill>
          <p:spPr>
            <a:xfrm>
              <a:off x="2756009" y="4676559"/>
              <a:ext cx="135214" cy="178330"/>
            </a:xfrm>
            <a:prstGeom prst="rect">
              <a:avLst/>
            </a:prstGeom>
          </p:spPr>
        </p:pic>
        <p:sp>
          <p:nvSpPr>
            <p:cNvPr id="47" name="Text 32">
              <a:extLst>
                <a:ext uri="{FF2B5EF4-FFF2-40B4-BE49-F238E27FC236}">
                  <a16:creationId xmlns:a16="http://schemas.microsoft.com/office/drawing/2014/main" id="{554A32A1-677C-6010-8F0C-BBC2FCE64163}"/>
                </a:ext>
              </a:extLst>
            </p:cNvPr>
            <p:cNvSpPr/>
            <p:nvPr/>
          </p:nvSpPr>
          <p:spPr>
            <a:xfrm>
              <a:off x="2958829" y="4658003"/>
              <a:ext cx="718145" cy="215444"/>
            </a:xfrm>
            <a:prstGeom prst="rect">
              <a:avLst/>
            </a:prstGeom>
            <a:noFill/>
            <a:ln/>
          </p:spPr>
          <p:txBody>
            <a:bodyPr wrap="none" lIns="0" tIns="0" rIns="0" bIns="0" rtlCol="0" anchor="ctr">
              <a:spAutoFit/>
            </a:bodyPr>
            <a:lstStyle/>
            <a:p>
              <a:pPr marL="0" indent="0">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密钥存储</a:t>
              </a:r>
              <a:endParaRPr lang="en-US" sz="1400" dirty="0">
                <a:latin typeface="微软雅黑" panose="020B0503020204020204" pitchFamily="34" charset="-122"/>
                <a:ea typeface="微软雅黑" panose="020B0503020204020204" pitchFamily="34" charset="-122"/>
              </a:endParaRPr>
            </a:p>
          </p:txBody>
        </p:sp>
        <p:sp>
          <p:nvSpPr>
            <p:cNvPr id="48" name="Text 33">
              <a:extLst>
                <a:ext uri="{FF2B5EF4-FFF2-40B4-BE49-F238E27FC236}">
                  <a16:creationId xmlns:a16="http://schemas.microsoft.com/office/drawing/2014/main" id="{4C707CBA-882E-26B5-12E7-C9D2A45F5BF1}"/>
                </a:ext>
              </a:extLst>
            </p:cNvPr>
            <p:cNvSpPr/>
            <p:nvPr/>
          </p:nvSpPr>
          <p:spPr>
            <a:xfrm>
              <a:off x="2756009" y="4947789"/>
              <a:ext cx="2333972" cy="215444"/>
            </a:xfrm>
            <a:prstGeom prst="rect">
              <a:avLst/>
            </a:prstGeom>
            <a:noFill/>
            <a:ln/>
          </p:spPr>
          <p:txBody>
            <a:bodyPr wrap="none" lIns="0" tIns="0" rIns="0" bIns="0" rtlCol="0" anchor="ctr">
              <a:spAutoFit/>
            </a:bodyPr>
            <a:lstStyle/>
            <a:p>
              <a:pPr marL="0" indent="0">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如何安全地存储密钥防止泄露</a:t>
              </a:r>
              <a:endParaRPr lang="en-US" sz="1400" dirty="0">
                <a:latin typeface="微软雅黑" panose="020B0503020204020204" pitchFamily="34" charset="-122"/>
                <a:ea typeface="微软雅黑" panose="020B0503020204020204" pitchFamily="34" charset="-122"/>
              </a:endParaRPr>
            </a:p>
          </p:txBody>
        </p:sp>
        <p:sp>
          <p:nvSpPr>
            <p:cNvPr id="49" name="Shape 34">
              <a:extLst>
                <a:ext uri="{FF2B5EF4-FFF2-40B4-BE49-F238E27FC236}">
                  <a16:creationId xmlns:a16="http://schemas.microsoft.com/office/drawing/2014/main" id="{AE0DD947-05A8-48BA-1136-412E482D4350}"/>
                </a:ext>
              </a:extLst>
            </p:cNvPr>
            <p:cNvSpPr/>
            <p:nvPr/>
          </p:nvSpPr>
          <p:spPr>
            <a:xfrm>
              <a:off x="153148" y="5479044"/>
              <a:ext cx="2366237" cy="802485"/>
            </a:xfrm>
            <a:prstGeom prst="rect">
              <a:avLst/>
            </a:prstGeom>
            <a:solidFill>
              <a:srgbClr val="EFF6FF"/>
            </a:solidFill>
            <a:ln/>
          </p:spPr>
          <p:txBody>
            <a:bodyPr/>
            <a:lstStyle/>
            <a:p>
              <a:endParaRPr lang="zh-CN" altLang="en-US"/>
            </a:p>
          </p:txBody>
        </p:sp>
        <p:pic>
          <p:nvPicPr>
            <p:cNvPr id="50" name="Image 4" descr="preencoded.png">
              <a:extLst>
                <a:ext uri="{FF2B5EF4-FFF2-40B4-BE49-F238E27FC236}">
                  <a16:creationId xmlns:a16="http://schemas.microsoft.com/office/drawing/2014/main" id="{B6E4C7D7-5FB6-3471-1759-6282735CFB37}"/>
                </a:ext>
              </a:extLst>
            </p:cNvPr>
            <p:cNvPicPr>
              <a:picLocks noChangeAspect="1"/>
            </p:cNvPicPr>
            <p:nvPr/>
          </p:nvPicPr>
          <p:blipFill>
            <a:blip r:embed="rId6"/>
            <a:stretch>
              <a:fillRect/>
            </a:stretch>
          </p:blipFill>
          <p:spPr>
            <a:xfrm>
              <a:off x="254558" y="5657374"/>
              <a:ext cx="135214" cy="178330"/>
            </a:xfrm>
            <a:prstGeom prst="rect">
              <a:avLst/>
            </a:prstGeom>
          </p:spPr>
        </p:pic>
        <p:sp>
          <p:nvSpPr>
            <p:cNvPr id="51" name="Text 35">
              <a:extLst>
                <a:ext uri="{FF2B5EF4-FFF2-40B4-BE49-F238E27FC236}">
                  <a16:creationId xmlns:a16="http://schemas.microsoft.com/office/drawing/2014/main" id="{0B633C9C-590D-3924-2BC2-873361030D60}"/>
                </a:ext>
              </a:extLst>
            </p:cNvPr>
            <p:cNvSpPr/>
            <p:nvPr/>
          </p:nvSpPr>
          <p:spPr>
            <a:xfrm>
              <a:off x="457378" y="5638817"/>
              <a:ext cx="718145" cy="215444"/>
            </a:xfrm>
            <a:prstGeom prst="rect">
              <a:avLst/>
            </a:prstGeom>
            <a:noFill/>
            <a:ln/>
          </p:spPr>
          <p:txBody>
            <a:bodyPr wrap="none" lIns="0" tIns="0" rIns="0" bIns="0" rtlCol="0" anchor="ctr">
              <a:spAutoFit/>
            </a:bodyPr>
            <a:lstStyle/>
            <a:p>
              <a:pPr marL="0" indent="0">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密钥更新</a:t>
              </a:r>
              <a:endParaRPr lang="en-US" sz="1400" dirty="0">
                <a:latin typeface="微软雅黑" panose="020B0503020204020204" pitchFamily="34" charset="-122"/>
                <a:ea typeface="微软雅黑" panose="020B0503020204020204" pitchFamily="34" charset="-122"/>
              </a:endParaRPr>
            </a:p>
          </p:txBody>
        </p:sp>
        <p:sp>
          <p:nvSpPr>
            <p:cNvPr id="52" name="Text 36">
              <a:extLst>
                <a:ext uri="{FF2B5EF4-FFF2-40B4-BE49-F238E27FC236}">
                  <a16:creationId xmlns:a16="http://schemas.microsoft.com/office/drawing/2014/main" id="{566B4CB7-4148-B8BF-4FCC-FF21FD666C78}"/>
                </a:ext>
              </a:extLst>
            </p:cNvPr>
            <p:cNvSpPr/>
            <p:nvPr/>
          </p:nvSpPr>
          <p:spPr>
            <a:xfrm>
              <a:off x="254558" y="5928604"/>
              <a:ext cx="2513509" cy="215444"/>
            </a:xfrm>
            <a:prstGeom prst="rect">
              <a:avLst/>
            </a:prstGeom>
            <a:noFill/>
            <a:ln/>
          </p:spPr>
          <p:txBody>
            <a:bodyPr wrap="none" lIns="0" tIns="0" rIns="0" bIns="0" rtlCol="0" anchor="ctr">
              <a:spAutoFit/>
            </a:bodyPr>
            <a:lstStyle/>
            <a:p>
              <a:pPr marL="0" indent="0">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如何定期更新密钥以增强安全性</a:t>
              </a:r>
              <a:endParaRPr lang="en-US" sz="1400" dirty="0">
                <a:latin typeface="微软雅黑" panose="020B0503020204020204" pitchFamily="34" charset="-122"/>
                <a:ea typeface="微软雅黑" panose="020B0503020204020204" pitchFamily="34" charset="-122"/>
              </a:endParaRPr>
            </a:p>
          </p:txBody>
        </p:sp>
        <p:sp>
          <p:nvSpPr>
            <p:cNvPr id="53" name="Shape 37">
              <a:extLst>
                <a:ext uri="{FF2B5EF4-FFF2-40B4-BE49-F238E27FC236}">
                  <a16:creationId xmlns:a16="http://schemas.microsoft.com/office/drawing/2014/main" id="{FE715123-CE36-AB70-AB0D-854A6C58425C}"/>
                </a:ext>
              </a:extLst>
            </p:cNvPr>
            <p:cNvSpPr/>
            <p:nvPr/>
          </p:nvSpPr>
          <p:spPr>
            <a:xfrm>
              <a:off x="2654599" y="5479044"/>
              <a:ext cx="2366237" cy="802485"/>
            </a:xfrm>
            <a:prstGeom prst="rect">
              <a:avLst/>
            </a:prstGeom>
            <a:solidFill>
              <a:srgbClr val="EFF6FF"/>
            </a:solidFill>
            <a:ln/>
          </p:spPr>
        </p:sp>
        <p:pic>
          <p:nvPicPr>
            <p:cNvPr id="54" name="Image 5" descr="preencoded.png">
              <a:extLst>
                <a:ext uri="{FF2B5EF4-FFF2-40B4-BE49-F238E27FC236}">
                  <a16:creationId xmlns:a16="http://schemas.microsoft.com/office/drawing/2014/main" id="{2A2C5B6D-26BE-3B7A-AC4A-01FF6199220D}"/>
                </a:ext>
              </a:extLst>
            </p:cNvPr>
            <p:cNvPicPr>
              <a:picLocks noChangeAspect="1"/>
            </p:cNvPicPr>
            <p:nvPr/>
          </p:nvPicPr>
          <p:blipFill>
            <a:blip r:embed="rId7"/>
            <a:stretch>
              <a:fillRect/>
            </a:stretch>
          </p:blipFill>
          <p:spPr>
            <a:xfrm>
              <a:off x="2756009" y="5657374"/>
              <a:ext cx="169017" cy="178330"/>
            </a:xfrm>
            <a:prstGeom prst="rect">
              <a:avLst/>
            </a:prstGeom>
          </p:spPr>
        </p:pic>
        <p:sp>
          <p:nvSpPr>
            <p:cNvPr id="55" name="Text 38">
              <a:extLst>
                <a:ext uri="{FF2B5EF4-FFF2-40B4-BE49-F238E27FC236}">
                  <a16:creationId xmlns:a16="http://schemas.microsoft.com/office/drawing/2014/main" id="{116057F0-7AFD-194D-ACCF-57F51000073D}"/>
                </a:ext>
              </a:extLst>
            </p:cNvPr>
            <p:cNvSpPr/>
            <p:nvPr/>
          </p:nvSpPr>
          <p:spPr>
            <a:xfrm>
              <a:off x="2992632" y="5638817"/>
              <a:ext cx="718145" cy="215444"/>
            </a:xfrm>
            <a:prstGeom prst="rect">
              <a:avLst/>
            </a:prstGeom>
            <a:noFill/>
            <a:ln/>
          </p:spPr>
          <p:txBody>
            <a:bodyPr wrap="none" lIns="0" tIns="0" rIns="0" bIns="0" rtlCol="0" anchor="ctr">
              <a:spAutoFit/>
            </a:bodyPr>
            <a:lstStyle/>
            <a:p>
              <a:pPr marL="0" indent="0">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密钥数量</a:t>
              </a:r>
              <a:endParaRPr lang="en-US" sz="1400" dirty="0">
                <a:latin typeface="微软雅黑" panose="020B0503020204020204" pitchFamily="34" charset="-122"/>
                <a:ea typeface="微软雅黑" panose="020B0503020204020204" pitchFamily="34" charset="-122"/>
              </a:endParaRPr>
            </a:p>
          </p:txBody>
        </p:sp>
        <p:sp>
          <p:nvSpPr>
            <p:cNvPr id="56" name="Text 39">
              <a:extLst>
                <a:ext uri="{FF2B5EF4-FFF2-40B4-BE49-F238E27FC236}">
                  <a16:creationId xmlns:a16="http://schemas.microsoft.com/office/drawing/2014/main" id="{56AA3CFD-3AE5-15C9-ADF3-E6B249DEFC31}"/>
                </a:ext>
              </a:extLst>
            </p:cNvPr>
            <p:cNvSpPr/>
            <p:nvPr/>
          </p:nvSpPr>
          <p:spPr>
            <a:xfrm>
              <a:off x="2756009" y="5928604"/>
              <a:ext cx="2252220" cy="215444"/>
            </a:xfrm>
            <a:prstGeom prst="rect">
              <a:avLst/>
            </a:prstGeom>
            <a:noFill/>
            <a:ln/>
          </p:spPr>
          <p:txBody>
            <a:bodyPr wrap="none" lIns="0" tIns="0" rIns="0" bIns="0" rtlCol="0" anchor="ctr">
              <a:spAutoFit/>
            </a:bodyPr>
            <a:lstStyle/>
            <a:p>
              <a:pPr marL="0" indent="0">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n个用户需要n(n-1)/2个密钥</a:t>
              </a:r>
              <a:endParaRPr lang="en-US" sz="1400" dirty="0">
                <a:latin typeface="微软雅黑" panose="020B0503020204020204" pitchFamily="34" charset="-122"/>
                <a:ea typeface="微软雅黑" panose="020B0503020204020204" pitchFamily="34" charset="-122"/>
              </a:endParaRPr>
            </a:p>
          </p:txBody>
        </p:sp>
      </p:grpSp>
      <p:sp>
        <p:nvSpPr>
          <p:cNvPr id="57" name="Text 19">
            <a:extLst>
              <a:ext uri="{FF2B5EF4-FFF2-40B4-BE49-F238E27FC236}">
                <a16:creationId xmlns:a16="http://schemas.microsoft.com/office/drawing/2014/main" id="{B4B9769B-B00C-A260-E6AB-9495A9BB2948}"/>
              </a:ext>
            </a:extLst>
          </p:cNvPr>
          <p:cNvSpPr/>
          <p:nvPr/>
        </p:nvSpPr>
        <p:spPr>
          <a:xfrm>
            <a:off x="8178913" y="4987625"/>
            <a:ext cx="1974900" cy="215444"/>
          </a:xfrm>
          <a:prstGeom prst="rect">
            <a:avLst/>
          </a:prstGeom>
          <a:noFill/>
          <a:ln/>
        </p:spPr>
        <p:txBody>
          <a:bodyPr wrap="none" lIns="0" tIns="0" rIns="0" bIns="0" rtlCol="0" anchor="ctr">
            <a:spAutoFit/>
          </a:bodyPr>
          <a:lstStyle/>
          <a:p>
            <a:pPr marL="0" indent="0" algn="ctr">
              <a:buNone/>
            </a:pPr>
            <a:r>
              <a:rPr lang="en-US" sz="1400" dirty="0">
                <a:solidFill>
                  <a:srgbClr val="4B5563"/>
                </a:solidFill>
                <a:latin typeface="微软雅黑" panose="020B0503020204020204" pitchFamily="34" charset="-122"/>
                <a:ea typeface="微软雅黑" panose="020B0503020204020204" pitchFamily="34" charset="-122"/>
                <a:cs typeface="Noto Sans" pitchFamily="34" charset="-120"/>
              </a:rPr>
              <a:t>对称加密工作原理示意图</a:t>
            </a:r>
            <a:endParaRPr 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4730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233C5-28FD-E98B-B58E-E980BF92656E}"/>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364F6F32-269C-D69E-3E09-8316283C18DE}"/>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对称密码算法</a:t>
            </a:r>
          </a:p>
        </p:txBody>
      </p:sp>
      <p:grpSp>
        <p:nvGrpSpPr>
          <p:cNvPr id="33" name="组合 2">
            <a:extLst>
              <a:ext uri="{FF2B5EF4-FFF2-40B4-BE49-F238E27FC236}">
                <a16:creationId xmlns:a16="http://schemas.microsoft.com/office/drawing/2014/main" id="{41844C8F-85AD-6024-4D5A-7338BF7A083E}"/>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0C7B089A-47FF-3454-8AF4-230FE9E721DB}"/>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2D0234DE-CABD-B6B0-E832-9E1F9D21D1D0}"/>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2205BD49-A624-0797-7DF3-6CAF0B2896D5}"/>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FDD6FD47-929A-B895-577A-6F369C9B4D03}"/>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分组密码与流密码</a:t>
              </a:r>
            </a:p>
          </p:txBody>
        </p:sp>
      </p:grpSp>
      <p:sp>
        <p:nvSpPr>
          <p:cNvPr id="3" name="Shape 1">
            <a:extLst>
              <a:ext uri="{FF2B5EF4-FFF2-40B4-BE49-F238E27FC236}">
                <a16:creationId xmlns:a16="http://schemas.microsoft.com/office/drawing/2014/main" id="{FF11074E-0EEE-9234-B92B-04C756D711F7}"/>
              </a:ext>
            </a:extLst>
          </p:cNvPr>
          <p:cNvSpPr/>
          <p:nvPr/>
        </p:nvSpPr>
        <p:spPr>
          <a:xfrm>
            <a:off x="333828" y="1855788"/>
            <a:ext cx="5447033" cy="2025901"/>
          </a:xfrm>
          <a:prstGeom prst="rect">
            <a:avLst/>
          </a:prstGeom>
          <a:solidFill>
            <a:srgbClr val="F8F9FA"/>
          </a:solidFill>
          <a:ln/>
        </p:spPr>
      </p:sp>
      <p:sp>
        <p:nvSpPr>
          <p:cNvPr id="4" name="Shape 2">
            <a:extLst>
              <a:ext uri="{FF2B5EF4-FFF2-40B4-BE49-F238E27FC236}">
                <a16:creationId xmlns:a16="http://schemas.microsoft.com/office/drawing/2014/main" id="{3677B5C2-D49B-27D3-083C-49582DB100FC}"/>
              </a:ext>
            </a:extLst>
          </p:cNvPr>
          <p:cNvSpPr/>
          <p:nvPr/>
        </p:nvSpPr>
        <p:spPr>
          <a:xfrm>
            <a:off x="333828" y="1855788"/>
            <a:ext cx="37827" cy="2025901"/>
          </a:xfrm>
          <a:prstGeom prst="rect">
            <a:avLst/>
          </a:prstGeom>
          <a:solidFill>
            <a:srgbClr val="3498DB"/>
          </a:solidFill>
          <a:ln/>
        </p:spPr>
      </p:sp>
      <p:sp>
        <p:nvSpPr>
          <p:cNvPr id="5" name="Text 3">
            <a:extLst>
              <a:ext uri="{FF2B5EF4-FFF2-40B4-BE49-F238E27FC236}">
                <a16:creationId xmlns:a16="http://schemas.microsoft.com/office/drawing/2014/main" id="{42EAAE78-3558-5F23-914F-6B6E1DE4D369}"/>
              </a:ext>
            </a:extLst>
          </p:cNvPr>
          <p:cNvSpPr/>
          <p:nvPr/>
        </p:nvSpPr>
        <p:spPr>
          <a:xfrm>
            <a:off x="447308" y="2026634"/>
            <a:ext cx="2635336" cy="276998"/>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分组密码 (Block Cipher)</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2B340578-CC87-3B79-A190-387CC307EB53}"/>
              </a:ext>
            </a:extLst>
          </p:cNvPr>
          <p:cNvSpPr/>
          <p:nvPr/>
        </p:nvSpPr>
        <p:spPr>
          <a:xfrm>
            <a:off x="447308" y="2433024"/>
            <a:ext cx="4847480"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将明文分成固定长度的块，对每个块进行加密。</a:t>
            </a:r>
            <a:endParaRPr lang="en-US"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62D9612A-0A6C-A82A-4CCB-23F94D4CD2C2}"/>
              </a:ext>
            </a:extLst>
          </p:cNvPr>
          <p:cNvSpPr/>
          <p:nvPr/>
        </p:nvSpPr>
        <p:spPr>
          <a:xfrm>
            <a:off x="636441" y="2772696"/>
            <a:ext cx="4828245"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每次处理固定长度的数据块（如64位、128位）</a:t>
            </a:r>
            <a:endParaRPr lang="en-US" dirty="0">
              <a:latin typeface="微软雅黑" panose="020B0503020204020204" pitchFamily="34" charset="-122"/>
              <a:ea typeface="微软雅黑" panose="020B0503020204020204" pitchFamily="34" charset="-122"/>
            </a:endParaRPr>
          </a:p>
        </p:txBody>
      </p:sp>
      <p:sp>
        <p:nvSpPr>
          <p:cNvPr id="8" name="Text 6">
            <a:extLst>
              <a:ext uri="{FF2B5EF4-FFF2-40B4-BE49-F238E27FC236}">
                <a16:creationId xmlns:a16="http://schemas.microsoft.com/office/drawing/2014/main" id="{52808E2D-F175-E99B-60A2-FBA9327735FF}"/>
              </a:ext>
            </a:extLst>
          </p:cNvPr>
          <p:cNvSpPr/>
          <p:nvPr/>
        </p:nvSpPr>
        <p:spPr>
          <a:xfrm>
            <a:off x="636441" y="3112368"/>
            <a:ext cx="4616647"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相同的明文块在相同密钥下产生相同的密文块</a:t>
            </a:r>
            <a:endParaRPr lang="en-US" dirty="0">
              <a:latin typeface="微软雅黑" panose="020B0503020204020204" pitchFamily="34" charset="-122"/>
              <a:ea typeface="微软雅黑" panose="020B0503020204020204" pitchFamily="34" charset="-122"/>
            </a:endParaRPr>
          </a:p>
        </p:txBody>
      </p:sp>
      <p:sp>
        <p:nvSpPr>
          <p:cNvPr id="9" name="Text 7">
            <a:extLst>
              <a:ext uri="{FF2B5EF4-FFF2-40B4-BE49-F238E27FC236}">
                <a16:creationId xmlns:a16="http://schemas.microsoft.com/office/drawing/2014/main" id="{2836E172-16C3-0918-A144-4E3DA2914746}"/>
              </a:ext>
            </a:extLst>
          </p:cNvPr>
          <p:cNvSpPr/>
          <p:nvPr/>
        </p:nvSpPr>
        <p:spPr>
          <a:xfrm>
            <a:off x="636441" y="3452040"/>
            <a:ext cx="4762522"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典型算法：DES（64位块）、AES（128位块）</a:t>
            </a:r>
            <a:endParaRPr lang="en-US" dirty="0">
              <a:latin typeface="微软雅黑" panose="020B0503020204020204" pitchFamily="34" charset="-122"/>
              <a:ea typeface="微软雅黑" panose="020B0503020204020204" pitchFamily="34" charset="-122"/>
            </a:endParaRPr>
          </a:p>
        </p:txBody>
      </p:sp>
      <p:sp>
        <p:nvSpPr>
          <p:cNvPr id="10" name="Text 8">
            <a:extLst>
              <a:ext uri="{FF2B5EF4-FFF2-40B4-BE49-F238E27FC236}">
                <a16:creationId xmlns:a16="http://schemas.microsoft.com/office/drawing/2014/main" id="{DF77EB4B-0745-3603-7A60-187BBA3F94D7}"/>
              </a:ext>
            </a:extLst>
          </p:cNvPr>
          <p:cNvSpPr/>
          <p:nvPr/>
        </p:nvSpPr>
        <p:spPr>
          <a:xfrm>
            <a:off x="333828" y="4070728"/>
            <a:ext cx="1846659" cy="276998"/>
          </a:xfrm>
          <a:prstGeom prst="rect">
            <a:avLst/>
          </a:prstGeom>
          <a:noFill/>
          <a:ln/>
        </p:spPr>
        <p:txBody>
          <a:bodyPr wrap="none" lIns="0" tIns="0" rIns="0" bIns="0" rtlCol="0" anchor="ctr">
            <a:spAutoFit/>
          </a:bodyPr>
          <a:lstStyle/>
          <a:p>
            <a:pPr marL="0" indent="0">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分组密码工作模式</a:t>
            </a:r>
            <a:endParaRPr lang="en-US" dirty="0">
              <a:latin typeface="微软雅黑" panose="020B0503020204020204" pitchFamily="34" charset="-122"/>
              <a:ea typeface="微软雅黑" panose="020B0503020204020204" pitchFamily="34" charset="-122"/>
            </a:endParaRPr>
          </a:p>
        </p:txBody>
      </p:sp>
      <p:grpSp>
        <p:nvGrpSpPr>
          <p:cNvPr id="62" name="组合 61">
            <a:extLst>
              <a:ext uri="{FF2B5EF4-FFF2-40B4-BE49-F238E27FC236}">
                <a16:creationId xmlns:a16="http://schemas.microsoft.com/office/drawing/2014/main" id="{D3776DB6-7304-D0BE-AE96-F7DA483DC563}"/>
              </a:ext>
            </a:extLst>
          </p:cNvPr>
          <p:cNvGrpSpPr/>
          <p:nvPr/>
        </p:nvGrpSpPr>
        <p:grpSpPr>
          <a:xfrm>
            <a:off x="1257157" y="4471056"/>
            <a:ext cx="10594288" cy="1771148"/>
            <a:chOff x="333828" y="4451852"/>
            <a:chExt cx="6087564" cy="1771148"/>
          </a:xfrm>
        </p:grpSpPr>
        <p:sp>
          <p:nvSpPr>
            <p:cNvPr id="11" name="Shape 9">
              <a:extLst>
                <a:ext uri="{FF2B5EF4-FFF2-40B4-BE49-F238E27FC236}">
                  <a16:creationId xmlns:a16="http://schemas.microsoft.com/office/drawing/2014/main" id="{FBBBA998-A013-47AA-A4BB-9D4C50392D65}"/>
                </a:ext>
              </a:extLst>
            </p:cNvPr>
            <p:cNvSpPr/>
            <p:nvPr/>
          </p:nvSpPr>
          <p:spPr>
            <a:xfrm>
              <a:off x="333828" y="4451852"/>
              <a:ext cx="2685690" cy="800656"/>
            </a:xfrm>
            <a:prstGeom prst="rect">
              <a:avLst/>
            </a:prstGeom>
            <a:solidFill>
              <a:srgbClr val="F8F9FA"/>
            </a:solidFill>
            <a:ln w="99">
              <a:solidFill>
                <a:srgbClr val="E2E8F0"/>
              </a:solidFill>
              <a:prstDash val="solid"/>
            </a:ln>
          </p:spPr>
        </p:sp>
        <p:sp>
          <p:nvSpPr>
            <p:cNvPr id="13" name="Text 10">
              <a:extLst>
                <a:ext uri="{FF2B5EF4-FFF2-40B4-BE49-F238E27FC236}">
                  <a16:creationId xmlns:a16="http://schemas.microsoft.com/office/drawing/2014/main" id="{3D19CF99-C2D8-1F1E-8E90-82137FBD0B06}"/>
                </a:ext>
              </a:extLst>
            </p:cNvPr>
            <p:cNvSpPr/>
            <p:nvPr/>
          </p:nvSpPr>
          <p:spPr>
            <a:xfrm>
              <a:off x="428395" y="4580237"/>
              <a:ext cx="905697"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ECB模式</a:t>
              </a:r>
              <a:endParaRPr lang="en-US"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9C927538-B8F1-EE7A-BF5A-DB5049EDE867}"/>
                </a:ext>
              </a:extLst>
            </p:cNvPr>
            <p:cNvSpPr/>
            <p:nvPr/>
          </p:nvSpPr>
          <p:spPr>
            <a:xfrm>
              <a:off x="428395" y="4847123"/>
              <a:ext cx="3462486"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电子密码本模式，直接加密每个块</a:t>
              </a:r>
              <a:endParaRPr lang="en-US" dirty="0">
                <a:latin typeface="微软雅黑" panose="020B0503020204020204" pitchFamily="34" charset="-122"/>
                <a:ea typeface="微软雅黑" panose="020B0503020204020204" pitchFamily="34" charset="-122"/>
              </a:endParaRPr>
            </a:p>
          </p:txBody>
        </p:sp>
        <p:sp>
          <p:nvSpPr>
            <p:cNvPr id="15" name="Shape 12">
              <a:extLst>
                <a:ext uri="{FF2B5EF4-FFF2-40B4-BE49-F238E27FC236}">
                  <a16:creationId xmlns:a16="http://schemas.microsoft.com/office/drawing/2014/main" id="{CDE39466-0DFC-CBCC-955B-5F56EF0D0C56}"/>
                </a:ext>
              </a:extLst>
            </p:cNvPr>
            <p:cNvSpPr/>
            <p:nvPr/>
          </p:nvSpPr>
          <p:spPr>
            <a:xfrm>
              <a:off x="3095171" y="4451852"/>
              <a:ext cx="2685690" cy="800656"/>
            </a:xfrm>
            <a:prstGeom prst="rect">
              <a:avLst/>
            </a:prstGeom>
            <a:solidFill>
              <a:srgbClr val="F8F9FA"/>
            </a:solidFill>
            <a:ln w="99">
              <a:solidFill>
                <a:srgbClr val="E2E8F0"/>
              </a:solidFill>
              <a:prstDash val="solid"/>
            </a:ln>
          </p:spPr>
        </p:sp>
        <p:sp>
          <p:nvSpPr>
            <p:cNvPr id="16" name="Text 13">
              <a:extLst>
                <a:ext uri="{FF2B5EF4-FFF2-40B4-BE49-F238E27FC236}">
                  <a16:creationId xmlns:a16="http://schemas.microsoft.com/office/drawing/2014/main" id="{2EB91EAE-BD46-C04D-702A-B596AFF4E064}"/>
                </a:ext>
              </a:extLst>
            </p:cNvPr>
            <p:cNvSpPr/>
            <p:nvPr/>
          </p:nvSpPr>
          <p:spPr>
            <a:xfrm>
              <a:off x="3189738" y="4580237"/>
              <a:ext cx="929742"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CBC模式</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8860E3D6-3A21-E814-BE68-7761487BE641}"/>
                </a:ext>
              </a:extLst>
            </p:cNvPr>
            <p:cNvSpPr/>
            <p:nvPr/>
          </p:nvSpPr>
          <p:spPr>
            <a:xfrm>
              <a:off x="3189738" y="4847123"/>
              <a:ext cx="3231654"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密码块链接模式，增加了扩散性</a:t>
              </a:r>
              <a:endParaRPr lang="en-US" dirty="0">
                <a:latin typeface="微软雅黑" panose="020B0503020204020204" pitchFamily="34" charset="-122"/>
                <a:ea typeface="微软雅黑" panose="020B0503020204020204" pitchFamily="34" charset="-122"/>
              </a:endParaRPr>
            </a:p>
          </p:txBody>
        </p:sp>
        <p:sp>
          <p:nvSpPr>
            <p:cNvPr id="18" name="Shape 15">
              <a:extLst>
                <a:ext uri="{FF2B5EF4-FFF2-40B4-BE49-F238E27FC236}">
                  <a16:creationId xmlns:a16="http://schemas.microsoft.com/office/drawing/2014/main" id="{6F353EE3-003C-95E6-00B6-CB9E8E1F40DD}"/>
                </a:ext>
              </a:extLst>
            </p:cNvPr>
            <p:cNvSpPr/>
            <p:nvPr/>
          </p:nvSpPr>
          <p:spPr>
            <a:xfrm>
              <a:off x="333828" y="5422344"/>
              <a:ext cx="2685690" cy="800656"/>
            </a:xfrm>
            <a:prstGeom prst="rect">
              <a:avLst/>
            </a:prstGeom>
            <a:solidFill>
              <a:srgbClr val="F8F9FA"/>
            </a:solidFill>
            <a:ln w="99">
              <a:solidFill>
                <a:srgbClr val="E2E8F0"/>
              </a:solidFill>
              <a:prstDash val="solid"/>
            </a:ln>
          </p:spPr>
        </p:sp>
        <p:sp>
          <p:nvSpPr>
            <p:cNvPr id="19" name="Text 16">
              <a:extLst>
                <a:ext uri="{FF2B5EF4-FFF2-40B4-BE49-F238E27FC236}">
                  <a16:creationId xmlns:a16="http://schemas.microsoft.com/office/drawing/2014/main" id="{FD8A3E5D-FDF0-3707-5036-5A34982F59AE}"/>
                </a:ext>
              </a:extLst>
            </p:cNvPr>
            <p:cNvSpPr/>
            <p:nvPr/>
          </p:nvSpPr>
          <p:spPr>
            <a:xfrm>
              <a:off x="428395" y="5550730"/>
              <a:ext cx="902491"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CFB模式</a:t>
              </a:r>
              <a:endParaRPr lang="en-US" dirty="0">
                <a:latin typeface="微软雅黑" panose="020B0503020204020204" pitchFamily="34" charset="-122"/>
                <a:ea typeface="微软雅黑" panose="020B0503020204020204" pitchFamily="34" charset="-122"/>
              </a:endParaRPr>
            </a:p>
          </p:txBody>
        </p:sp>
        <p:sp>
          <p:nvSpPr>
            <p:cNvPr id="20" name="Text 17">
              <a:extLst>
                <a:ext uri="{FF2B5EF4-FFF2-40B4-BE49-F238E27FC236}">
                  <a16:creationId xmlns:a16="http://schemas.microsoft.com/office/drawing/2014/main" id="{29F74EAD-15C8-D2CA-E76A-B5DD20E3A5ED}"/>
                </a:ext>
              </a:extLst>
            </p:cNvPr>
            <p:cNvSpPr/>
            <p:nvPr/>
          </p:nvSpPr>
          <p:spPr>
            <a:xfrm>
              <a:off x="428395" y="5817616"/>
              <a:ext cx="2539157"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密码反馈模式，无需填充</a:t>
              </a:r>
              <a:endParaRPr lang="en-US" dirty="0">
                <a:latin typeface="微软雅黑" panose="020B0503020204020204" pitchFamily="34" charset="-122"/>
                <a:ea typeface="微软雅黑" panose="020B0503020204020204" pitchFamily="34" charset="-122"/>
              </a:endParaRPr>
            </a:p>
          </p:txBody>
        </p:sp>
        <p:sp>
          <p:nvSpPr>
            <p:cNvPr id="21" name="Shape 18">
              <a:extLst>
                <a:ext uri="{FF2B5EF4-FFF2-40B4-BE49-F238E27FC236}">
                  <a16:creationId xmlns:a16="http://schemas.microsoft.com/office/drawing/2014/main" id="{4D12514F-D287-DE6A-B175-21D9DC4F86B6}"/>
                </a:ext>
              </a:extLst>
            </p:cNvPr>
            <p:cNvSpPr/>
            <p:nvPr/>
          </p:nvSpPr>
          <p:spPr>
            <a:xfrm>
              <a:off x="3095171" y="5422344"/>
              <a:ext cx="2685690" cy="800656"/>
            </a:xfrm>
            <a:prstGeom prst="rect">
              <a:avLst/>
            </a:prstGeom>
            <a:solidFill>
              <a:srgbClr val="F8F9FA"/>
            </a:solidFill>
            <a:ln w="99">
              <a:solidFill>
                <a:srgbClr val="E2E8F0"/>
              </a:solidFill>
              <a:prstDash val="solid"/>
            </a:ln>
          </p:spPr>
        </p:sp>
        <p:sp>
          <p:nvSpPr>
            <p:cNvPr id="22" name="Text 19">
              <a:extLst>
                <a:ext uri="{FF2B5EF4-FFF2-40B4-BE49-F238E27FC236}">
                  <a16:creationId xmlns:a16="http://schemas.microsoft.com/office/drawing/2014/main" id="{30648F77-1CF7-D8A4-EF71-A0CF5F2A352E}"/>
                </a:ext>
              </a:extLst>
            </p:cNvPr>
            <p:cNvSpPr/>
            <p:nvPr/>
          </p:nvSpPr>
          <p:spPr>
            <a:xfrm>
              <a:off x="3189738" y="5550730"/>
              <a:ext cx="923329"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CTR模式</a:t>
              </a:r>
              <a:endParaRPr lang="en-US" dirty="0">
                <a:latin typeface="微软雅黑" panose="020B0503020204020204" pitchFamily="34" charset="-122"/>
                <a:ea typeface="微软雅黑" panose="020B0503020204020204" pitchFamily="34" charset="-122"/>
              </a:endParaRPr>
            </a:p>
          </p:txBody>
        </p:sp>
        <p:sp>
          <p:nvSpPr>
            <p:cNvPr id="23" name="Text 20">
              <a:extLst>
                <a:ext uri="{FF2B5EF4-FFF2-40B4-BE49-F238E27FC236}">
                  <a16:creationId xmlns:a16="http://schemas.microsoft.com/office/drawing/2014/main" id="{E63A5B81-F421-F013-18E3-BF205EB19681}"/>
                </a:ext>
              </a:extLst>
            </p:cNvPr>
            <p:cNvSpPr/>
            <p:nvPr/>
          </p:nvSpPr>
          <p:spPr>
            <a:xfrm>
              <a:off x="3189738" y="5817616"/>
              <a:ext cx="2769988"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计数器模式，支持并行处理</a:t>
              </a:r>
              <a:endParaRPr lang="en-US" dirty="0">
                <a:latin typeface="微软雅黑" panose="020B0503020204020204" pitchFamily="34" charset="-122"/>
                <a:ea typeface="微软雅黑" panose="020B0503020204020204" pitchFamily="34" charset="-122"/>
              </a:endParaRPr>
            </a:p>
          </p:txBody>
        </p:sp>
      </p:grpSp>
      <p:sp>
        <p:nvSpPr>
          <p:cNvPr id="24" name="Shape 21">
            <a:extLst>
              <a:ext uri="{FF2B5EF4-FFF2-40B4-BE49-F238E27FC236}">
                <a16:creationId xmlns:a16="http://schemas.microsoft.com/office/drawing/2014/main" id="{765F0844-0BDD-BCB1-7FFC-E3C45239E443}"/>
              </a:ext>
            </a:extLst>
          </p:cNvPr>
          <p:cNvSpPr/>
          <p:nvPr/>
        </p:nvSpPr>
        <p:spPr>
          <a:xfrm>
            <a:off x="5932167" y="1855788"/>
            <a:ext cx="5447033" cy="2025901"/>
          </a:xfrm>
          <a:prstGeom prst="rect">
            <a:avLst/>
          </a:prstGeom>
          <a:solidFill>
            <a:srgbClr val="F8F9FA"/>
          </a:solidFill>
          <a:ln/>
        </p:spPr>
      </p:sp>
      <p:sp>
        <p:nvSpPr>
          <p:cNvPr id="25" name="Shape 22">
            <a:extLst>
              <a:ext uri="{FF2B5EF4-FFF2-40B4-BE49-F238E27FC236}">
                <a16:creationId xmlns:a16="http://schemas.microsoft.com/office/drawing/2014/main" id="{F98C6DCF-6C5F-EA26-DD06-4A96588B8D3D}"/>
              </a:ext>
            </a:extLst>
          </p:cNvPr>
          <p:cNvSpPr/>
          <p:nvPr/>
        </p:nvSpPr>
        <p:spPr>
          <a:xfrm>
            <a:off x="5932167" y="1855788"/>
            <a:ext cx="37827" cy="2025901"/>
          </a:xfrm>
          <a:prstGeom prst="rect">
            <a:avLst/>
          </a:prstGeom>
          <a:solidFill>
            <a:srgbClr val="3498DB"/>
          </a:solidFill>
          <a:ln/>
        </p:spPr>
      </p:sp>
      <p:sp>
        <p:nvSpPr>
          <p:cNvPr id="26" name="Text 23">
            <a:extLst>
              <a:ext uri="{FF2B5EF4-FFF2-40B4-BE49-F238E27FC236}">
                <a16:creationId xmlns:a16="http://schemas.microsoft.com/office/drawing/2014/main" id="{E1389517-98A3-178A-A61E-452E4C4ABCE8}"/>
              </a:ext>
            </a:extLst>
          </p:cNvPr>
          <p:cNvSpPr/>
          <p:nvPr/>
        </p:nvSpPr>
        <p:spPr>
          <a:xfrm>
            <a:off x="6045647" y="2026634"/>
            <a:ext cx="2589298" cy="276998"/>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流密码 (Stream Cipher)</a:t>
            </a:r>
            <a:endParaRPr lang="en-US" dirty="0">
              <a:latin typeface="微软雅黑" panose="020B0503020204020204" pitchFamily="34" charset="-122"/>
              <a:ea typeface="微软雅黑" panose="020B0503020204020204" pitchFamily="34" charset="-122"/>
            </a:endParaRPr>
          </a:p>
        </p:txBody>
      </p:sp>
      <p:sp>
        <p:nvSpPr>
          <p:cNvPr id="27" name="Text 24">
            <a:extLst>
              <a:ext uri="{FF2B5EF4-FFF2-40B4-BE49-F238E27FC236}">
                <a16:creationId xmlns:a16="http://schemas.microsoft.com/office/drawing/2014/main" id="{2E0C5379-9A4B-29FF-96A5-610432E5B485}"/>
              </a:ext>
            </a:extLst>
          </p:cNvPr>
          <p:cNvSpPr/>
          <p:nvPr/>
        </p:nvSpPr>
        <p:spPr>
          <a:xfrm>
            <a:off x="6045647" y="2433024"/>
            <a:ext cx="5539978"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生成密钥流，与明文逐位（或逐字节）进行异或操作。</a:t>
            </a:r>
            <a:endParaRPr lang="en-US" dirty="0">
              <a:latin typeface="微软雅黑" panose="020B0503020204020204" pitchFamily="34" charset="-122"/>
              <a:ea typeface="微软雅黑" panose="020B0503020204020204" pitchFamily="34" charset="-122"/>
            </a:endParaRPr>
          </a:p>
        </p:txBody>
      </p:sp>
      <p:sp>
        <p:nvSpPr>
          <p:cNvPr id="59" name="Text 25">
            <a:extLst>
              <a:ext uri="{FF2B5EF4-FFF2-40B4-BE49-F238E27FC236}">
                <a16:creationId xmlns:a16="http://schemas.microsoft.com/office/drawing/2014/main" id="{F8B06682-53FF-B6DD-B0BE-DCC80F717633}"/>
              </a:ext>
            </a:extLst>
          </p:cNvPr>
          <p:cNvSpPr/>
          <p:nvPr/>
        </p:nvSpPr>
        <p:spPr>
          <a:xfrm>
            <a:off x="6234780" y="2772696"/>
            <a:ext cx="2769988"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一次处理一位或一字节数据</a:t>
            </a:r>
            <a:endParaRPr lang="en-US" dirty="0">
              <a:latin typeface="微软雅黑" panose="020B0503020204020204" pitchFamily="34" charset="-122"/>
              <a:ea typeface="微软雅黑" panose="020B0503020204020204" pitchFamily="34" charset="-122"/>
            </a:endParaRPr>
          </a:p>
        </p:txBody>
      </p:sp>
      <p:sp>
        <p:nvSpPr>
          <p:cNvPr id="60" name="Text 26">
            <a:extLst>
              <a:ext uri="{FF2B5EF4-FFF2-40B4-BE49-F238E27FC236}">
                <a16:creationId xmlns:a16="http://schemas.microsoft.com/office/drawing/2014/main" id="{D8727107-FA1F-C8CA-75E5-4054A68BE061}"/>
              </a:ext>
            </a:extLst>
          </p:cNvPr>
          <p:cNvSpPr/>
          <p:nvPr/>
        </p:nvSpPr>
        <p:spPr>
          <a:xfrm>
            <a:off x="6234780" y="3112368"/>
            <a:ext cx="2769988"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加密速度通常快于分组密码</a:t>
            </a:r>
            <a:endParaRPr lang="en-US" dirty="0">
              <a:latin typeface="微软雅黑" panose="020B0503020204020204" pitchFamily="34" charset="-122"/>
              <a:ea typeface="微软雅黑" panose="020B0503020204020204" pitchFamily="34" charset="-122"/>
            </a:endParaRPr>
          </a:p>
        </p:txBody>
      </p:sp>
      <p:sp>
        <p:nvSpPr>
          <p:cNvPr id="61" name="Text 27">
            <a:extLst>
              <a:ext uri="{FF2B5EF4-FFF2-40B4-BE49-F238E27FC236}">
                <a16:creationId xmlns:a16="http://schemas.microsoft.com/office/drawing/2014/main" id="{AB3D3B0B-D223-85AE-0ED0-B3A5BF930DD3}"/>
              </a:ext>
            </a:extLst>
          </p:cNvPr>
          <p:cNvSpPr/>
          <p:nvPr/>
        </p:nvSpPr>
        <p:spPr>
          <a:xfrm>
            <a:off x="6234780" y="3452040"/>
            <a:ext cx="4693336"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典型算法：RC4、ChaCha20、A5/1（GSM）</a:t>
            </a:r>
            <a:endParaRPr 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1137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72E75-9A64-5A3E-3CE7-3ECE03401C19}"/>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51930A54-615B-9092-854F-A7A9A669B0DA}"/>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对称密码算法</a:t>
            </a:r>
          </a:p>
        </p:txBody>
      </p:sp>
      <p:grpSp>
        <p:nvGrpSpPr>
          <p:cNvPr id="33" name="组合 2">
            <a:extLst>
              <a:ext uri="{FF2B5EF4-FFF2-40B4-BE49-F238E27FC236}">
                <a16:creationId xmlns:a16="http://schemas.microsoft.com/office/drawing/2014/main" id="{0F0FB7E9-7AF3-15A2-35F7-CB81FA1611E1}"/>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6CF650FF-A92E-799F-649F-F594A3CFC461}"/>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9F53FC13-42D0-5F0B-26C7-D58AA25CE62F}"/>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35A81C1A-D584-D728-C343-8E3A674EAB23}"/>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E69A35BF-9F6A-3FE8-8289-F08076CE2F9D}"/>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分组密码与流密码</a:t>
              </a:r>
            </a:p>
          </p:txBody>
        </p:sp>
      </p:grpSp>
      <p:sp>
        <p:nvSpPr>
          <p:cNvPr id="3" name="Shape 1">
            <a:extLst>
              <a:ext uri="{FF2B5EF4-FFF2-40B4-BE49-F238E27FC236}">
                <a16:creationId xmlns:a16="http://schemas.microsoft.com/office/drawing/2014/main" id="{B0797AF2-9677-ADD9-3EAC-579D291CC134}"/>
              </a:ext>
            </a:extLst>
          </p:cNvPr>
          <p:cNvSpPr/>
          <p:nvPr/>
        </p:nvSpPr>
        <p:spPr>
          <a:xfrm>
            <a:off x="333828" y="1855788"/>
            <a:ext cx="5447033" cy="2025901"/>
          </a:xfrm>
          <a:prstGeom prst="rect">
            <a:avLst/>
          </a:prstGeom>
          <a:solidFill>
            <a:srgbClr val="F8F9FA"/>
          </a:solidFill>
          <a:ln/>
        </p:spPr>
      </p:sp>
      <p:sp>
        <p:nvSpPr>
          <p:cNvPr id="4" name="Shape 2">
            <a:extLst>
              <a:ext uri="{FF2B5EF4-FFF2-40B4-BE49-F238E27FC236}">
                <a16:creationId xmlns:a16="http://schemas.microsoft.com/office/drawing/2014/main" id="{F6E58E96-7E8A-C7E1-E8A5-CB55345266F3}"/>
              </a:ext>
            </a:extLst>
          </p:cNvPr>
          <p:cNvSpPr/>
          <p:nvPr/>
        </p:nvSpPr>
        <p:spPr>
          <a:xfrm>
            <a:off x="333828" y="1855788"/>
            <a:ext cx="37827" cy="2025901"/>
          </a:xfrm>
          <a:prstGeom prst="rect">
            <a:avLst/>
          </a:prstGeom>
          <a:solidFill>
            <a:srgbClr val="3498DB"/>
          </a:solidFill>
          <a:ln/>
        </p:spPr>
      </p:sp>
      <p:sp>
        <p:nvSpPr>
          <p:cNvPr id="5" name="Text 3">
            <a:extLst>
              <a:ext uri="{FF2B5EF4-FFF2-40B4-BE49-F238E27FC236}">
                <a16:creationId xmlns:a16="http://schemas.microsoft.com/office/drawing/2014/main" id="{02497EA4-5C9F-79D8-8417-455C26ECAE7A}"/>
              </a:ext>
            </a:extLst>
          </p:cNvPr>
          <p:cNvSpPr/>
          <p:nvPr/>
        </p:nvSpPr>
        <p:spPr>
          <a:xfrm>
            <a:off x="447308" y="2026634"/>
            <a:ext cx="2635336" cy="276998"/>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分组密码 (Block Cipher)</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B265ED94-94D3-B6F3-65F0-590C9C6693DF}"/>
              </a:ext>
            </a:extLst>
          </p:cNvPr>
          <p:cNvSpPr/>
          <p:nvPr/>
        </p:nvSpPr>
        <p:spPr>
          <a:xfrm>
            <a:off x="447308" y="2433024"/>
            <a:ext cx="4847480"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将明文分成固定长度的块，对每个块进行加密。</a:t>
            </a:r>
            <a:endParaRPr lang="en-US"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319A45B4-CDB1-312D-8AEA-4215477E6988}"/>
              </a:ext>
            </a:extLst>
          </p:cNvPr>
          <p:cNvSpPr/>
          <p:nvPr/>
        </p:nvSpPr>
        <p:spPr>
          <a:xfrm>
            <a:off x="636441" y="2772696"/>
            <a:ext cx="4828245"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每次处理固定长度的数据块（如64位、128位）</a:t>
            </a:r>
            <a:endParaRPr lang="en-US" dirty="0">
              <a:latin typeface="微软雅黑" panose="020B0503020204020204" pitchFamily="34" charset="-122"/>
              <a:ea typeface="微软雅黑" panose="020B0503020204020204" pitchFamily="34" charset="-122"/>
            </a:endParaRPr>
          </a:p>
        </p:txBody>
      </p:sp>
      <p:sp>
        <p:nvSpPr>
          <p:cNvPr id="8" name="Text 6">
            <a:extLst>
              <a:ext uri="{FF2B5EF4-FFF2-40B4-BE49-F238E27FC236}">
                <a16:creationId xmlns:a16="http://schemas.microsoft.com/office/drawing/2014/main" id="{D57D74DF-5F51-AF33-875E-13BD0884522B}"/>
              </a:ext>
            </a:extLst>
          </p:cNvPr>
          <p:cNvSpPr/>
          <p:nvPr/>
        </p:nvSpPr>
        <p:spPr>
          <a:xfrm>
            <a:off x="636441" y="3112368"/>
            <a:ext cx="4616647"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相同的明文块在相同密钥下产生相同的密文块</a:t>
            </a:r>
            <a:endParaRPr lang="en-US" dirty="0">
              <a:latin typeface="微软雅黑" panose="020B0503020204020204" pitchFamily="34" charset="-122"/>
              <a:ea typeface="微软雅黑" panose="020B0503020204020204" pitchFamily="34" charset="-122"/>
            </a:endParaRPr>
          </a:p>
        </p:txBody>
      </p:sp>
      <p:sp>
        <p:nvSpPr>
          <p:cNvPr id="9" name="Text 7">
            <a:extLst>
              <a:ext uri="{FF2B5EF4-FFF2-40B4-BE49-F238E27FC236}">
                <a16:creationId xmlns:a16="http://schemas.microsoft.com/office/drawing/2014/main" id="{86E4E321-F1EE-3440-97B9-34D005532F56}"/>
              </a:ext>
            </a:extLst>
          </p:cNvPr>
          <p:cNvSpPr/>
          <p:nvPr/>
        </p:nvSpPr>
        <p:spPr>
          <a:xfrm>
            <a:off x="636441" y="3452040"/>
            <a:ext cx="4762522"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典型算法：DES（64位块）、AES（128位块）</a:t>
            </a:r>
            <a:endParaRPr lang="en-US" dirty="0">
              <a:latin typeface="微软雅黑" panose="020B0503020204020204" pitchFamily="34" charset="-122"/>
              <a:ea typeface="微软雅黑" panose="020B0503020204020204" pitchFamily="34" charset="-122"/>
            </a:endParaRPr>
          </a:p>
        </p:txBody>
      </p:sp>
      <p:sp>
        <p:nvSpPr>
          <p:cNvPr id="10" name="Text 8">
            <a:extLst>
              <a:ext uri="{FF2B5EF4-FFF2-40B4-BE49-F238E27FC236}">
                <a16:creationId xmlns:a16="http://schemas.microsoft.com/office/drawing/2014/main" id="{77790C5F-8C37-3E32-9AB2-F05CB1927B1D}"/>
              </a:ext>
            </a:extLst>
          </p:cNvPr>
          <p:cNvSpPr/>
          <p:nvPr/>
        </p:nvSpPr>
        <p:spPr>
          <a:xfrm>
            <a:off x="333828" y="4070728"/>
            <a:ext cx="1846659" cy="276998"/>
          </a:xfrm>
          <a:prstGeom prst="rect">
            <a:avLst/>
          </a:prstGeom>
          <a:noFill/>
          <a:ln/>
        </p:spPr>
        <p:txBody>
          <a:bodyPr wrap="none" lIns="0" tIns="0" rIns="0" bIns="0" rtlCol="0" anchor="ctr">
            <a:spAutoFit/>
          </a:bodyPr>
          <a:lstStyle/>
          <a:p>
            <a:pPr marL="0" indent="0">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分组密码工作模式</a:t>
            </a:r>
            <a:endParaRPr lang="en-US" dirty="0">
              <a:latin typeface="微软雅黑" panose="020B0503020204020204" pitchFamily="34" charset="-122"/>
              <a:ea typeface="微软雅黑" panose="020B0503020204020204" pitchFamily="34" charset="-122"/>
            </a:endParaRPr>
          </a:p>
        </p:txBody>
      </p:sp>
      <p:grpSp>
        <p:nvGrpSpPr>
          <p:cNvPr id="62" name="组合 61">
            <a:extLst>
              <a:ext uri="{FF2B5EF4-FFF2-40B4-BE49-F238E27FC236}">
                <a16:creationId xmlns:a16="http://schemas.microsoft.com/office/drawing/2014/main" id="{A57AB173-5DCE-8966-0F33-006C6793E55B}"/>
              </a:ext>
            </a:extLst>
          </p:cNvPr>
          <p:cNvGrpSpPr/>
          <p:nvPr/>
        </p:nvGrpSpPr>
        <p:grpSpPr>
          <a:xfrm>
            <a:off x="1257157" y="4471056"/>
            <a:ext cx="10594288" cy="1771148"/>
            <a:chOff x="333828" y="4451852"/>
            <a:chExt cx="6087564" cy="1771148"/>
          </a:xfrm>
        </p:grpSpPr>
        <p:sp>
          <p:nvSpPr>
            <p:cNvPr id="11" name="Shape 9">
              <a:extLst>
                <a:ext uri="{FF2B5EF4-FFF2-40B4-BE49-F238E27FC236}">
                  <a16:creationId xmlns:a16="http://schemas.microsoft.com/office/drawing/2014/main" id="{C0854736-6FC3-84AD-E96B-8E0FB57CFE79}"/>
                </a:ext>
              </a:extLst>
            </p:cNvPr>
            <p:cNvSpPr/>
            <p:nvPr/>
          </p:nvSpPr>
          <p:spPr>
            <a:xfrm>
              <a:off x="333828" y="4451852"/>
              <a:ext cx="2685690" cy="800656"/>
            </a:xfrm>
            <a:prstGeom prst="rect">
              <a:avLst/>
            </a:prstGeom>
            <a:solidFill>
              <a:srgbClr val="F8F9FA"/>
            </a:solidFill>
            <a:ln w="99">
              <a:solidFill>
                <a:srgbClr val="E2E8F0"/>
              </a:solidFill>
              <a:prstDash val="solid"/>
            </a:ln>
          </p:spPr>
        </p:sp>
        <p:sp>
          <p:nvSpPr>
            <p:cNvPr id="13" name="Text 10">
              <a:extLst>
                <a:ext uri="{FF2B5EF4-FFF2-40B4-BE49-F238E27FC236}">
                  <a16:creationId xmlns:a16="http://schemas.microsoft.com/office/drawing/2014/main" id="{194489AF-7982-F2FF-9E7D-7036B23F5097}"/>
                </a:ext>
              </a:extLst>
            </p:cNvPr>
            <p:cNvSpPr/>
            <p:nvPr/>
          </p:nvSpPr>
          <p:spPr>
            <a:xfrm>
              <a:off x="428395" y="4580237"/>
              <a:ext cx="905697"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ECB模式</a:t>
              </a:r>
              <a:endParaRPr lang="en-US"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4D753CF3-2DE9-D749-AAED-51DF2FDAF75C}"/>
                </a:ext>
              </a:extLst>
            </p:cNvPr>
            <p:cNvSpPr/>
            <p:nvPr/>
          </p:nvSpPr>
          <p:spPr>
            <a:xfrm>
              <a:off x="428395" y="4847123"/>
              <a:ext cx="3462486"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电子密码本模式，直接加密每个块</a:t>
              </a:r>
              <a:endParaRPr lang="en-US" dirty="0">
                <a:latin typeface="微软雅黑" panose="020B0503020204020204" pitchFamily="34" charset="-122"/>
                <a:ea typeface="微软雅黑" panose="020B0503020204020204" pitchFamily="34" charset="-122"/>
              </a:endParaRPr>
            </a:p>
          </p:txBody>
        </p:sp>
        <p:sp>
          <p:nvSpPr>
            <p:cNvPr id="15" name="Shape 12">
              <a:extLst>
                <a:ext uri="{FF2B5EF4-FFF2-40B4-BE49-F238E27FC236}">
                  <a16:creationId xmlns:a16="http://schemas.microsoft.com/office/drawing/2014/main" id="{6FE02C6E-5E0F-8086-03AF-8DDB42F0B1CD}"/>
                </a:ext>
              </a:extLst>
            </p:cNvPr>
            <p:cNvSpPr/>
            <p:nvPr/>
          </p:nvSpPr>
          <p:spPr>
            <a:xfrm>
              <a:off x="3095171" y="4451852"/>
              <a:ext cx="2685690" cy="800656"/>
            </a:xfrm>
            <a:prstGeom prst="rect">
              <a:avLst/>
            </a:prstGeom>
            <a:solidFill>
              <a:srgbClr val="F8F9FA"/>
            </a:solidFill>
            <a:ln w="99">
              <a:solidFill>
                <a:srgbClr val="E2E8F0"/>
              </a:solidFill>
              <a:prstDash val="solid"/>
            </a:ln>
          </p:spPr>
        </p:sp>
        <p:sp>
          <p:nvSpPr>
            <p:cNvPr id="16" name="Text 13">
              <a:extLst>
                <a:ext uri="{FF2B5EF4-FFF2-40B4-BE49-F238E27FC236}">
                  <a16:creationId xmlns:a16="http://schemas.microsoft.com/office/drawing/2014/main" id="{899D7BFB-97C6-03B1-F3A5-B0D59F25A4D1}"/>
                </a:ext>
              </a:extLst>
            </p:cNvPr>
            <p:cNvSpPr/>
            <p:nvPr/>
          </p:nvSpPr>
          <p:spPr>
            <a:xfrm>
              <a:off x="3189738" y="4580237"/>
              <a:ext cx="929742"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CBC模式</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D6E90686-3145-2AEF-F81B-D601274705D5}"/>
                </a:ext>
              </a:extLst>
            </p:cNvPr>
            <p:cNvSpPr/>
            <p:nvPr/>
          </p:nvSpPr>
          <p:spPr>
            <a:xfrm>
              <a:off x="3189738" y="4847123"/>
              <a:ext cx="3231654"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密码块链接模式，增加了扩散性</a:t>
              </a:r>
              <a:endParaRPr lang="en-US" dirty="0">
                <a:latin typeface="微软雅黑" panose="020B0503020204020204" pitchFamily="34" charset="-122"/>
                <a:ea typeface="微软雅黑" panose="020B0503020204020204" pitchFamily="34" charset="-122"/>
              </a:endParaRPr>
            </a:p>
          </p:txBody>
        </p:sp>
        <p:sp>
          <p:nvSpPr>
            <p:cNvPr id="18" name="Shape 15">
              <a:extLst>
                <a:ext uri="{FF2B5EF4-FFF2-40B4-BE49-F238E27FC236}">
                  <a16:creationId xmlns:a16="http://schemas.microsoft.com/office/drawing/2014/main" id="{1AE7A675-B253-677D-57BB-F42513DC11D9}"/>
                </a:ext>
              </a:extLst>
            </p:cNvPr>
            <p:cNvSpPr/>
            <p:nvPr/>
          </p:nvSpPr>
          <p:spPr>
            <a:xfrm>
              <a:off x="333828" y="5422344"/>
              <a:ext cx="2685690" cy="800656"/>
            </a:xfrm>
            <a:prstGeom prst="rect">
              <a:avLst/>
            </a:prstGeom>
            <a:solidFill>
              <a:srgbClr val="F8F9FA"/>
            </a:solidFill>
            <a:ln w="99">
              <a:solidFill>
                <a:srgbClr val="E2E8F0"/>
              </a:solidFill>
              <a:prstDash val="solid"/>
            </a:ln>
          </p:spPr>
        </p:sp>
        <p:sp>
          <p:nvSpPr>
            <p:cNvPr id="19" name="Text 16">
              <a:extLst>
                <a:ext uri="{FF2B5EF4-FFF2-40B4-BE49-F238E27FC236}">
                  <a16:creationId xmlns:a16="http://schemas.microsoft.com/office/drawing/2014/main" id="{0177ED55-BFE0-8042-19C7-0BBD65FF72FE}"/>
                </a:ext>
              </a:extLst>
            </p:cNvPr>
            <p:cNvSpPr/>
            <p:nvPr/>
          </p:nvSpPr>
          <p:spPr>
            <a:xfrm>
              <a:off x="428395" y="5550730"/>
              <a:ext cx="902491"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CFB模式</a:t>
              </a:r>
              <a:endParaRPr lang="en-US" dirty="0">
                <a:latin typeface="微软雅黑" panose="020B0503020204020204" pitchFamily="34" charset="-122"/>
                <a:ea typeface="微软雅黑" panose="020B0503020204020204" pitchFamily="34" charset="-122"/>
              </a:endParaRPr>
            </a:p>
          </p:txBody>
        </p:sp>
        <p:sp>
          <p:nvSpPr>
            <p:cNvPr id="20" name="Text 17">
              <a:extLst>
                <a:ext uri="{FF2B5EF4-FFF2-40B4-BE49-F238E27FC236}">
                  <a16:creationId xmlns:a16="http://schemas.microsoft.com/office/drawing/2014/main" id="{8011014A-F97F-C614-6F7D-DF9B39B53217}"/>
                </a:ext>
              </a:extLst>
            </p:cNvPr>
            <p:cNvSpPr/>
            <p:nvPr/>
          </p:nvSpPr>
          <p:spPr>
            <a:xfrm>
              <a:off x="428395" y="5817616"/>
              <a:ext cx="2539157"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密码反馈模式，无需填充</a:t>
              </a:r>
              <a:endParaRPr lang="en-US" dirty="0">
                <a:latin typeface="微软雅黑" panose="020B0503020204020204" pitchFamily="34" charset="-122"/>
                <a:ea typeface="微软雅黑" panose="020B0503020204020204" pitchFamily="34" charset="-122"/>
              </a:endParaRPr>
            </a:p>
          </p:txBody>
        </p:sp>
        <p:sp>
          <p:nvSpPr>
            <p:cNvPr id="21" name="Shape 18">
              <a:extLst>
                <a:ext uri="{FF2B5EF4-FFF2-40B4-BE49-F238E27FC236}">
                  <a16:creationId xmlns:a16="http://schemas.microsoft.com/office/drawing/2014/main" id="{CB0D8C59-A589-27A7-C109-0F3F3E225218}"/>
                </a:ext>
              </a:extLst>
            </p:cNvPr>
            <p:cNvSpPr/>
            <p:nvPr/>
          </p:nvSpPr>
          <p:spPr>
            <a:xfrm>
              <a:off x="3095171" y="5422344"/>
              <a:ext cx="2685690" cy="800656"/>
            </a:xfrm>
            <a:prstGeom prst="rect">
              <a:avLst/>
            </a:prstGeom>
            <a:solidFill>
              <a:srgbClr val="F8F9FA"/>
            </a:solidFill>
            <a:ln w="99">
              <a:solidFill>
                <a:srgbClr val="E2E8F0"/>
              </a:solidFill>
              <a:prstDash val="solid"/>
            </a:ln>
          </p:spPr>
        </p:sp>
        <p:sp>
          <p:nvSpPr>
            <p:cNvPr id="22" name="Text 19">
              <a:extLst>
                <a:ext uri="{FF2B5EF4-FFF2-40B4-BE49-F238E27FC236}">
                  <a16:creationId xmlns:a16="http://schemas.microsoft.com/office/drawing/2014/main" id="{E8CDC134-D461-E7EC-C2AB-9D9A8E3C0757}"/>
                </a:ext>
              </a:extLst>
            </p:cNvPr>
            <p:cNvSpPr/>
            <p:nvPr/>
          </p:nvSpPr>
          <p:spPr>
            <a:xfrm>
              <a:off x="3189738" y="5550730"/>
              <a:ext cx="923329" cy="276998"/>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CTR模式</a:t>
              </a:r>
              <a:endParaRPr lang="en-US" dirty="0">
                <a:latin typeface="微软雅黑" panose="020B0503020204020204" pitchFamily="34" charset="-122"/>
                <a:ea typeface="微软雅黑" panose="020B0503020204020204" pitchFamily="34" charset="-122"/>
              </a:endParaRPr>
            </a:p>
          </p:txBody>
        </p:sp>
        <p:sp>
          <p:nvSpPr>
            <p:cNvPr id="23" name="Text 20">
              <a:extLst>
                <a:ext uri="{FF2B5EF4-FFF2-40B4-BE49-F238E27FC236}">
                  <a16:creationId xmlns:a16="http://schemas.microsoft.com/office/drawing/2014/main" id="{DD034368-0592-C1CA-2EE2-7830C8FCCBD0}"/>
                </a:ext>
              </a:extLst>
            </p:cNvPr>
            <p:cNvSpPr/>
            <p:nvPr/>
          </p:nvSpPr>
          <p:spPr>
            <a:xfrm>
              <a:off x="3189738" y="5817616"/>
              <a:ext cx="2769988"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计数器模式，支持并行处理</a:t>
              </a:r>
              <a:endParaRPr lang="en-US" dirty="0">
                <a:latin typeface="微软雅黑" panose="020B0503020204020204" pitchFamily="34" charset="-122"/>
                <a:ea typeface="微软雅黑" panose="020B0503020204020204" pitchFamily="34" charset="-122"/>
              </a:endParaRPr>
            </a:p>
          </p:txBody>
        </p:sp>
      </p:grpSp>
      <p:sp>
        <p:nvSpPr>
          <p:cNvPr id="24" name="Shape 21">
            <a:extLst>
              <a:ext uri="{FF2B5EF4-FFF2-40B4-BE49-F238E27FC236}">
                <a16:creationId xmlns:a16="http://schemas.microsoft.com/office/drawing/2014/main" id="{C7139E44-26BC-0D62-703A-4CA0B2162AFC}"/>
              </a:ext>
            </a:extLst>
          </p:cNvPr>
          <p:cNvSpPr/>
          <p:nvPr/>
        </p:nvSpPr>
        <p:spPr>
          <a:xfrm>
            <a:off x="5932167" y="1855788"/>
            <a:ext cx="5447033" cy="2025901"/>
          </a:xfrm>
          <a:prstGeom prst="rect">
            <a:avLst/>
          </a:prstGeom>
          <a:solidFill>
            <a:srgbClr val="F8F9FA"/>
          </a:solidFill>
          <a:ln/>
        </p:spPr>
      </p:sp>
      <p:sp>
        <p:nvSpPr>
          <p:cNvPr id="25" name="Shape 22">
            <a:extLst>
              <a:ext uri="{FF2B5EF4-FFF2-40B4-BE49-F238E27FC236}">
                <a16:creationId xmlns:a16="http://schemas.microsoft.com/office/drawing/2014/main" id="{58565102-D05C-7946-31B4-E95F29F7AFCC}"/>
              </a:ext>
            </a:extLst>
          </p:cNvPr>
          <p:cNvSpPr/>
          <p:nvPr/>
        </p:nvSpPr>
        <p:spPr>
          <a:xfrm>
            <a:off x="5932167" y="1855788"/>
            <a:ext cx="37827" cy="2025901"/>
          </a:xfrm>
          <a:prstGeom prst="rect">
            <a:avLst/>
          </a:prstGeom>
          <a:solidFill>
            <a:srgbClr val="3498DB"/>
          </a:solidFill>
          <a:ln/>
        </p:spPr>
      </p:sp>
      <p:sp>
        <p:nvSpPr>
          <p:cNvPr id="26" name="Text 23">
            <a:extLst>
              <a:ext uri="{FF2B5EF4-FFF2-40B4-BE49-F238E27FC236}">
                <a16:creationId xmlns:a16="http://schemas.microsoft.com/office/drawing/2014/main" id="{0B4D62C2-E43C-5466-7DFB-94E60AC983D5}"/>
              </a:ext>
            </a:extLst>
          </p:cNvPr>
          <p:cNvSpPr/>
          <p:nvPr/>
        </p:nvSpPr>
        <p:spPr>
          <a:xfrm>
            <a:off x="6045647" y="2026634"/>
            <a:ext cx="2589298" cy="276998"/>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流密码 (Stream Cipher)</a:t>
            </a:r>
            <a:endParaRPr lang="en-US" dirty="0">
              <a:latin typeface="微软雅黑" panose="020B0503020204020204" pitchFamily="34" charset="-122"/>
              <a:ea typeface="微软雅黑" panose="020B0503020204020204" pitchFamily="34" charset="-122"/>
            </a:endParaRPr>
          </a:p>
        </p:txBody>
      </p:sp>
      <p:sp>
        <p:nvSpPr>
          <p:cNvPr id="27" name="Text 24">
            <a:extLst>
              <a:ext uri="{FF2B5EF4-FFF2-40B4-BE49-F238E27FC236}">
                <a16:creationId xmlns:a16="http://schemas.microsoft.com/office/drawing/2014/main" id="{9AB110F8-AC64-F494-9E68-7802E998F8A4}"/>
              </a:ext>
            </a:extLst>
          </p:cNvPr>
          <p:cNvSpPr/>
          <p:nvPr/>
        </p:nvSpPr>
        <p:spPr>
          <a:xfrm>
            <a:off x="6045647" y="2433024"/>
            <a:ext cx="5539978" cy="276998"/>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生成密钥流，与明文逐位（或逐字节）进行异或操作。</a:t>
            </a:r>
            <a:endParaRPr lang="en-US" dirty="0">
              <a:latin typeface="微软雅黑" panose="020B0503020204020204" pitchFamily="34" charset="-122"/>
              <a:ea typeface="微软雅黑" panose="020B0503020204020204" pitchFamily="34" charset="-122"/>
            </a:endParaRPr>
          </a:p>
        </p:txBody>
      </p:sp>
      <p:sp>
        <p:nvSpPr>
          <p:cNvPr id="59" name="Text 25">
            <a:extLst>
              <a:ext uri="{FF2B5EF4-FFF2-40B4-BE49-F238E27FC236}">
                <a16:creationId xmlns:a16="http://schemas.microsoft.com/office/drawing/2014/main" id="{E1247FE8-B469-E2A8-2600-8022278BED34}"/>
              </a:ext>
            </a:extLst>
          </p:cNvPr>
          <p:cNvSpPr/>
          <p:nvPr/>
        </p:nvSpPr>
        <p:spPr>
          <a:xfrm>
            <a:off x="6234780" y="2772696"/>
            <a:ext cx="2769988"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一次处理一位或一字节数据</a:t>
            </a:r>
            <a:endParaRPr lang="en-US" dirty="0">
              <a:latin typeface="微软雅黑" panose="020B0503020204020204" pitchFamily="34" charset="-122"/>
              <a:ea typeface="微软雅黑" panose="020B0503020204020204" pitchFamily="34" charset="-122"/>
            </a:endParaRPr>
          </a:p>
        </p:txBody>
      </p:sp>
      <p:sp>
        <p:nvSpPr>
          <p:cNvPr id="60" name="Text 26">
            <a:extLst>
              <a:ext uri="{FF2B5EF4-FFF2-40B4-BE49-F238E27FC236}">
                <a16:creationId xmlns:a16="http://schemas.microsoft.com/office/drawing/2014/main" id="{9B4CA622-8C52-5EA2-7680-8479C1E624BF}"/>
              </a:ext>
            </a:extLst>
          </p:cNvPr>
          <p:cNvSpPr/>
          <p:nvPr/>
        </p:nvSpPr>
        <p:spPr>
          <a:xfrm>
            <a:off x="6234780" y="3112368"/>
            <a:ext cx="2769988"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加密速度通常快于分组密码</a:t>
            </a:r>
            <a:endParaRPr lang="en-US" dirty="0">
              <a:latin typeface="微软雅黑" panose="020B0503020204020204" pitchFamily="34" charset="-122"/>
              <a:ea typeface="微软雅黑" panose="020B0503020204020204" pitchFamily="34" charset="-122"/>
            </a:endParaRPr>
          </a:p>
        </p:txBody>
      </p:sp>
      <p:sp>
        <p:nvSpPr>
          <p:cNvPr id="61" name="Text 27">
            <a:extLst>
              <a:ext uri="{FF2B5EF4-FFF2-40B4-BE49-F238E27FC236}">
                <a16:creationId xmlns:a16="http://schemas.microsoft.com/office/drawing/2014/main" id="{0E504FB3-BB9C-55A2-DEA6-966A0B281443}"/>
              </a:ext>
            </a:extLst>
          </p:cNvPr>
          <p:cNvSpPr/>
          <p:nvPr/>
        </p:nvSpPr>
        <p:spPr>
          <a:xfrm>
            <a:off x="6234780" y="3452040"/>
            <a:ext cx="4693336" cy="2769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典型算法：RC4、ChaCha20、A5/1（GSM）</a:t>
            </a:r>
            <a:endParaRPr 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7177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5DBC-C9E7-9497-3DD6-5DB89CD8E6D0}"/>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C1D236D5-2016-ED2A-3CB9-170C5413A327}"/>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对称密码算法</a:t>
            </a:r>
          </a:p>
        </p:txBody>
      </p:sp>
      <p:grpSp>
        <p:nvGrpSpPr>
          <p:cNvPr id="33" name="组合 2">
            <a:extLst>
              <a:ext uri="{FF2B5EF4-FFF2-40B4-BE49-F238E27FC236}">
                <a16:creationId xmlns:a16="http://schemas.microsoft.com/office/drawing/2014/main" id="{9E9A9ACF-EE44-2707-EC27-FC8A3E679B14}"/>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A7D957FE-7F87-697A-2A95-5D1786E46FE0}"/>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0BA97C1C-1972-3E1D-EA3E-E2BFBD25E4C4}"/>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41F09F9B-2809-A7EB-33FF-773EBFA509C1}"/>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EA173C20-8D0A-BF6D-E2DD-D3791DDD44E8}"/>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国密算法</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SM4</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grpSp>
        <p:nvGrpSpPr>
          <p:cNvPr id="99" name="组合 98">
            <a:extLst>
              <a:ext uri="{FF2B5EF4-FFF2-40B4-BE49-F238E27FC236}">
                <a16:creationId xmlns:a16="http://schemas.microsoft.com/office/drawing/2014/main" id="{8626A492-4B38-0CEA-484A-80FC72A88A24}"/>
              </a:ext>
            </a:extLst>
          </p:cNvPr>
          <p:cNvGrpSpPr/>
          <p:nvPr/>
        </p:nvGrpSpPr>
        <p:grpSpPr>
          <a:xfrm>
            <a:off x="1189686" y="1621847"/>
            <a:ext cx="5966533" cy="2543633"/>
            <a:chOff x="218136" y="1621847"/>
            <a:chExt cx="8302409" cy="2543633"/>
          </a:xfrm>
        </p:grpSpPr>
        <p:sp>
          <p:nvSpPr>
            <p:cNvPr id="75" name="Shape 1">
              <a:extLst>
                <a:ext uri="{FF2B5EF4-FFF2-40B4-BE49-F238E27FC236}">
                  <a16:creationId xmlns:a16="http://schemas.microsoft.com/office/drawing/2014/main" id="{29789CD8-7C41-1CF9-75FD-29302646BF5C}"/>
                </a:ext>
              </a:extLst>
            </p:cNvPr>
            <p:cNvSpPr/>
            <p:nvPr/>
          </p:nvSpPr>
          <p:spPr>
            <a:xfrm>
              <a:off x="218136" y="1621847"/>
              <a:ext cx="8302409" cy="2543633"/>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76" name="Shape 2">
              <a:extLst>
                <a:ext uri="{FF2B5EF4-FFF2-40B4-BE49-F238E27FC236}">
                  <a16:creationId xmlns:a16="http://schemas.microsoft.com/office/drawing/2014/main" id="{9E4B395B-6178-300F-0C3D-8E91F288B4C8}"/>
                </a:ext>
              </a:extLst>
            </p:cNvPr>
            <p:cNvSpPr/>
            <p:nvPr/>
          </p:nvSpPr>
          <p:spPr>
            <a:xfrm>
              <a:off x="218136" y="1621847"/>
              <a:ext cx="57656" cy="2543633"/>
            </a:xfrm>
            <a:prstGeom prst="rect">
              <a:avLst/>
            </a:prstGeom>
            <a:solidFill>
              <a:srgbClr val="3498DB"/>
            </a:solidFill>
            <a:ln/>
          </p:spPr>
        </p:sp>
        <p:sp>
          <p:nvSpPr>
            <p:cNvPr id="77" name="Text 3">
              <a:extLst>
                <a:ext uri="{FF2B5EF4-FFF2-40B4-BE49-F238E27FC236}">
                  <a16:creationId xmlns:a16="http://schemas.microsoft.com/office/drawing/2014/main" id="{E590B616-99CC-EFC9-0E6B-2F0B4A3FC7D8}"/>
                </a:ext>
              </a:extLst>
            </p:cNvPr>
            <p:cNvSpPr/>
            <p:nvPr/>
          </p:nvSpPr>
          <p:spPr>
            <a:xfrm>
              <a:off x="362276" y="1727328"/>
              <a:ext cx="1442704"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SM4算法简介</a:t>
              </a:r>
              <a:endParaRPr lang="en-US" dirty="0">
                <a:latin typeface="微软雅黑" panose="020B0503020204020204" pitchFamily="34" charset="-122"/>
                <a:ea typeface="微软雅黑" panose="020B0503020204020204" pitchFamily="34" charset="-122"/>
              </a:endParaRPr>
            </a:p>
          </p:txBody>
        </p:sp>
        <p:sp>
          <p:nvSpPr>
            <p:cNvPr id="78" name="Text 4">
              <a:extLst>
                <a:ext uri="{FF2B5EF4-FFF2-40B4-BE49-F238E27FC236}">
                  <a16:creationId xmlns:a16="http://schemas.microsoft.com/office/drawing/2014/main" id="{1D576406-BA4D-A1B2-E577-7C600ABC93CA}"/>
                </a:ext>
              </a:extLst>
            </p:cNvPr>
            <p:cNvSpPr/>
            <p:nvPr/>
          </p:nvSpPr>
          <p:spPr>
            <a:xfrm>
              <a:off x="362276" y="2040453"/>
              <a:ext cx="8014131" cy="553998"/>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SM4是中国国家密码管理局发布的分组密码算法标准，是我国自主设计的对称密码算法，属于国家商用密码算法。</a:t>
              </a:r>
              <a:endParaRPr lang="en-US" dirty="0">
                <a:latin typeface="微软雅黑" panose="020B0503020204020204" pitchFamily="34" charset="-122"/>
                <a:ea typeface="微软雅黑" panose="020B0503020204020204" pitchFamily="34" charset="-122"/>
              </a:endParaRPr>
            </a:p>
          </p:txBody>
        </p:sp>
        <p:sp>
          <p:nvSpPr>
            <p:cNvPr id="79" name="Text 5">
              <a:extLst>
                <a:ext uri="{FF2B5EF4-FFF2-40B4-BE49-F238E27FC236}">
                  <a16:creationId xmlns:a16="http://schemas.microsoft.com/office/drawing/2014/main" id="{5B9DFD4F-D483-6608-5498-DF982A84628D}"/>
                </a:ext>
              </a:extLst>
            </p:cNvPr>
            <p:cNvSpPr/>
            <p:nvPr/>
          </p:nvSpPr>
          <p:spPr>
            <a:xfrm>
              <a:off x="650554" y="2635769"/>
              <a:ext cx="4953278"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发布时间：2012年，标准号为GM/T 0002-2012</a:t>
              </a:r>
              <a:endParaRPr lang="en-US" dirty="0">
                <a:latin typeface="微软雅黑" panose="020B0503020204020204" pitchFamily="34" charset="-122"/>
                <a:ea typeface="微软雅黑" panose="020B0503020204020204" pitchFamily="34" charset="-122"/>
              </a:endParaRPr>
            </a:p>
          </p:txBody>
        </p:sp>
        <p:sp>
          <p:nvSpPr>
            <p:cNvPr id="80" name="Text 6">
              <a:extLst>
                <a:ext uri="{FF2B5EF4-FFF2-40B4-BE49-F238E27FC236}">
                  <a16:creationId xmlns:a16="http://schemas.microsoft.com/office/drawing/2014/main" id="{E6DF6B69-E869-DE05-D0F9-732BC8ADB002}"/>
                </a:ext>
              </a:extLst>
            </p:cNvPr>
            <p:cNvSpPr/>
            <p:nvPr/>
          </p:nvSpPr>
          <p:spPr>
            <a:xfrm>
              <a:off x="650554" y="2926468"/>
              <a:ext cx="2981585"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分组长度：128位（16字节）</a:t>
              </a:r>
              <a:endParaRPr lang="en-US" dirty="0">
                <a:latin typeface="微软雅黑" panose="020B0503020204020204" pitchFamily="34" charset="-122"/>
                <a:ea typeface="微软雅黑" panose="020B0503020204020204" pitchFamily="34" charset="-122"/>
              </a:endParaRPr>
            </a:p>
          </p:txBody>
        </p:sp>
        <p:sp>
          <p:nvSpPr>
            <p:cNvPr id="81" name="Text 7">
              <a:extLst>
                <a:ext uri="{FF2B5EF4-FFF2-40B4-BE49-F238E27FC236}">
                  <a16:creationId xmlns:a16="http://schemas.microsoft.com/office/drawing/2014/main" id="{DF1E44B9-38B3-8281-4F6A-7C94807BD6B2}"/>
                </a:ext>
              </a:extLst>
            </p:cNvPr>
            <p:cNvSpPr/>
            <p:nvPr/>
          </p:nvSpPr>
          <p:spPr>
            <a:xfrm>
              <a:off x="650554" y="3217171"/>
              <a:ext cx="2981585"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密钥长度：128位（16字节）</a:t>
              </a:r>
              <a:endParaRPr lang="en-US" dirty="0">
                <a:latin typeface="微软雅黑" panose="020B0503020204020204" pitchFamily="34" charset="-122"/>
                <a:ea typeface="微软雅黑" panose="020B0503020204020204" pitchFamily="34" charset="-122"/>
              </a:endParaRPr>
            </a:p>
          </p:txBody>
        </p:sp>
        <p:sp>
          <p:nvSpPr>
            <p:cNvPr id="82" name="Text 8">
              <a:extLst>
                <a:ext uri="{FF2B5EF4-FFF2-40B4-BE49-F238E27FC236}">
                  <a16:creationId xmlns:a16="http://schemas.microsoft.com/office/drawing/2014/main" id="{16BF2AD0-AC6C-E1B2-6193-85DEC01BBA2D}"/>
                </a:ext>
              </a:extLst>
            </p:cNvPr>
            <p:cNvSpPr/>
            <p:nvPr/>
          </p:nvSpPr>
          <p:spPr>
            <a:xfrm>
              <a:off x="650554" y="3507871"/>
              <a:ext cx="1192635"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轮数：32轮</a:t>
              </a:r>
              <a:endParaRPr lang="en-US" dirty="0">
                <a:latin typeface="微软雅黑" panose="020B0503020204020204" pitchFamily="34" charset="-122"/>
                <a:ea typeface="微软雅黑" panose="020B0503020204020204" pitchFamily="34" charset="-122"/>
              </a:endParaRPr>
            </a:p>
          </p:txBody>
        </p:sp>
        <p:sp>
          <p:nvSpPr>
            <p:cNvPr id="83" name="Text 9">
              <a:extLst>
                <a:ext uri="{FF2B5EF4-FFF2-40B4-BE49-F238E27FC236}">
                  <a16:creationId xmlns:a16="http://schemas.microsoft.com/office/drawing/2014/main" id="{E49C3F22-98B2-1123-91E6-147E38095218}"/>
                </a:ext>
              </a:extLst>
            </p:cNvPr>
            <p:cNvSpPr/>
            <p:nvPr/>
          </p:nvSpPr>
          <p:spPr>
            <a:xfrm>
              <a:off x="650554" y="3798572"/>
              <a:ext cx="300851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结构：非平衡Feistel网络结构</a:t>
              </a:r>
              <a:endParaRPr lang="en-US" dirty="0">
                <a:latin typeface="微软雅黑" panose="020B0503020204020204" pitchFamily="34" charset="-122"/>
                <a:ea typeface="微软雅黑" panose="020B0503020204020204" pitchFamily="34" charset="-122"/>
              </a:endParaRPr>
            </a:p>
          </p:txBody>
        </p:sp>
      </p:grpSp>
      <p:sp>
        <p:nvSpPr>
          <p:cNvPr id="84" name="Shape 10">
            <a:extLst>
              <a:ext uri="{FF2B5EF4-FFF2-40B4-BE49-F238E27FC236}">
                <a16:creationId xmlns:a16="http://schemas.microsoft.com/office/drawing/2014/main" id="{1E33027D-DD48-2886-E666-7901C6009040}"/>
              </a:ext>
            </a:extLst>
          </p:cNvPr>
          <p:cNvSpPr/>
          <p:nvPr/>
        </p:nvSpPr>
        <p:spPr>
          <a:xfrm>
            <a:off x="1189686" y="4290064"/>
            <a:ext cx="5966533" cy="1962231"/>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85" name="Shape 11">
            <a:extLst>
              <a:ext uri="{FF2B5EF4-FFF2-40B4-BE49-F238E27FC236}">
                <a16:creationId xmlns:a16="http://schemas.microsoft.com/office/drawing/2014/main" id="{BDA06503-1883-01F4-0DDE-5A25B2F571EB}"/>
              </a:ext>
            </a:extLst>
          </p:cNvPr>
          <p:cNvSpPr/>
          <p:nvPr/>
        </p:nvSpPr>
        <p:spPr>
          <a:xfrm>
            <a:off x="1189686" y="4290064"/>
            <a:ext cx="57656" cy="1962231"/>
          </a:xfrm>
          <a:prstGeom prst="rect">
            <a:avLst/>
          </a:prstGeom>
          <a:solidFill>
            <a:srgbClr val="3498DB"/>
          </a:solidFill>
          <a:ln/>
        </p:spPr>
      </p:sp>
      <p:sp>
        <p:nvSpPr>
          <p:cNvPr id="86" name="Text 12">
            <a:extLst>
              <a:ext uri="{FF2B5EF4-FFF2-40B4-BE49-F238E27FC236}">
                <a16:creationId xmlns:a16="http://schemas.microsoft.com/office/drawing/2014/main" id="{3C1491AE-479C-12FF-BF73-BC5BBCC08E8D}"/>
              </a:ext>
            </a:extLst>
          </p:cNvPr>
          <p:cNvSpPr/>
          <p:nvPr/>
        </p:nvSpPr>
        <p:spPr>
          <a:xfrm>
            <a:off x="1333826" y="4395546"/>
            <a:ext cx="1442704"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SM4算法特点</a:t>
            </a:r>
            <a:endParaRPr lang="en-US" dirty="0">
              <a:latin typeface="微软雅黑" panose="020B0503020204020204" pitchFamily="34" charset="-122"/>
              <a:ea typeface="微软雅黑" panose="020B0503020204020204" pitchFamily="34" charset="-122"/>
            </a:endParaRPr>
          </a:p>
        </p:txBody>
      </p:sp>
      <p:sp>
        <p:nvSpPr>
          <p:cNvPr id="87" name="Text 13">
            <a:extLst>
              <a:ext uri="{FF2B5EF4-FFF2-40B4-BE49-F238E27FC236}">
                <a16:creationId xmlns:a16="http://schemas.microsoft.com/office/drawing/2014/main" id="{0ABC8800-F310-B04A-F575-F9AA6C79D491}"/>
              </a:ext>
            </a:extLst>
          </p:cNvPr>
          <p:cNvSpPr/>
          <p:nvPr/>
        </p:nvSpPr>
        <p:spPr>
          <a:xfrm>
            <a:off x="1622104" y="4721287"/>
            <a:ext cx="1384996"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自主知识产权</a:t>
            </a:r>
            <a:endParaRPr lang="en-US" dirty="0">
              <a:latin typeface="微软雅黑" panose="020B0503020204020204" pitchFamily="34" charset="-122"/>
              <a:ea typeface="微软雅黑" panose="020B0503020204020204" pitchFamily="34" charset="-122"/>
            </a:endParaRPr>
          </a:p>
        </p:txBody>
      </p:sp>
      <p:sp>
        <p:nvSpPr>
          <p:cNvPr id="88" name="Text 14">
            <a:extLst>
              <a:ext uri="{FF2B5EF4-FFF2-40B4-BE49-F238E27FC236}">
                <a16:creationId xmlns:a16="http://schemas.microsoft.com/office/drawing/2014/main" id="{D8658531-6F28-4CF7-947F-22427262009E}"/>
              </a:ext>
            </a:extLst>
          </p:cNvPr>
          <p:cNvSpPr/>
          <p:nvPr/>
        </p:nvSpPr>
        <p:spPr>
          <a:xfrm>
            <a:off x="3005839" y="4721287"/>
            <a:ext cx="323165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：完全自主设计的分组密码算法</a:t>
            </a:r>
            <a:endParaRPr lang="en-US" dirty="0">
              <a:latin typeface="微软雅黑" panose="020B0503020204020204" pitchFamily="34" charset="-122"/>
              <a:ea typeface="微软雅黑" panose="020B0503020204020204" pitchFamily="34" charset="-122"/>
            </a:endParaRPr>
          </a:p>
        </p:txBody>
      </p:sp>
      <p:sp>
        <p:nvSpPr>
          <p:cNvPr id="89" name="Text 15">
            <a:extLst>
              <a:ext uri="{FF2B5EF4-FFF2-40B4-BE49-F238E27FC236}">
                <a16:creationId xmlns:a16="http://schemas.microsoft.com/office/drawing/2014/main" id="{291B793B-6CB0-ADE1-6433-12A2FBFDB2B3}"/>
              </a:ext>
            </a:extLst>
          </p:cNvPr>
          <p:cNvSpPr/>
          <p:nvPr/>
        </p:nvSpPr>
        <p:spPr>
          <a:xfrm>
            <a:off x="1622104" y="5011988"/>
            <a:ext cx="923329"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高安全性</a:t>
            </a:r>
            <a:endParaRPr lang="en-US" dirty="0">
              <a:latin typeface="微软雅黑" panose="020B0503020204020204" pitchFamily="34" charset="-122"/>
              <a:ea typeface="微软雅黑" panose="020B0503020204020204" pitchFamily="34" charset="-122"/>
            </a:endParaRPr>
          </a:p>
        </p:txBody>
      </p:sp>
      <p:sp>
        <p:nvSpPr>
          <p:cNvPr id="90" name="Text 16">
            <a:extLst>
              <a:ext uri="{FF2B5EF4-FFF2-40B4-BE49-F238E27FC236}">
                <a16:creationId xmlns:a16="http://schemas.microsoft.com/office/drawing/2014/main" id="{B19803F7-5F25-429B-EB76-5A37B5D041C8}"/>
              </a:ext>
            </a:extLst>
          </p:cNvPr>
          <p:cNvSpPr/>
          <p:nvPr/>
        </p:nvSpPr>
        <p:spPr>
          <a:xfrm>
            <a:off x="2544594" y="5011988"/>
            <a:ext cx="276999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：抵抗已知的密码分析攻击</a:t>
            </a:r>
            <a:endParaRPr lang="en-US" dirty="0">
              <a:latin typeface="微软雅黑" panose="020B0503020204020204" pitchFamily="34" charset="-122"/>
              <a:ea typeface="微软雅黑" panose="020B0503020204020204" pitchFamily="34" charset="-122"/>
            </a:endParaRPr>
          </a:p>
        </p:txBody>
      </p:sp>
      <p:sp>
        <p:nvSpPr>
          <p:cNvPr id="91" name="Text 17">
            <a:extLst>
              <a:ext uri="{FF2B5EF4-FFF2-40B4-BE49-F238E27FC236}">
                <a16:creationId xmlns:a16="http://schemas.microsoft.com/office/drawing/2014/main" id="{AA5FBFD1-440E-BEC3-3893-5711225E3DAE}"/>
              </a:ext>
            </a:extLst>
          </p:cNvPr>
          <p:cNvSpPr/>
          <p:nvPr/>
        </p:nvSpPr>
        <p:spPr>
          <a:xfrm>
            <a:off x="1622104" y="5302688"/>
            <a:ext cx="692497"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高效率</a:t>
            </a:r>
            <a:endParaRPr lang="en-US" dirty="0">
              <a:latin typeface="微软雅黑" panose="020B0503020204020204" pitchFamily="34" charset="-122"/>
              <a:ea typeface="微软雅黑" panose="020B0503020204020204" pitchFamily="34" charset="-122"/>
            </a:endParaRPr>
          </a:p>
        </p:txBody>
      </p:sp>
      <p:sp>
        <p:nvSpPr>
          <p:cNvPr id="92" name="Text 18">
            <a:extLst>
              <a:ext uri="{FF2B5EF4-FFF2-40B4-BE49-F238E27FC236}">
                <a16:creationId xmlns:a16="http://schemas.microsoft.com/office/drawing/2014/main" id="{226900DA-AABD-AE6A-B9AF-5D6EAB417937}"/>
              </a:ext>
            </a:extLst>
          </p:cNvPr>
          <p:cNvSpPr/>
          <p:nvPr/>
        </p:nvSpPr>
        <p:spPr>
          <a:xfrm>
            <a:off x="2313972" y="5302688"/>
            <a:ext cx="2077493"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：软硬件实现效率高</a:t>
            </a:r>
            <a:endParaRPr lang="en-US" dirty="0">
              <a:latin typeface="微软雅黑" panose="020B0503020204020204" pitchFamily="34" charset="-122"/>
              <a:ea typeface="微软雅黑" panose="020B0503020204020204" pitchFamily="34" charset="-122"/>
            </a:endParaRPr>
          </a:p>
        </p:txBody>
      </p:sp>
      <p:sp>
        <p:nvSpPr>
          <p:cNvPr id="93" name="Text 19">
            <a:extLst>
              <a:ext uri="{FF2B5EF4-FFF2-40B4-BE49-F238E27FC236}">
                <a16:creationId xmlns:a16="http://schemas.microsoft.com/office/drawing/2014/main" id="{FF7EA126-3E6B-ACAD-018B-CF4BE2501003}"/>
              </a:ext>
            </a:extLst>
          </p:cNvPr>
          <p:cNvSpPr/>
          <p:nvPr/>
        </p:nvSpPr>
        <p:spPr>
          <a:xfrm>
            <a:off x="1622104" y="5593389"/>
            <a:ext cx="1615826"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加解密结构相同</a:t>
            </a:r>
            <a:endParaRPr lang="en-US" dirty="0">
              <a:latin typeface="微软雅黑" panose="020B0503020204020204" pitchFamily="34" charset="-122"/>
              <a:ea typeface="微软雅黑" panose="020B0503020204020204" pitchFamily="34" charset="-122"/>
            </a:endParaRPr>
          </a:p>
        </p:txBody>
      </p:sp>
      <p:sp>
        <p:nvSpPr>
          <p:cNvPr id="94" name="Text 20">
            <a:extLst>
              <a:ext uri="{FF2B5EF4-FFF2-40B4-BE49-F238E27FC236}">
                <a16:creationId xmlns:a16="http://schemas.microsoft.com/office/drawing/2014/main" id="{94AF6AD1-0A49-E5ED-FC0D-1268B1235079}"/>
              </a:ext>
            </a:extLst>
          </p:cNvPr>
          <p:cNvSpPr/>
          <p:nvPr/>
        </p:nvSpPr>
        <p:spPr>
          <a:xfrm>
            <a:off x="3236461" y="5593389"/>
            <a:ext cx="2308323"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：仅密钥使用顺序不同</a:t>
            </a:r>
            <a:endParaRPr lang="en-US" dirty="0">
              <a:latin typeface="微软雅黑" panose="020B0503020204020204" pitchFamily="34" charset="-122"/>
              <a:ea typeface="微软雅黑" panose="020B0503020204020204" pitchFamily="34" charset="-122"/>
            </a:endParaRPr>
          </a:p>
        </p:txBody>
      </p:sp>
      <p:sp>
        <p:nvSpPr>
          <p:cNvPr id="95" name="Text 21">
            <a:extLst>
              <a:ext uri="{FF2B5EF4-FFF2-40B4-BE49-F238E27FC236}">
                <a16:creationId xmlns:a16="http://schemas.microsoft.com/office/drawing/2014/main" id="{260D991D-4F58-114A-DB27-3296A2DF4B43}"/>
              </a:ext>
            </a:extLst>
          </p:cNvPr>
          <p:cNvSpPr/>
          <p:nvPr/>
        </p:nvSpPr>
        <p:spPr>
          <a:xfrm>
            <a:off x="1622104" y="5884090"/>
            <a:ext cx="923329"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适用性广</a:t>
            </a:r>
            <a:endParaRPr lang="en-US" dirty="0">
              <a:latin typeface="微软雅黑" panose="020B0503020204020204" pitchFamily="34" charset="-122"/>
              <a:ea typeface="微软雅黑" panose="020B0503020204020204" pitchFamily="34" charset="-122"/>
            </a:endParaRPr>
          </a:p>
        </p:txBody>
      </p:sp>
      <p:sp>
        <p:nvSpPr>
          <p:cNvPr id="96" name="Text 22">
            <a:extLst>
              <a:ext uri="{FF2B5EF4-FFF2-40B4-BE49-F238E27FC236}">
                <a16:creationId xmlns:a16="http://schemas.microsoft.com/office/drawing/2014/main" id="{CA8060A0-90EB-C326-A157-D8F258613644}"/>
              </a:ext>
            </a:extLst>
          </p:cNvPr>
          <p:cNvSpPr/>
          <p:nvPr/>
        </p:nvSpPr>
        <p:spPr>
          <a:xfrm>
            <a:off x="2544594" y="5884090"/>
            <a:ext cx="2308323"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：适用于各种应用场景</a:t>
            </a:r>
            <a:endParaRPr lang="en-US" dirty="0">
              <a:latin typeface="微软雅黑" panose="020B0503020204020204" pitchFamily="34" charset="-122"/>
              <a:ea typeface="微软雅黑" panose="020B0503020204020204" pitchFamily="34" charset="-122"/>
            </a:endParaRPr>
          </a:p>
        </p:txBody>
      </p:sp>
      <p:sp>
        <p:nvSpPr>
          <p:cNvPr id="101" name="object 9">
            <a:extLst>
              <a:ext uri="{FF2B5EF4-FFF2-40B4-BE49-F238E27FC236}">
                <a16:creationId xmlns:a16="http://schemas.microsoft.com/office/drawing/2014/main" id="{E6A500BE-94FF-F90B-6CB2-AC2851C1EBA7}"/>
              </a:ext>
            </a:extLst>
          </p:cNvPr>
          <p:cNvSpPr/>
          <p:nvPr/>
        </p:nvSpPr>
        <p:spPr>
          <a:xfrm>
            <a:off x="7968738" y="1986164"/>
            <a:ext cx="2929901" cy="3765986"/>
          </a:xfrm>
          <a:prstGeom prst="rect">
            <a:avLst/>
          </a:prstGeom>
          <a:blipFill>
            <a:blip r:embed="rId3" cstate="print"/>
            <a:stretch>
              <a:fillRect/>
            </a:stretch>
          </a:blipFill>
        </p:spPr>
        <p:txBody>
          <a:bodyPr wrap="square" lIns="0" tIns="0" rIns="0" bIns="0" rtlCol="0">
            <a:noAutofit/>
          </a:bodyPr>
          <a:lstStyle/>
          <a:p>
            <a:endParaRPr/>
          </a:p>
        </p:txBody>
      </p:sp>
      <p:sp>
        <p:nvSpPr>
          <p:cNvPr id="102" name="object 10">
            <a:extLst>
              <a:ext uri="{FF2B5EF4-FFF2-40B4-BE49-F238E27FC236}">
                <a16:creationId xmlns:a16="http://schemas.microsoft.com/office/drawing/2014/main" id="{5B76AA7F-4A56-3D9B-CBA8-EAC96F97A8E9}"/>
              </a:ext>
            </a:extLst>
          </p:cNvPr>
          <p:cNvSpPr txBox="1"/>
          <p:nvPr/>
        </p:nvSpPr>
        <p:spPr>
          <a:xfrm>
            <a:off x="8777634" y="5778762"/>
            <a:ext cx="1312108" cy="214420"/>
          </a:xfrm>
          <a:prstGeom prst="rect">
            <a:avLst/>
          </a:prstGeom>
        </p:spPr>
        <p:txBody>
          <a:bodyPr vert="horz" wrap="square" lIns="0" tIns="0" rIns="0" bIns="0" rtlCol="0">
            <a:noAutofit/>
          </a:bodyPr>
          <a:lstStyle/>
          <a:p>
            <a:pPr marL="12700" algn="ctr">
              <a:lnSpc>
                <a:spcPct val="100000"/>
              </a:lnSpc>
            </a:pPr>
            <a:r>
              <a:rPr sz="1200" dirty="0">
                <a:latin typeface="Microsoft YaHei UI"/>
                <a:cs typeface="Microsoft YaHei UI"/>
              </a:rPr>
              <a:t>密钥扩展算法</a:t>
            </a:r>
          </a:p>
        </p:txBody>
      </p:sp>
    </p:spTree>
    <p:extLst>
      <p:ext uri="{BB962C8B-B14F-4D97-AF65-F5344CB8AC3E}">
        <p14:creationId xmlns:p14="http://schemas.microsoft.com/office/powerpoint/2010/main" val="2512544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9251-754D-CA91-4AF1-11932C4988E1}"/>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726A4E54-5B8D-B006-2147-843CD4F8C8BB}"/>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对称密码算法</a:t>
            </a:r>
          </a:p>
        </p:txBody>
      </p:sp>
      <p:grpSp>
        <p:nvGrpSpPr>
          <p:cNvPr id="33" name="组合 2">
            <a:extLst>
              <a:ext uri="{FF2B5EF4-FFF2-40B4-BE49-F238E27FC236}">
                <a16:creationId xmlns:a16="http://schemas.microsoft.com/office/drawing/2014/main" id="{758D1A53-4C27-7683-E59D-F38789C1B5E6}"/>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B4F69F77-647B-0C66-7055-F4BDA3C1A63E}"/>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4144040E-11ED-9FDB-8465-B1DEA22B1E5A}"/>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7DA57A6B-2AAF-5068-7F42-CB86FE643C01}"/>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39A298BF-ED2A-2E55-B6F9-2105CA67EFE5}"/>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国密算法</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SM4</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pic>
        <p:nvPicPr>
          <p:cNvPr id="229" name="图片 228">
            <a:extLst>
              <a:ext uri="{FF2B5EF4-FFF2-40B4-BE49-F238E27FC236}">
                <a16:creationId xmlns:a16="http://schemas.microsoft.com/office/drawing/2014/main" id="{4ADE86D6-AA73-BEE3-BDFB-A2C8BE18A831}"/>
              </a:ext>
            </a:extLst>
          </p:cNvPr>
          <p:cNvPicPr>
            <a:picLocks noChangeAspect="1"/>
          </p:cNvPicPr>
          <p:nvPr/>
        </p:nvPicPr>
        <p:blipFill>
          <a:blip r:embed="rId3"/>
          <a:stretch>
            <a:fillRect/>
          </a:stretch>
        </p:blipFill>
        <p:spPr>
          <a:xfrm>
            <a:off x="406030" y="1591069"/>
            <a:ext cx="7152277" cy="4782292"/>
          </a:xfrm>
          <a:prstGeom prst="rect">
            <a:avLst/>
          </a:prstGeom>
        </p:spPr>
      </p:pic>
      <p:sp>
        <p:nvSpPr>
          <p:cNvPr id="230" name="object 8">
            <a:extLst>
              <a:ext uri="{FF2B5EF4-FFF2-40B4-BE49-F238E27FC236}">
                <a16:creationId xmlns:a16="http://schemas.microsoft.com/office/drawing/2014/main" id="{5A4B667C-05A3-7B48-62C1-14FF895907DE}"/>
              </a:ext>
            </a:extLst>
          </p:cNvPr>
          <p:cNvSpPr/>
          <p:nvPr/>
        </p:nvSpPr>
        <p:spPr>
          <a:xfrm>
            <a:off x="8161401" y="1975102"/>
            <a:ext cx="3097149" cy="3587497"/>
          </a:xfrm>
          <a:prstGeom prst="rect">
            <a:avLst/>
          </a:prstGeom>
          <a:blipFill>
            <a:blip r:embed="rId4" cstate="print"/>
            <a:stretch>
              <a:fillRect/>
            </a:stretch>
          </a:blipFill>
        </p:spPr>
        <p:txBody>
          <a:bodyPr wrap="square" lIns="0" tIns="0" rIns="0" bIns="0" rtlCol="0">
            <a:noAutofit/>
          </a:bodyPr>
          <a:lstStyle/>
          <a:p>
            <a:endParaRPr/>
          </a:p>
        </p:txBody>
      </p:sp>
      <p:sp>
        <p:nvSpPr>
          <p:cNvPr id="231" name="object 10">
            <a:extLst>
              <a:ext uri="{FF2B5EF4-FFF2-40B4-BE49-F238E27FC236}">
                <a16:creationId xmlns:a16="http://schemas.microsoft.com/office/drawing/2014/main" id="{8F45755A-AA3D-BDDF-BE78-180066E58755}"/>
              </a:ext>
            </a:extLst>
          </p:cNvPr>
          <p:cNvSpPr txBox="1"/>
          <p:nvPr/>
        </p:nvSpPr>
        <p:spPr>
          <a:xfrm>
            <a:off x="9053921" y="5635887"/>
            <a:ext cx="1312108" cy="214420"/>
          </a:xfrm>
          <a:prstGeom prst="rect">
            <a:avLst/>
          </a:prstGeom>
        </p:spPr>
        <p:txBody>
          <a:bodyPr vert="horz" wrap="square" lIns="0" tIns="0" rIns="0" bIns="0" rtlCol="0">
            <a:noAutofit/>
          </a:bodyPr>
          <a:lstStyle/>
          <a:p>
            <a:pPr marL="12700" algn="ctr">
              <a:lnSpc>
                <a:spcPct val="100000"/>
              </a:lnSpc>
            </a:pPr>
            <a:r>
              <a:rPr lang="en-US" altLang="zh-CN" sz="1200" dirty="0">
                <a:latin typeface="Microsoft YaHei UI"/>
                <a:cs typeface="Microsoft YaHei UI"/>
              </a:rPr>
              <a:t>SM4</a:t>
            </a:r>
            <a:r>
              <a:rPr lang="zh-CN" altLang="en-US" sz="1200" dirty="0">
                <a:latin typeface="Microsoft YaHei UI"/>
                <a:cs typeface="Microsoft YaHei UI"/>
              </a:rPr>
              <a:t>加密算法</a:t>
            </a:r>
            <a:endParaRPr sz="1200" dirty="0">
              <a:latin typeface="Microsoft YaHei UI"/>
              <a:cs typeface="Microsoft YaHei UI"/>
            </a:endParaRPr>
          </a:p>
        </p:txBody>
      </p:sp>
    </p:spTree>
    <p:extLst>
      <p:ext uri="{BB962C8B-B14F-4D97-AF65-F5344CB8AC3E}">
        <p14:creationId xmlns:p14="http://schemas.microsoft.com/office/powerpoint/2010/main" val="1925642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879F9-E9D1-7233-BF2A-F0B86E17E2C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09AA10FA-7D2E-5260-4870-C9C6E6CDBC44}"/>
              </a:ext>
            </a:extLst>
          </p:cNvPr>
          <p:cNvSpPr/>
          <p:nvPr/>
        </p:nvSpPr>
        <p:spPr>
          <a:xfrm>
            <a:off x="-4445" y="130331"/>
            <a:ext cx="12196445" cy="835998"/>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4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目录</a:t>
            </a:r>
            <a:endParaRPr kumimoji="0" lang="en-US" altLang="zh-CN" sz="4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AD49F9B-DE59-B062-9BD9-400E9BA79B07}"/>
              </a:ext>
            </a:extLst>
          </p:cNvPr>
          <p:cNvSpPr txBox="1"/>
          <p:nvPr>
            <p:custDataLst>
              <p:tags r:id="rId1"/>
            </p:custDataLst>
          </p:nvPr>
        </p:nvSpPr>
        <p:spPr>
          <a:xfrm>
            <a:off x="0" y="1180323"/>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alt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07950E39-2626-0DB9-893E-CE70EB0D46E6}"/>
              </a:ext>
            </a:extLst>
          </p:cNvPr>
          <p:cNvSpPr txBox="1"/>
          <p:nvPr/>
        </p:nvSpPr>
        <p:spPr>
          <a:xfrm>
            <a:off x="4544504" y="2066722"/>
            <a:ext cx="3098545" cy="2820131"/>
          </a:xfrm>
          <a:prstGeom prst="rect">
            <a:avLst/>
          </a:prstGeom>
          <a:noFill/>
        </p:spPr>
        <p:txBody>
          <a:bodyPr wrap="square" rtlCol="0">
            <a:spAutoFit/>
          </a:bodyPr>
          <a:lstStyle/>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密码学发展简介</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Shannon</a:t>
            </a:r>
            <a:r>
              <a:rPr lang="zh-CN" altLang="en-US" sz="2400" dirty="0">
                <a:solidFill>
                  <a:srgbClr val="002060"/>
                </a:solidFill>
                <a:latin typeface="微软雅黑" panose="020B0503020204020204" pitchFamily="34" charset="-122"/>
                <a:ea typeface="微软雅黑" panose="020B0503020204020204" pitchFamily="34" charset="-122"/>
              </a:rPr>
              <a:t>理论</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Hash</a:t>
            </a:r>
            <a:r>
              <a:rPr lang="zh-CN" altLang="en-US" sz="2400" dirty="0">
                <a:solidFill>
                  <a:srgbClr val="002060"/>
                </a:solidFill>
                <a:latin typeface="微软雅黑" panose="020B0503020204020204" pitchFamily="34" charset="-122"/>
                <a:ea typeface="微软雅黑" panose="020B0503020204020204" pitchFamily="34" charset="-122"/>
              </a:rPr>
              <a:t>函数</a:t>
            </a: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b="1" dirty="0">
                <a:solidFill>
                  <a:srgbClr val="002060"/>
                </a:solidFill>
                <a:latin typeface="微软雅黑" panose="020B0503020204020204" pitchFamily="34" charset="-122"/>
                <a:ea typeface="微软雅黑" panose="020B0503020204020204" pitchFamily="34" charset="-122"/>
              </a:rPr>
              <a:t>非对称密码算法</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密码协议</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1381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F7DF1-3FED-FEEA-664A-19CAADA34F82}"/>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6C9CBAA6-B5BC-DD3C-E504-8F16C6581703}"/>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2F96A0EF-C6CB-8097-1336-B7178A6067D3}"/>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127CA1F9-14BA-714F-F6E1-7BE9B5CEDC4A}"/>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D379C212-E0FC-5F34-FB3B-B3A2D56C2286}"/>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BEBF2DF4-8FF6-5EA6-151E-8F8B9EEBF5CD}"/>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C71BD333-5A60-5958-3312-7369FE53473D}"/>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非对称密码算法简介</a:t>
              </a:r>
            </a:p>
          </p:txBody>
        </p:sp>
      </p:grpSp>
      <p:grpSp>
        <p:nvGrpSpPr>
          <p:cNvPr id="43" name="组合 42">
            <a:extLst>
              <a:ext uri="{FF2B5EF4-FFF2-40B4-BE49-F238E27FC236}">
                <a16:creationId xmlns:a16="http://schemas.microsoft.com/office/drawing/2014/main" id="{56F29123-C73E-0755-6541-B55EA7432798}"/>
              </a:ext>
            </a:extLst>
          </p:cNvPr>
          <p:cNvGrpSpPr/>
          <p:nvPr/>
        </p:nvGrpSpPr>
        <p:grpSpPr>
          <a:xfrm>
            <a:off x="325077" y="1861638"/>
            <a:ext cx="5842030" cy="4254183"/>
            <a:chOff x="377795" y="1766888"/>
            <a:chExt cx="4114801" cy="2149020"/>
          </a:xfrm>
        </p:grpSpPr>
        <p:sp>
          <p:nvSpPr>
            <p:cNvPr id="3" name="Shape 1">
              <a:extLst>
                <a:ext uri="{FF2B5EF4-FFF2-40B4-BE49-F238E27FC236}">
                  <a16:creationId xmlns:a16="http://schemas.microsoft.com/office/drawing/2014/main" id="{5F0D46CB-65CE-40A9-B346-548FAF471154}"/>
                </a:ext>
              </a:extLst>
            </p:cNvPr>
            <p:cNvSpPr/>
            <p:nvPr/>
          </p:nvSpPr>
          <p:spPr>
            <a:xfrm>
              <a:off x="377796" y="1766888"/>
              <a:ext cx="4114800" cy="892969"/>
            </a:xfrm>
            <a:prstGeom prst="rect">
              <a:avLst/>
            </a:prstGeom>
            <a:solidFill>
              <a:srgbClr val="F8F9FA"/>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4" name="Shape 2">
              <a:extLst>
                <a:ext uri="{FF2B5EF4-FFF2-40B4-BE49-F238E27FC236}">
                  <a16:creationId xmlns:a16="http://schemas.microsoft.com/office/drawing/2014/main" id="{9C3B61F3-C3A5-FBDA-D882-BF4B79DDF431}"/>
                </a:ext>
              </a:extLst>
            </p:cNvPr>
            <p:cNvSpPr/>
            <p:nvPr/>
          </p:nvSpPr>
          <p:spPr>
            <a:xfrm>
              <a:off x="377796" y="1766888"/>
              <a:ext cx="28575" cy="892969"/>
            </a:xfrm>
            <a:prstGeom prst="rect">
              <a:avLst/>
            </a:prstGeom>
            <a:solidFill>
              <a:srgbClr val="3498DB"/>
            </a:solidFill>
            <a:ln/>
          </p:spPr>
        </p:sp>
        <p:sp>
          <p:nvSpPr>
            <p:cNvPr id="5" name="Text 3">
              <a:extLst>
                <a:ext uri="{FF2B5EF4-FFF2-40B4-BE49-F238E27FC236}">
                  <a16:creationId xmlns:a16="http://schemas.microsoft.com/office/drawing/2014/main" id="{3AF61AA1-69E9-DBC8-F197-7CABE11690E6}"/>
                </a:ext>
              </a:extLst>
            </p:cNvPr>
            <p:cNvSpPr/>
            <p:nvPr/>
          </p:nvSpPr>
          <p:spPr>
            <a:xfrm>
              <a:off x="449234" y="1872575"/>
              <a:ext cx="1011644" cy="124380"/>
            </a:xfrm>
            <a:prstGeom prst="rect">
              <a:avLst/>
            </a:prstGeom>
            <a:noFill/>
            <a:ln/>
          </p:spPr>
          <p:txBody>
            <a:bodyPr wrap="non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非对称密码定义</a:t>
              </a:r>
              <a:endParaRPr lang="en-US" sz="1600"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E0F79F4A-BE50-7154-8E5F-0E7531612851}"/>
                </a:ext>
              </a:extLst>
            </p:cNvPr>
            <p:cNvSpPr/>
            <p:nvPr/>
          </p:nvSpPr>
          <p:spPr>
            <a:xfrm>
              <a:off x="517846" y="2144474"/>
              <a:ext cx="3971925" cy="373139"/>
            </a:xfrm>
            <a:prstGeom prst="rect">
              <a:avLst/>
            </a:prstGeom>
            <a:noFill/>
            <a:ln/>
          </p:spPr>
          <p:txBody>
            <a:bodyPr wrap="square" lIns="0" tIns="0" rIns="0" bIns="0" rtlCol="0" anchor="ctr">
              <a:spAutoFit/>
            </a:bodyPr>
            <a:lstStyle/>
            <a:p>
              <a:pPr marL="0" indent="0">
                <a:buNone/>
              </a:pP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非对称密码（也称公钥密码）是一种使用一对密钥的密码系统</a:t>
              </a:r>
              <a:r>
                <a:rPr lang="zh-CN" altLang="en-US" sz="1600" dirty="0">
                  <a:solidFill>
                    <a:srgbClr val="34495E"/>
                  </a:solidFill>
                  <a:latin typeface="微软雅黑" panose="020B0503020204020204" pitchFamily="34" charset="-122"/>
                  <a:ea typeface="微软雅黑" panose="020B0503020204020204" pitchFamily="34" charset="-122"/>
                  <a:cs typeface="Noto Sans" pitchFamily="34" charset="-120"/>
                </a:rPr>
                <a:t>，</a:t>
              </a: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公钥可以公开分发，而私钥需要保密。公钥用于加密或验证签名，私钥用于解密或生成签名</a:t>
              </a: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a:t>
              </a:r>
              <a:endParaRPr lang="en-US" sz="1600" dirty="0">
                <a:latin typeface="微软雅黑" panose="020B0503020204020204" pitchFamily="34" charset="-122"/>
                <a:ea typeface="微软雅黑" panose="020B0503020204020204" pitchFamily="34" charset="-122"/>
              </a:endParaRPr>
            </a:p>
          </p:txBody>
        </p:sp>
        <p:sp>
          <p:nvSpPr>
            <p:cNvPr id="7" name="Shape 5">
              <a:extLst>
                <a:ext uri="{FF2B5EF4-FFF2-40B4-BE49-F238E27FC236}">
                  <a16:creationId xmlns:a16="http://schemas.microsoft.com/office/drawing/2014/main" id="{551B306F-B005-2D5C-CEE8-A0B63F786B5F}"/>
                </a:ext>
              </a:extLst>
            </p:cNvPr>
            <p:cNvSpPr/>
            <p:nvPr/>
          </p:nvSpPr>
          <p:spPr>
            <a:xfrm>
              <a:off x="377796" y="2745581"/>
              <a:ext cx="4111975" cy="1170327"/>
            </a:xfrm>
            <a:prstGeom prst="rect">
              <a:avLst/>
            </a:prstGeom>
            <a:solidFill>
              <a:srgbClr val="F8F9FA"/>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8" name="Shape 6">
              <a:extLst>
                <a:ext uri="{FF2B5EF4-FFF2-40B4-BE49-F238E27FC236}">
                  <a16:creationId xmlns:a16="http://schemas.microsoft.com/office/drawing/2014/main" id="{07B33FF0-A47D-32D6-FE5F-06797F11AF21}"/>
                </a:ext>
              </a:extLst>
            </p:cNvPr>
            <p:cNvSpPr/>
            <p:nvPr/>
          </p:nvSpPr>
          <p:spPr>
            <a:xfrm>
              <a:off x="377795" y="2745581"/>
              <a:ext cx="32202" cy="1170327"/>
            </a:xfrm>
            <a:prstGeom prst="rect">
              <a:avLst/>
            </a:prstGeom>
            <a:solidFill>
              <a:srgbClr val="3498DB"/>
            </a:solidFill>
            <a:ln/>
          </p:spPr>
        </p:sp>
        <p:sp>
          <p:nvSpPr>
            <p:cNvPr id="9" name="Text 7">
              <a:extLst>
                <a:ext uri="{FF2B5EF4-FFF2-40B4-BE49-F238E27FC236}">
                  <a16:creationId xmlns:a16="http://schemas.microsoft.com/office/drawing/2014/main" id="{A8029C45-406D-A210-2811-97CED7A74CB0}"/>
                </a:ext>
              </a:extLst>
            </p:cNvPr>
            <p:cNvSpPr/>
            <p:nvPr/>
          </p:nvSpPr>
          <p:spPr>
            <a:xfrm>
              <a:off x="449234" y="2851269"/>
              <a:ext cx="1445205" cy="124380"/>
            </a:xfrm>
            <a:prstGeom prst="rect">
              <a:avLst/>
            </a:prstGeom>
            <a:noFill/>
            <a:ln/>
          </p:spPr>
          <p:txBody>
            <a:bodyPr wrap="non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非对称密码的数学基础</a:t>
              </a:r>
              <a:endParaRPr lang="en-US" sz="1600" dirty="0">
                <a:latin typeface="微软雅黑" panose="020B0503020204020204" pitchFamily="34" charset="-122"/>
                <a:ea typeface="微软雅黑" panose="020B0503020204020204" pitchFamily="34" charset="-122"/>
              </a:endParaRPr>
            </a:p>
          </p:txBody>
        </p:sp>
        <p:sp>
          <p:nvSpPr>
            <p:cNvPr id="10" name="Text 8">
              <a:extLst>
                <a:ext uri="{FF2B5EF4-FFF2-40B4-BE49-F238E27FC236}">
                  <a16:creationId xmlns:a16="http://schemas.microsoft.com/office/drawing/2014/main" id="{75DC5C8E-6611-6989-0EE8-9DB42B36AE8E}"/>
                </a:ext>
              </a:extLst>
            </p:cNvPr>
            <p:cNvSpPr/>
            <p:nvPr/>
          </p:nvSpPr>
          <p:spPr>
            <a:xfrm>
              <a:off x="592109" y="3075405"/>
              <a:ext cx="578082" cy="124380"/>
            </a:xfrm>
            <a:prstGeom prst="rect">
              <a:avLst/>
            </a:prstGeom>
            <a:noFill/>
            <a:ln/>
          </p:spPr>
          <p:txBody>
            <a:bodyPr wrap="non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单向函数</a:t>
              </a:r>
              <a:endParaRPr lang="en-US" sz="1600" dirty="0">
                <a:latin typeface="微软雅黑" panose="020B0503020204020204" pitchFamily="34" charset="-122"/>
                <a:ea typeface="微软雅黑" panose="020B0503020204020204" pitchFamily="34" charset="-122"/>
              </a:endParaRPr>
            </a:p>
          </p:txBody>
        </p:sp>
        <p:sp>
          <p:nvSpPr>
            <p:cNvPr id="11" name="Text 9">
              <a:extLst>
                <a:ext uri="{FF2B5EF4-FFF2-40B4-BE49-F238E27FC236}">
                  <a16:creationId xmlns:a16="http://schemas.microsoft.com/office/drawing/2014/main" id="{243C29AB-7E98-292F-0CD3-E0AA2457B325}"/>
                </a:ext>
              </a:extLst>
            </p:cNvPr>
            <p:cNvSpPr/>
            <p:nvPr/>
          </p:nvSpPr>
          <p:spPr>
            <a:xfrm>
              <a:off x="1253892" y="3075405"/>
              <a:ext cx="2023286" cy="124380"/>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：正向计算容易，反向计算困难</a:t>
              </a:r>
              <a:endParaRPr lang="en-US" sz="1600" dirty="0">
                <a:latin typeface="微软雅黑" panose="020B0503020204020204" pitchFamily="34" charset="-122"/>
                <a:ea typeface="微软雅黑" panose="020B0503020204020204" pitchFamily="34" charset="-122"/>
              </a:endParaRPr>
            </a:p>
          </p:txBody>
        </p:sp>
        <p:sp>
          <p:nvSpPr>
            <p:cNvPr id="13" name="Text 10">
              <a:extLst>
                <a:ext uri="{FF2B5EF4-FFF2-40B4-BE49-F238E27FC236}">
                  <a16:creationId xmlns:a16="http://schemas.microsoft.com/office/drawing/2014/main" id="{1FB64F5F-1676-6B94-D784-B313FD1EE1BA}"/>
                </a:ext>
              </a:extLst>
            </p:cNvPr>
            <p:cNvSpPr/>
            <p:nvPr/>
          </p:nvSpPr>
          <p:spPr>
            <a:xfrm>
              <a:off x="592109" y="3275429"/>
              <a:ext cx="867123" cy="124380"/>
            </a:xfrm>
            <a:prstGeom prst="rect">
              <a:avLst/>
            </a:prstGeom>
            <a:noFill/>
            <a:ln/>
          </p:spPr>
          <p:txBody>
            <a:bodyPr wrap="non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陷门单向函数</a:t>
              </a:r>
              <a:endParaRPr lang="en-US" sz="1600"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D5BECDA1-9411-33E3-45F8-AA8E3DFB9960}"/>
                </a:ext>
              </a:extLst>
            </p:cNvPr>
            <p:cNvSpPr/>
            <p:nvPr/>
          </p:nvSpPr>
          <p:spPr>
            <a:xfrm>
              <a:off x="1561527" y="3275429"/>
              <a:ext cx="2745889" cy="124380"/>
            </a:xfrm>
            <a:prstGeom prst="rect">
              <a:avLst/>
            </a:prstGeom>
            <a:noFill/>
            <a:ln/>
          </p:spPr>
          <p:txBody>
            <a:bodyPr wrap="none" lIns="0" tIns="0" rIns="0" bIns="0" rtlCol="0" anchor="ctr">
              <a:spAutoFit/>
            </a:bodyPr>
            <a:lstStyle/>
            <a:p>
              <a:pPr marL="0" indent="0" algn="l">
                <a:buNone/>
              </a:pPr>
              <a:r>
                <a:rPr lang="zh-CN" altLang="en-US" sz="1600" dirty="0">
                  <a:solidFill>
                    <a:srgbClr val="34495E"/>
                  </a:solidFill>
                  <a:latin typeface="微软雅黑" panose="020B0503020204020204" pitchFamily="34" charset="-122"/>
                  <a:ea typeface="微软雅黑" panose="020B0503020204020204" pitchFamily="34" charset="-122"/>
                  <a:cs typeface="Noto Sans" pitchFamily="34" charset="-120"/>
                </a:rPr>
                <a:t>：</a:t>
              </a: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知道特定信息（陷门）时可以高效逆运算</a:t>
              </a:r>
              <a:endParaRPr lang="en-US" sz="1600"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F96E8436-A93D-9892-BDDA-C7E793AC45CA}"/>
                </a:ext>
              </a:extLst>
            </p:cNvPr>
            <p:cNvSpPr/>
            <p:nvPr/>
          </p:nvSpPr>
          <p:spPr>
            <a:xfrm>
              <a:off x="592109" y="3475454"/>
              <a:ext cx="1011644" cy="124380"/>
            </a:xfrm>
            <a:prstGeom prst="rect">
              <a:avLst/>
            </a:prstGeom>
            <a:noFill/>
            <a:ln/>
          </p:spPr>
          <p:txBody>
            <a:bodyPr wrap="none" lIns="0" tIns="0" rIns="0" bIns="0" rtlCol="0" anchor="ctr">
              <a:spAutoFit/>
            </a:bodyPr>
            <a:lstStyle/>
            <a:p>
              <a:pPr marL="0" indent="0" algn="l">
                <a:buNone/>
              </a:pPr>
              <a:r>
                <a:rPr lang="en-US" sz="1600" b="1" dirty="0" err="1">
                  <a:solidFill>
                    <a:srgbClr val="34495E"/>
                  </a:solidFill>
                  <a:latin typeface="微软雅黑" panose="020B0503020204020204" pitchFamily="34" charset="-122"/>
                  <a:ea typeface="微软雅黑" panose="020B0503020204020204" pitchFamily="34" charset="-122"/>
                  <a:cs typeface="Noto Sans" pitchFamily="34" charset="-120"/>
                </a:rPr>
                <a:t>常见数学难题</a:t>
              </a:r>
              <a:r>
                <a:rPr lang="zh-CN" altLang="en-US" sz="1600" dirty="0">
                  <a:solidFill>
                    <a:srgbClr val="34495E"/>
                  </a:solidFill>
                  <a:latin typeface="微软雅黑" panose="020B0503020204020204" pitchFamily="34" charset="-122"/>
                  <a:ea typeface="微软雅黑" panose="020B0503020204020204" pitchFamily="34" charset="-122"/>
                  <a:cs typeface="Noto Sans" pitchFamily="34" charset="-120"/>
                </a:rPr>
                <a:t>：</a:t>
              </a:r>
              <a:endParaRPr lang="en-US" sz="1600"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14388C4E-D12A-852A-701F-B324A4598E0C}"/>
                </a:ext>
              </a:extLst>
            </p:cNvPr>
            <p:cNvSpPr/>
            <p:nvPr/>
          </p:nvSpPr>
          <p:spPr>
            <a:xfrm>
              <a:off x="586883" y="3651601"/>
              <a:ext cx="3494270" cy="248760"/>
            </a:xfrm>
            <a:prstGeom prst="rect">
              <a:avLst/>
            </a:prstGeom>
            <a:noFill/>
            <a:ln/>
          </p:spPr>
          <p:txBody>
            <a:bodyPr wrap="square" lIns="0" tIns="0" rIns="0" bIns="0" rtlCol="0" anchor="ctr">
              <a:spAutoFit/>
            </a:bodyPr>
            <a:lstStyle/>
            <a:p>
              <a:pPr marL="0" indent="0" algn="l">
                <a:buNone/>
              </a:pP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大整数分解（RSA</a:t>
              </a: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）、离散对数（DH/DSA）、</a:t>
              </a:r>
            </a:p>
            <a:p>
              <a:pPr marL="0" indent="0" algn="l">
                <a:buNone/>
              </a:pP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椭圆曲线（ECDH</a:t>
              </a: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/ECDSA）</a:t>
              </a:r>
              <a:endParaRPr lang="en-US" sz="1600" dirty="0">
                <a:latin typeface="微软雅黑" panose="020B0503020204020204" pitchFamily="34" charset="-122"/>
                <a:ea typeface="微软雅黑" panose="020B0503020204020204" pitchFamily="34" charset="-122"/>
              </a:endParaRPr>
            </a:p>
          </p:txBody>
        </p:sp>
      </p:grpSp>
      <p:sp>
        <p:nvSpPr>
          <p:cNvPr id="18" name="Shape 15">
            <a:extLst>
              <a:ext uri="{FF2B5EF4-FFF2-40B4-BE49-F238E27FC236}">
                <a16:creationId xmlns:a16="http://schemas.microsoft.com/office/drawing/2014/main" id="{E4D7C3D4-89D3-0CF2-8C2A-90276BBBB68A}"/>
              </a:ext>
            </a:extLst>
          </p:cNvPr>
          <p:cNvSpPr/>
          <p:nvPr/>
        </p:nvSpPr>
        <p:spPr>
          <a:xfrm>
            <a:off x="6321364" y="1824851"/>
            <a:ext cx="5677634" cy="1855230"/>
          </a:xfrm>
          <a:prstGeom prst="rect">
            <a:avLst/>
          </a:prstGeom>
          <a:solidFill>
            <a:srgbClr val="F8F9FA"/>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19" name="Shape 16">
            <a:extLst>
              <a:ext uri="{FF2B5EF4-FFF2-40B4-BE49-F238E27FC236}">
                <a16:creationId xmlns:a16="http://schemas.microsoft.com/office/drawing/2014/main" id="{977FF9C7-24E5-D51A-46E8-A080E751A642}"/>
              </a:ext>
            </a:extLst>
          </p:cNvPr>
          <p:cNvSpPr/>
          <p:nvPr/>
        </p:nvSpPr>
        <p:spPr>
          <a:xfrm>
            <a:off x="6321364" y="1824851"/>
            <a:ext cx="39428" cy="1855230"/>
          </a:xfrm>
          <a:prstGeom prst="rect">
            <a:avLst/>
          </a:prstGeom>
          <a:solidFill>
            <a:srgbClr val="3498DB"/>
          </a:solidFill>
          <a:ln/>
        </p:spPr>
      </p:sp>
      <p:sp>
        <p:nvSpPr>
          <p:cNvPr id="20" name="Text 17">
            <a:extLst>
              <a:ext uri="{FF2B5EF4-FFF2-40B4-BE49-F238E27FC236}">
                <a16:creationId xmlns:a16="http://schemas.microsoft.com/office/drawing/2014/main" id="{A747437A-CE58-4A98-0C95-6A72310C1C0C}"/>
              </a:ext>
            </a:extLst>
          </p:cNvPr>
          <p:cNvSpPr/>
          <p:nvPr/>
        </p:nvSpPr>
        <p:spPr>
          <a:xfrm>
            <a:off x="6419935" y="2021037"/>
            <a:ext cx="2051844" cy="246221"/>
          </a:xfrm>
          <a:prstGeom prst="rect">
            <a:avLst/>
          </a:prstGeom>
          <a:noFill/>
          <a:ln/>
        </p:spPr>
        <p:txBody>
          <a:bodyPr wrap="non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非对称密码的主要应用</a:t>
            </a:r>
            <a:endParaRPr lang="en-US" sz="1600" dirty="0">
              <a:latin typeface="微软雅黑" panose="020B0503020204020204" pitchFamily="34" charset="-122"/>
              <a:ea typeface="微软雅黑" panose="020B0503020204020204" pitchFamily="34" charset="-122"/>
            </a:endParaRPr>
          </a:p>
        </p:txBody>
      </p:sp>
      <p:sp>
        <p:nvSpPr>
          <p:cNvPr id="21" name="Text 18">
            <a:extLst>
              <a:ext uri="{FF2B5EF4-FFF2-40B4-BE49-F238E27FC236}">
                <a16:creationId xmlns:a16="http://schemas.microsoft.com/office/drawing/2014/main" id="{D54A8BC9-F2A9-51B0-BC43-B1A964DB75A4}"/>
              </a:ext>
            </a:extLst>
          </p:cNvPr>
          <p:cNvSpPr/>
          <p:nvPr/>
        </p:nvSpPr>
        <p:spPr>
          <a:xfrm>
            <a:off x="6617075" y="2447335"/>
            <a:ext cx="820738" cy="246221"/>
          </a:xfrm>
          <a:prstGeom prst="rect">
            <a:avLst/>
          </a:prstGeom>
          <a:noFill/>
          <a:ln/>
        </p:spPr>
        <p:txBody>
          <a:bodyPr wrap="non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加密通信</a:t>
            </a:r>
            <a:endParaRPr lang="en-US" sz="1600" dirty="0">
              <a:latin typeface="微软雅黑" panose="020B0503020204020204" pitchFamily="34" charset="-122"/>
              <a:ea typeface="微软雅黑" panose="020B0503020204020204" pitchFamily="34" charset="-122"/>
            </a:endParaRPr>
          </a:p>
        </p:txBody>
      </p:sp>
      <p:sp>
        <p:nvSpPr>
          <p:cNvPr id="22" name="Text 19">
            <a:extLst>
              <a:ext uri="{FF2B5EF4-FFF2-40B4-BE49-F238E27FC236}">
                <a16:creationId xmlns:a16="http://schemas.microsoft.com/office/drawing/2014/main" id="{2EACAC8E-EC7A-5983-08D2-10CA72C5C6E7}"/>
              </a:ext>
            </a:extLst>
          </p:cNvPr>
          <p:cNvSpPr/>
          <p:nvPr/>
        </p:nvSpPr>
        <p:spPr>
          <a:xfrm>
            <a:off x="7247923" y="2447335"/>
            <a:ext cx="4308872"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a:t>
            </a: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使用接收方的公钥加密</a:t>
            </a: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a:t>
            </a:r>
            <a:r>
              <a:rPr lang="zh-CN" altLang="en-US" sz="1600" dirty="0">
                <a:solidFill>
                  <a:srgbClr val="34495E"/>
                </a:solidFill>
                <a:latin typeface="微软雅黑" panose="020B0503020204020204" pitchFamily="34" charset="-122"/>
                <a:ea typeface="微软雅黑" panose="020B0503020204020204" pitchFamily="34" charset="-122"/>
                <a:cs typeface="Noto Sans" pitchFamily="34" charset="-120"/>
              </a:rPr>
              <a:t>接收方使用</a:t>
            </a:r>
            <a:r>
              <a:rPr lang="en-US" sz="1600" dirty="0" err="1">
                <a:solidFill>
                  <a:srgbClr val="34495E"/>
                </a:solidFill>
                <a:latin typeface="微软雅黑" panose="020B0503020204020204" pitchFamily="34" charset="-122"/>
                <a:ea typeface="微软雅黑" panose="020B0503020204020204" pitchFamily="34" charset="-122"/>
                <a:cs typeface="Noto Sans" pitchFamily="34" charset="-120"/>
              </a:rPr>
              <a:t>私钥解密</a:t>
            </a:r>
            <a:endParaRPr lang="en-US" sz="1600" dirty="0">
              <a:latin typeface="微软雅黑" panose="020B0503020204020204" pitchFamily="34" charset="-122"/>
              <a:ea typeface="微软雅黑" panose="020B0503020204020204" pitchFamily="34" charset="-122"/>
            </a:endParaRPr>
          </a:p>
        </p:txBody>
      </p:sp>
      <p:sp>
        <p:nvSpPr>
          <p:cNvPr id="23" name="Text 20">
            <a:extLst>
              <a:ext uri="{FF2B5EF4-FFF2-40B4-BE49-F238E27FC236}">
                <a16:creationId xmlns:a16="http://schemas.microsoft.com/office/drawing/2014/main" id="{E2F199F2-0748-66D0-B140-5A2A5D037AB7}"/>
              </a:ext>
            </a:extLst>
          </p:cNvPr>
          <p:cNvSpPr/>
          <p:nvPr/>
        </p:nvSpPr>
        <p:spPr>
          <a:xfrm>
            <a:off x="6617075" y="2827774"/>
            <a:ext cx="820738" cy="246221"/>
          </a:xfrm>
          <a:prstGeom prst="rect">
            <a:avLst/>
          </a:prstGeom>
          <a:noFill/>
          <a:ln/>
        </p:spPr>
        <p:txBody>
          <a:bodyPr wrap="non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数字签名</a:t>
            </a:r>
            <a:endParaRPr lang="en-US" sz="1600" dirty="0">
              <a:latin typeface="微软雅黑" panose="020B0503020204020204" pitchFamily="34" charset="-122"/>
              <a:ea typeface="微软雅黑" panose="020B0503020204020204" pitchFamily="34" charset="-122"/>
            </a:endParaRPr>
          </a:p>
        </p:txBody>
      </p:sp>
      <p:sp>
        <p:nvSpPr>
          <p:cNvPr id="24" name="Text 21">
            <a:extLst>
              <a:ext uri="{FF2B5EF4-FFF2-40B4-BE49-F238E27FC236}">
                <a16:creationId xmlns:a16="http://schemas.microsoft.com/office/drawing/2014/main" id="{F2A05F58-CE54-42CD-90DD-FECD9D369D81}"/>
              </a:ext>
            </a:extLst>
          </p:cNvPr>
          <p:cNvSpPr/>
          <p:nvPr/>
        </p:nvSpPr>
        <p:spPr>
          <a:xfrm>
            <a:off x="7247923" y="2827774"/>
            <a:ext cx="4719241"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：使用发送方的私钥签名，任何人都可以用公钥验证</a:t>
            </a:r>
            <a:endParaRPr lang="en-US" sz="1600" dirty="0">
              <a:latin typeface="微软雅黑" panose="020B0503020204020204" pitchFamily="34" charset="-122"/>
              <a:ea typeface="微软雅黑" panose="020B0503020204020204" pitchFamily="34" charset="-122"/>
            </a:endParaRPr>
          </a:p>
        </p:txBody>
      </p:sp>
      <p:sp>
        <p:nvSpPr>
          <p:cNvPr id="25" name="Text 22">
            <a:extLst>
              <a:ext uri="{FF2B5EF4-FFF2-40B4-BE49-F238E27FC236}">
                <a16:creationId xmlns:a16="http://schemas.microsoft.com/office/drawing/2014/main" id="{5E153B73-C2F6-8405-457D-FD85CAB95C93}"/>
              </a:ext>
            </a:extLst>
          </p:cNvPr>
          <p:cNvSpPr/>
          <p:nvPr/>
        </p:nvSpPr>
        <p:spPr>
          <a:xfrm>
            <a:off x="6617075" y="3208214"/>
            <a:ext cx="820738" cy="246221"/>
          </a:xfrm>
          <a:prstGeom prst="rect">
            <a:avLst/>
          </a:prstGeom>
          <a:noFill/>
          <a:ln/>
        </p:spPr>
        <p:txBody>
          <a:bodyPr wrap="non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密钥交换</a:t>
            </a:r>
            <a:endParaRPr lang="en-US" sz="1600" dirty="0">
              <a:latin typeface="微软雅黑" panose="020B0503020204020204" pitchFamily="34" charset="-122"/>
              <a:ea typeface="微软雅黑" panose="020B0503020204020204" pitchFamily="34" charset="-122"/>
            </a:endParaRPr>
          </a:p>
        </p:txBody>
      </p:sp>
      <p:sp>
        <p:nvSpPr>
          <p:cNvPr id="26" name="Text 23">
            <a:extLst>
              <a:ext uri="{FF2B5EF4-FFF2-40B4-BE49-F238E27FC236}">
                <a16:creationId xmlns:a16="http://schemas.microsoft.com/office/drawing/2014/main" id="{A57B2FB4-5E4A-E6EF-BFB8-636368EE6417}"/>
              </a:ext>
            </a:extLst>
          </p:cNvPr>
          <p:cNvSpPr/>
          <p:nvPr/>
        </p:nvSpPr>
        <p:spPr>
          <a:xfrm>
            <a:off x="7247923" y="3208214"/>
            <a:ext cx="3488134"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：安全地在不安全信道上协商共享密钥</a:t>
            </a:r>
            <a:endParaRPr lang="en-US" sz="1600" dirty="0">
              <a:latin typeface="微软雅黑" panose="020B0503020204020204" pitchFamily="34" charset="-122"/>
              <a:ea typeface="微软雅黑" panose="020B0503020204020204" pitchFamily="34" charset="-122"/>
            </a:endParaRPr>
          </a:p>
        </p:txBody>
      </p:sp>
      <p:sp>
        <p:nvSpPr>
          <p:cNvPr id="27" name="Shape 24">
            <a:extLst>
              <a:ext uri="{FF2B5EF4-FFF2-40B4-BE49-F238E27FC236}">
                <a16:creationId xmlns:a16="http://schemas.microsoft.com/office/drawing/2014/main" id="{001D4EEA-F5F4-6C90-AEE3-E4C1983553BF}"/>
              </a:ext>
            </a:extLst>
          </p:cNvPr>
          <p:cNvSpPr/>
          <p:nvPr/>
        </p:nvSpPr>
        <p:spPr>
          <a:xfrm>
            <a:off x="6378179" y="3992883"/>
            <a:ext cx="5677634" cy="2187529"/>
          </a:xfrm>
          <a:prstGeom prst="rect">
            <a:avLst/>
          </a:prstGeom>
          <a:solidFill>
            <a:srgbClr val="F8F9FA"/>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28" name="Shape 25">
            <a:extLst>
              <a:ext uri="{FF2B5EF4-FFF2-40B4-BE49-F238E27FC236}">
                <a16:creationId xmlns:a16="http://schemas.microsoft.com/office/drawing/2014/main" id="{2AD93492-995E-CE54-5D8E-549A68217644}"/>
              </a:ext>
            </a:extLst>
          </p:cNvPr>
          <p:cNvSpPr/>
          <p:nvPr/>
        </p:nvSpPr>
        <p:spPr>
          <a:xfrm>
            <a:off x="6378179" y="3992883"/>
            <a:ext cx="39428" cy="2187529"/>
          </a:xfrm>
          <a:prstGeom prst="rect">
            <a:avLst/>
          </a:prstGeom>
          <a:solidFill>
            <a:srgbClr val="3498DB"/>
          </a:solidFill>
          <a:ln/>
        </p:spPr>
      </p:sp>
      <p:sp>
        <p:nvSpPr>
          <p:cNvPr id="29" name="Text 26">
            <a:extLst>
              <a:ext uri="{FF2B5EF4-FFF2-40B4-BE49-F238E27FC236}">
                <a16:creationId xmlns:a16="http://schemas.microsoft.com/office/drawing/2014/main" id="{0224FF29-9358-F716-7A62-5D0ED3E21885}"/>
              </a:ext>
            </a:extLst>
          </p:cNvPr>
          <p:cNvSpPr/>
          <p:nvPr/>
        </p:nvSpPr>
        <p:spPr>
          <a:xfrm>
            <a:off x="6476750" y="4189070"/>
            <a:ext cx="1846659" cy="246221"/>
          </a:xfrm>
          <a:prstGeom prst="rect">
            <a:avLst/>
          </a:prstGeom>
          <a:noFill/>
          <a:ln/>
        </p:spPr>
        <p:txBody>
          <a:bodyPr wrap="non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非对称密码的优缺点</a:t>
            </a:r>
            <a:endParaRPr lang="en-US" sz="1600" dirty="0">
              <a:latin typeface="微软雅黑" panose="020B0503020204020204" pitchFamily="34" charset="-122"/>
              <a:ea typeface="微软雅黑" panose="020B0503020204020204" pitchFamily="34" charset="-122"/>
            </a:endParaRPr>
          </a:p>
        </p:txBody>
      </p:sp>
      <p:sp>
        <p:nvSpPr>
          <p:cNvPr id="30" name="Text 27">
            <a:extLst>
              <a:ext uri="{FF2B5EF4-FFF2-40B4-BE49-F238E27FC236}">
                <a16:creationId xmlns:a16="http://schemas.microsoft.com/office/drawing/2014/main" id="{14DAC05B-BA39-FAA9-D81C-A210C15967F8}"/>
              </a:ext>
            </a:extLst>
          </p:cNvPr>
          <p:cNvSpPr/>
          <p:nvPr/>
        </p:nvSpPr>
        <p:spPr>
          <a:xfrm>
            <a:off x="6476750" y="4617067"/>
            <a:ext cx="410369" cy="246221"/>
          </a:xfrm>
          <a:prstGeom prst="rect">
            <a:avLst/>
          </a:prstGeom>
          <a:noFill/>
          <a:ln/>
        </p:spPr>
        <p:txBody>
          <a:bodyPr wrap="none" lIns="0" tIns="0" rIns="0" bIns="0" rtlCol="0" anchor="ctr">
            <a:spAutoFit/>
          </a:bodyPr>
          <a:lstStyle/>
          <a:p>
            <a:pPr marL="0" indent="0">
              <a:buNone/>
            </a:pPr>
            <a:r>
              <a:rPr lang="en-US" sz="1600" b="1" dirty="0">
                <a:solidFill>
                  <a:srgbClr val="059669"/>
                </a:solidFill>
                <a:latin typeface="微软雅黑" panose="020B0503020204020204" pitchFamily="34" charset="-122"/>
                <a:ea typeface="微软雅黑" panose="020B0503020204020204" pitchFamily="34" charset="-122"/>
                <a:cs typeface="Noto Sans" pitchFamily="34" charset="-120"/>
              </a:rPr>
              <a:t>优点</a:t>
            </a:r>
            <a:endParaRPr lang="en-US" sz="1600" dirty="0">
              <a:latin typeface="微软雅黑" panose="020B0503020204020204" pitchFamily="34" charset="-122"/>
              <a:ea typeface="微软雅黑" panose="020B0503020204020204" pitchFamily="34" charset="-122"/>
            </a:endParaRPr>
          </a:p>
        </p:txBody>
      </p:sp>
      <p:sp>
        <p:nvSpPr>
          <p:cNvPr id="31" name="Text 28">
            <a:extLst>
              <a:ext uri="{FF2B5EF4-FFF2-40B4-BE49-F238E27FC236}">
                <a16:creationId xmlns:a16="http://schemas.microsoft.com/office/drawing/2014/main" id="{F7544EA8-34B7-BCC9-CD06-8607D5C848C2}"/>
              </a:ext>
            </a:extLst>
          </p:cNvPr>
          <p:cNvSpPr/>
          <p:nvPr/>
        </p:nvSpPr>
        <p:spPr>
          <a:xfrm>
            <a:off x="6673890" y="4997507"/>
            <a:ext cx="1641475"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无需预先共享密钥</a:t>
            </a:r>
            <a:endParaRPr lang="en-US" sz="1600" dirty="0">
              <a:latin typeface="微软雅黑" panose="020B0503020204020204" pitchFamily="34" charset="-122"/>
              <a:ea typeface="微软雅黑" panose="020B0503020204020204" pitchFamily="34" charset="-122"/>
            </a:endParaRPr>
          </a:p>
        </p:txBody>
      </p:sp>
      <p:sp>
        <p:nvSpPr>
          <p:cNvPr id="32" name="Text 29">
            <a:extLst>
              <a:ext uri="{FF2B5EF4-FFF2-40B4-BE49-F238E27FC236}">
                <a16:creationId xmlns:a16="http://schemas.microsoft.com/office/drawing/2014/main" id="{D4FD94E5-461B-5E3F-8F48-EFBD79D1A843}"/>
              </a:ext>
            </a:extLst>
          </p:cNvPr>
          <p:cNvSpPr/>
          <p:nvPr/>
        </p:nvSpPr>
        <p:spPr>
          <a:xfrm>
            <a:off x="6673890" y="5377946"/>
            <a:ext cx="1436291"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密钥管理更简单</a:t>
            </a:r>
            <a:endParaRPr lang="en-US" sz="1600" dirty="0">
              <a:latin typeface="微软雅黑" panose="020B0503020204020204" pitchFamily="34" charset="-122"/>
              <a:ea typeface="微软雅黑" panose="020B0503020204020204" pitchFamily="34" charset="-122"/>
            </a:endParaRPr>
          </a:p>
        </p:txBody>
      </p:sp>
      <p:sp>
        <p:nvSpPr>
          <p:cNvPr id="38" name="Text 30">
            <a:extLst>
              <a:ext uri="{FF2B5EF4-FFF2-40B4-BE49-F238E27FC236}">
                <a16:creationId xmlns:a16="http://schemas.microsoft.com/office/drawing/2014/main" id="{FE1EBF2E-D7A4-5750-CD86-BA55D4229ACA}"/>
              </a:ext>
            </a:extLst>
          </p:cNvPr>
          <p:cNvSpPr/>
          <p:nvPr/>
        </p:nvSpPr>
        <p:spPr>
          <a:xfrm>
            <a:off x="6673890" y="5758384"/>
            <a:ext cx="1436291"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可实现数字签名</a:t>
            </a:r>
            <a:endParaRPr lang="en-US" sz="1600" dirty="0">
              <a:latin typeface="微软雅黑" panose="020B0503020204020204" pitchFamily="34" charset="-122"/>
              <a:ea typeface="微软雅黑" panose="020B0503020204020204" pitchFamily="34" charset="-122"/>
            </a:endParaRPr>
          </a:p>
        </p:txBody>
      </p:sp>
      <p:sp>
        <p:nvSpPr>
          <p:cNvPr id="39" name="Text 31">
            <a:extLst>
              <a:ext uri="{FF2B5EF4-FFF2-40B4-BE49-F238E27FC236}">
                <a16:creationId xmlns:a16="http://schemas.microsoft.com/office/drawing/2014/main" id="{577FA760-16D6-BEBF-8D11-A277126A3B50}"/>
              </a:ext>
            </a:extLst>
          </p:cNvPr>
          <p:cNvSpPr/>
          <p:nvPr/>
        </p:nvSpPr>
        <p:spPr>
          <a:xfrm>
            <a:off x="9256424" y="4617067"/>
            <a:ext cx="410369" cy="246221"/>
          </a:xfrm>
          <a:prstGeom prst="rect">
            <a:avLst/>
          </a:prstGeom>
          <a:noFill/>
          <a:ln/>
        </p:spPr>
        <p:txBody>
          <a:bodyPr wrap="none" lIns="0" tIns="0" rIns="0" bIns="0" rtlCol="0" anchor="ctr">
            <a:spAutoFit/>
          </a:bodyPr>
          <a:lstStyle/>
          <a:p>
            <a:pPr marL="0" indent="0">
              <a:buNone/>
            </a:pPr>
            <a:r>
              <a:rPr lang="en-US" sz="1600" b="1" dirty="0">
                <a:solidFill>
                  <a:srgbClr val="DC2626"/>
                </a:solidFill>
                <a:latin typeface="微软雅黑" panose="020B0503020204020204" pitchFamily="34" charset="-122"/>
                <a:ea typeface="微软雅黑" panose="020B0503020204020204" pitchFamily="34" charset="-122"/>
                <a:cs typeface="Noto Sans" pitchFamily="34" charset="-120"/>
              </a:rPr>
              <a:t>缺点</a:t>
            </a:r>
            <a:endParaRPr lang="en-US" sz="1600" dirty="0">
              <a:latin typeface="微软雅黑" panose="020B0503020204020204" pitchFamily="34" charset="-122"/>
              <a:ea typeface="微软雅黑" panose="020B0503020204020204" pitchFamily="34" charset="-122"/>
            </a:endParaRPr>
          </a:p>
        </p:txBody>
      </p:sp>
      <p:sp>
        <p:nvSpPr>
          <p:cNvPr id="40" name="Text 32">
            <a:extLst>
              <a:ext uri="{FF2B5EF4-FFF2-40B4-BE49-F238E27FC236}">
                <a16:creationId xmlns:a16="http://schemas.microsoft.com/office/drawing/2014/main" id="{0F17B443-60F5-0118-D2FB-0AE84F4C3469}"/>
              </a:ext>
            </a:extLst>
          </p:cNvPr>
          <p:cNvSpPr/>
          <p:nvPr/>
        </p:nvSpPr>
        <p:spPr>
          <a:xfrm>
            <a:off x="9453564" y="4997507"/>
            <a:ext cx="1025922"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计算速度慢</a:t>
            </a:r>
            <a:endParaRPr lang="en-US" sz="1600" dirty="0">
              <a:latin typeface="微软雅黑" panose="020B0503020204020204" pitchFamily="34" charset="-122"/>
              <a:ea typeface="微软雅黑" panose="020B0503020204020204" pitchFamily="34" charset="-122"/>
            </a:endParaRPr>
          </a:p>
        </p:txBody>
      </p:sp>
      <p:sp>
        <p:nvSpPr>
          <p:cNvPr id="41" name="Text 33">
            <a:extLst>
              <a:ext uri="{FF2B5EF4-FFF2-40B4-BE49-F238E27FC236}">
                <a16:creationId xmlns:a16="http://schemas.microsoft.com/office/drawing/2014/main" id="{9E0D59E3-4AAD-94E0-D0E5-11A96F6CEB2F}"/>
              </a:ext>
            </a:extLst>
          </p:cNvPr>
          <p:cNvSpPr/>
          <p:nvPr/>
        </p:nvSpPr>
        <p:spPr>
          <a:xfrm>
            <a:off x="9453564" y="5377946"/>
            <a:ext cx="1231106"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密钥长度较长</a:t>
            </a:r>
            <a:endParaRPr lang="en-US" sz="1600" dirty="0">
              <a:latin typeface="微软雅黑" panose="020B0503020204020204" pitchFamily="34" charset="-122"/>
              <a:ea typeface="微软雅黑" panose="020B0503020204020204" pitchFamily="34" charset="-122"/>
            </a:endParaRPr>
          </a:p>
        </p:txBody>
      </p:sp>
      <p:sp>
        <p:nvSpPr>
          <p:cNvPr id="42" name="Text 34">
            <a:extLst>
              <a:ext uri="{FF2B5EF4-FFF2-40B4-BE49-F238E27FC236}">
                <a16:creationId xmlns:a16="http://schemas.microsoft.com/office/drawing/2014/main" id="{E15AEA23-500B-D5B5-163B-342A3EF9640B}"/>
              </a:ext>
            </a:extLst>
          </p:cNvPr>
          <p:cNvSpPr/>
          <p:nvPr/>
        </p:nvSpPr>
        <p:spPr>
          <a:xfrm>
            <a:off x="9453564" y="5758384"/>
            <a:ext cx="1136530"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需要PKI支持</a:t>
            </a:r>
            <a:endParaRPr 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2068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A5A4C-E0D4-8CF8-1812-1357D0B3FBA4}"/>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9539EE3A-5593-1B2B-D0E1-76073CF6B41D}"/>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F3CA2EF8-5C12-086D-1F9E-08C0FC51A142}"/>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C95C3946-067A-02B7-5AF2-4443BAE63621}"/>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A46BD13E-059A-5A46-02FF-AB822F420EC5}"/>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C8E87F54-56E2-DFC8-52C7-EADD91200DDA}"/>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CC986934-4776-CE53-3B06-92600E9F93BC}"/>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RSA</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算法简介</a:t>
              </a:r>
            </a:p>
          </p:txBody>
        </p:sp>
      </p:grpSp>
      <p:grpSp>
        <p:nvGrpSpPr>
          <p:cNvPr id="2" name="组合 1">
            <a:extLst>
              <a:ext uri="{FF2B5EF4-FFF2-40B4-BE49-F238E27FC236}">
                <a16:creationId xmlns:a16="http://schemas.microsoft.com/office/drawing/2014/main" id="{5C312E98-7CD5-7CE1-061C-0AC5247A57BF}"/>
              </a:ext>
            </a:extLst>
          </p:cNvPr>
          <p:cNvGrpSpPr/>
          <p:nvPr/>
        </p:nvGrpSpPr>
        <p:grpSpPr>
          <a:xfrm>
            <a:off x="333828" y="1843088"/>
            <a:ext cx="6294358" cy="4506912"/>
            <a:chOff x="400050" y="814388"/>
            <a:chExt cx="3254031" cy="2586037"/>
          </a:xfrm>
        </p:grpSpPr>
        <p:sp>
          <p:nvSpPr>
            <p:cNvPr id="3" name="Shape 1">
              <a:extLst>
                <a:ext uri="{FF2B5EF4-FFF2-40B4-BE49-F238E27FC236}">
                  <a16:creationId xmlns:a16="http://schemas.microsoft.com/office/drawing/2014/main" id="{C8AE2083-3848-AC40-F471-3ADE59DF9579}"/>
                </a:ext>
              </a:extLst>
            </p:cNvPr>
            <p:cNvSpPr/>
            <p:nvPr/>
          </p:nvSpPr>
          <p:spPr>
            <a:xfrm>
              <a:off x="400051" y="814388"/>
              <a:ext cx="3254030" cy="1150144"/>
            </a:xfrm>
            <a:prstGeom prst="rect">
              <a:avLst/>
            </a:prstGeom>
            <a:solidFill>
              <a:srgbClr val="F8F9FA"/>
            </a:solidFill>
            <a:ln/>
          </p:spPr>
        </p:sp>
        <p:sp>
          <p:nvSpPr>
            <p:cNvPr id="4" name="Shape 2">
              <a:extLst>
                <a:ext uri="{FF2B5EF4-FFF2-40B4-BE49-F238E27FC236}">
                  <a16:creationId xmlns:a16="http://schemas.microsoft.com/office/drawing/2014/main" id="{1E211048-8935-BB78-3A1B-180D51C0971F}"/>
                </a:ext>
              </a:extLst>
            </p:cNvPr>
            <p:cNvSpPr/>
            <p:nvPr/>
          </p:nvSpPr>
          <p:spPr>
            <a:xfrm>
              <a:off x="400050" y="814388"/>
              <a:ext cx="28575" cy="1150144"/>
            </a:xfrm>
            <a:prstGeom prst="rect">
              <a:avLst/>
            </a:prstGeom>
            <a:solidFill>
              <a:srgbClr val="3498DB"/>
            </a:solidFill>
            <a:ln/>
          </p:spPr>
        </p:sp>
        <p:sp>
          <p:nvSpPr>
            <p:cNvPr id="5" name="Text 3">
              <a:extLst>
                <a:ext uri="{FF2B5EF4-FFF2-40B4-BE49-F238E27FC236}">
                  <a16:creationId xmlns:a16="http://schemas.microsoft.com/office/drawing/2014/main" id="{6ADFDBB0-0922-36A4-80A0-5ABF2E294D2A}"/>
                </a:ext>
              </a:extLst>
            </p:cNvPr>
            <p:cNvSpPr/>
            <p:nvPr/>
          </p:nvSpPr>
          <p:spPr>
            <a:xfrm>
              <a:off x="471488" y="902795"/>
              <a:ext cx="722639" cy="158940"/>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RSA算法背景</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0DC8CF92-A013-8D60-4371-9CAF64A84B48}"/>
                </a:ext>
              </a:extLst>
            </p:cNvPr>
            <p:cNvSpPr/>
            <p:nvPr/>
          </p:nvSpPr>
          <p:spPr>
            <a:xfrm>
              <a:off x="614363" y="1127824"/>
              <a:ext cx="1933191"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全称：Rivest-Shamir-Adleman算法</a:t>
              </a:r>
              <a:endParaRPr lang="en-US"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967A9691-DF64-9E8A-B5CB-ED4154A367A9}"/>
                </a:ext>
              </a:extLst>
            </p:cNvPr>
            <p:cNvSpPr/>
            <p:nvPr/>
          </p:nvSpPr>
          <p:spPr>
            <a:xfrm>
              <a:off x="614363" y="1327849"/>
              <a:ext cx="2953138"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发明者：Ron Rivest、Adi Shamir和Leonard Adleman</a:t>
              </a:r>
              <a:endParaRPr lang="en-US" dirty="0">
                <a:latin typeface="微软雅黑" panose="020B0503020204020204" pitchFamily="34" charset="-122"/>
                <a:ea typeface="微软雅黑" panose="020B0503020204020204" pitchFamily="34" charset="-122"/>
              </a:endParaRPr>
            </a:p>
          </p:txBody>
        </p:sp>
        <p:sp>
          <p:nvSpPr>
            <p:cNvPr id="8" name="Text 6">
              <a:extLst>
                <a:ext uri="{FF2B5EF4-FFF2-40B4-BE49-F238E27FC236}">
                  <a16:creationId xmlns:a16="http://schemas.microsoft.com/office/drawing/2014/main" id="{CDFDB8ED-3FC3-D98B-8A3A-F07EF1E3055F}"/>
                </a:ext>
              </a:extLst>
            </p:cNvPr>
            <p:cNvSpPr/>
            <p:nvPr/>
          </p:nvSpPr>
          <p:spPr>
            <a:xfrm>
              <a:off x="614363" y="1527874"/>
              <a:ext cx="994457"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发表时间：1977年</a:t>
              </a:r>
              <a:endParaRPr lang="en-US" dirty="0">
                <a:latin typeface="微软雅黑" panose="020B0503020204020204" pitchFamily="34" charset="-122"/>
                <a:ea typeface="微软雅黑" panose="020B0503020204020204" pitchFamily="34" charset="-122"/>
              </a:endParaRPr>
            </a:p>
          </p:txBody>
        </p:sp>
        <p:sp>
          <p:nvSpPr>
            <p:cNvPr id="9" name="Text 7">
              <a:extLst>
                <a:ext uri="{FF2B5EF4-FFF2-40B4-BE49-F238E27FC236}">
                  <a16:creationId xmlns:a16="http://schemas.microsoft.com/office/drawing/2014/main" id="{8105455C-0B86-D87E-43B9-4DB816B7BD78}"/>
                </a:ext>
              </a:extLst>
            </p:cNvPr>
            <p:cNvSpPr/>
            <p:nvPr/>
          </p:nvSpPr>
          <p:spPr>
            <a:xfrm>
              <a:off x="614363" y="1727899"/>
              <a:ext cx="1909357"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数学基础：基于大整数分解的困难性</a:t>
              </a:r>
              <a:endParaRPr lang="en-US" dirty="0">
                <a:latin typeface="微软雅黑" panose="020B0503020204020204" pitchFamily="34" charset="-122"/>
                <a:ea typeface="微软雅黑" panose="020B0503020204020204" pitchFamily="34" charset="-122"/>
              </a:endParaRPr>
            </a:p>
          </p:txBody>
        </p:sp>
        <p:sp>
          <p:nvSpPr>
            <p:cNvPr id="10" name="Shape 8">
              <a:extLst>
                <a:ext uri="{FF2B5EF4-FFF2-40B4-BE49-F238E27FC236}">
                  <a16:creationId xmlns:a16="http://schemas.microsoft.com/office/drawing/2014/main" id="{3BE5D6DF-8D52-FCF3-C0BC-2F72991BE843}"/>
                </a:ext>
              </a:extLst>
            </p:cNvPr>
            <p:cNvSpPr/>
            <p:nvPr/>
          </p:nvSpPr>
          <p:spPr>
            <a:xfrm>
              <a:off x="400050" y="2050256"/>
              <a:ext cx="3254030" cy="1350169"/>
            </a:xfrm>
            <a:prstGeom prst="rect">
              <a:avLst/>
            </a:prstGeom>
            <a:solidFill>
              <a:srgbClr val="F8F9FA"/>
            </a:solidFill>
            <a:ln/>
          </p:spPr>
        </p:sp>
        <p:sp>
          <p:nvSpPr>
            <p:cNvPr id="11" name="Shape 9">
              <a:extLst>
                <a:ext uri="{FF2B5EF4-FFF2-40B4-BE49-F238E27FC236}">
                  <a16:creationId xmlns:a16="http://schemas.microsoft.com/office/drawing/2014/main" id="{75DE3E0F-326B-7E1A-B924-083FFD1EAA92}"/>
                </a:ext>
              </a:extLst>
            </p:cNvPr>
            <p:cNvSpPr/>
            <p:nvPr/>
          </p:nvSpPr>
          <p:spPr>
            <a:xfrm>
              <a:off x="400050" y="2050256"/>
              <a:ext cx="28575" cy="1350169"/>
            </a:xfrm>
            <a:prstGeom prst="rect">
              <a:avLst/>
            </a:prstGeom>
            <a:solidFill>
              <a:srgbClr val="3498DB"/>
            </a:solidFill>
            <a:ln/>
          </p:spPr>
        </p:sp>
        <p:sp>
          <p:nvSpPr>
            <p:cNvPr id="13" name="Text 10">
              <a:extLst>
                <a:ext uri="{FF2B5EF4-FFF2-40B4-BE49-F238E27FC236}">
                  <a16:creationId xmlns:a16="http://schemas.microsoft.com/office/drawing/2014/main" id="{C41E42E7-6A42-EA8C-F021-87E932F672BA}"/>
                </a:ext>
              </a:extLst>
            </p:cNvPr>
            <p:cNvSpPr/>
            <p:nvPr/>
          </p:nvSpPr>
          <p:spPr>
            <a:xfrm>
              <a:off x="471488" y="2138665"/>
              <a:ext cx="961308" cy="158940"/>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RSA密钥生成过程</a:t>
              </a:r>
              <a:endParaRPr lang="en-US"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6B400E57-F095-45DB-64A4-3ED5D8C8867E}"/>
                </a:ext>
              </a:extLst>
            </p:cNvPr>
            <p:cNvSpPr/>
            <p:nvPr/>
          </p:nvSpPr>
          <p:spPr>
            <a:xfrm>
              <a:off x="614363" y="2363693"/>
              <a:ext cx="2459623"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选择两个大质数p和q（通常为1024位或更大）</a:t>
              </a:r>
              <a:endParaRPr lang="en-US"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1DB3C791-6A5A-A8AE-C180-06DD974EF774}"/>
                </a:ext>
              </a:extLst>
            </p:cNvPr>
            <p:cNvSpPr/>
            <p:nvPr/>
          </p:nvSpPr>
          <p:spPr>
            <a:xfrm>
              <a:off x="614363" y="2563718"/>
              <a:ext cx="1023462"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计算模数n = p × q</a:t>
              </a:r>
              <a:endParaRPr lang="en-US"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5F001FD2-3774-2C52-C4E8-F0F332F94419}"/>
                </a:ext>
              </a:extLst>
            </p:cNvPr>
            <p:cNvSpPr/>
            <p:nvPr/>
          </p:nvSpPr>
          <p:spPr>
            <a:xfrm>
              <a:off x="614363" y="2763743"/>
              <a:ext cx="1833944"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计算欧拉函数φ(n) = (p-1) × (q-1)</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31F1C07A-6528-7A63-7BDD-6D9C9BBE2B43}"/>
                </a:ext>
              </a:extLst>
            </p:cNvPr>
            <p:cNvSpPr/>
            <p:nvPr/>
          </p:nvSpPr>
          <p:spPr>
            <a:xfrm>
              <a:off x="614363" y="2963768"/>
              <a:ext cx="2861549"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选择公钥指数e，满足1 &lt; e &lt; φ(n)且gcd(e, φ(n)) = 1</a:t>
              </a:r>
              <a:endParaRPr lang="en-US" dirty="0">
                <a:latin typeface="微软雅黑" panose="020B0503020204020204" pitchFamily="34" charset="-122"/>
                <a:ea typeface="微软雅黑" panose="020B0503020204020204" pitchFamily="34" charset="-122"/>
              </a:endParaRPr>
            </a:p>
          </p:txBody>
        </p:sp>
        <p:sp>
          <p:nvSpPr>
            <p:cNvPr id="18" name="Text 15">
              <a:extLst>
                <a:ext uri="{FF2B5EF4-FFF2-40B4-BE49-F238E27FC236}">
                  <a16:creationId xmlns:a16="http://schemas.microsoft.com/office/drawing/2014/main" id="{11D26BFE-3AFE-7734-2A87-463F8CEB540D}"/>
                </a:ext>
              </a:extLst>
            </p:cNvPr>
            <p:cNvSpPr/>
            <p:nvPr/>
          </p:nvSpPr>
          <p:spPr>
            <a:xfrm>
              <a:off x="614363" y="3163793"/>
              <a:ext cx="2324543" cy="158940"/>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计算私钥指数d，满足e × d ≡ 1 (mod φ(n))</a:t>
              </a:r>
              <a:endParaRPr lang="en-US" dirty="0">
                <a:latin typeface="微软雅黑" panose="020B0503020204020204" pitchFamily="34" charset="-122"/>
                <a:ea typeface="微软雅黑" panose="020B0503020204020204" pitchFamily="34" charset="-122"/>
              </a:endParaRPr>
            </a:p>
          </p:txBody>
        </p:sp>
      </p:grpSp>
      <p:grpSp>
        <p:nvGrpSpPr>
          <p:cNvPr id="44" name="组合 43">
            <a:extLst>
              <a:ext uri="{FF2B5EF4-FFF2-40B4-BE49-F238E27FC236}">
                <a16:creationId xmlns:a16="http://schemas.microsoft.com/office/drawing/2014/main" id="{02BF264F-2886-DF20-11AF-18A605CAFEE7}"/>
              </a:ext>
            </a:extLst>
          </p:cNvPr>
          <p:cNvGrpSpPr/>
          <p:nvPr/>
        </p:nvGrpSpPr>
        <p:grpSpPr>
          <a:xfrm>
            <a:off x="7114651" y="2025545"/>
            <a:ext cx="4605337" cy="3491853"/>
            <a:chOff x="6838284" y="1966215"/>
            <a:chExt cx="4605337" cy="3491853"/>
          </a:xfrm>
        </p:grpSpPr>
        <p:pic>
          <p:nvPicPr>
            <p:cNvPr id="42" name="Image 1">
              <a:extLst>
                <a:ext uri="{FF2B5EF4-FFF2-40B4-BE49-F238E27FC236}">
                  <a16:creationId xmlns:a16="http://schemas.microsoft.com/office/drawing/2014/main" id="{1D43CBDB-A5AD-F39E-789B-5013DD865752}"/>
                </a:ext>
              </a:extLst>
            </p:cNvPr>
            <p:cNvPicPr>
              <a:picLocks noChangeAspect="1"/>
            </p:cNvPicPr>
            <p:nvPr/>
          </p:nvPicPr>
          <p:blipFill>
            <a:blip r:embed="rId3"/>
            <a:stretch>
              <a:fillRect/>
            </a:stretch>
          </p:blipFill>
          <p:spPr>
            <a:xfrm>
              <a:off x="6838284" y="1966215"/>
              <a:ext cx="4605337" cy="3491853"/>
            </a:xfrm>
            <a:prstGeom prst="rect">
              <a:avLst/>
            </a:prstGeom>
          </p:spPr>
        </p:pic>
        <p:sp>
          <p:nvSpPr>
            <p:cNvPr id="43" name="矩形 42">
              <a:extLst>
                <a:ext uri="{FF2B5EF4-FFF2-40B4-BE49-F238E27FC236}">
                  <a16:creationId xmlns:a16="http://schemas.microsoft.com/office/drawing/2014/main" id="{EFA06296-92EC-D2F0-500C-78A4A5BAB47D}"/>
                </a:ext>
              </a:extLst>
            </p:cNvPr>
            <p:cNvSpPr/>
            <p:nvPr/>
          </p:nvSpPr>
          <p:spPr>
            <a:xfrm>
              <a:off x="10312400" y="5030297"/>
              <a:ext cx="1028700" cy="42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316377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F720-7C41-E4EA-F03F-0216177B37BE}"/>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8B5D74E4-558F-B2F9-2F6E-86F6D8DB6335}"/>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F0776892-8BD3-5EB8-8481-16209E3D525B}"/>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62920B9E-2271-633D-6B84-4AE505CEC15F}"/>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E3BB4022-463B-872E-BB54-12E568AAD878}"/>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0947E667-252E-4EAC-AF43-84DA54FB904C}"/>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5CB8B252-C9B2-3FF3-4DDD-BD123BF9E3DE}"/>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RSA</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算法简介</a:t>
              </a:r>
            </a:p>
          </p:txBody>
        </p:sp>
      </p:grpSp>
      <p:pic>
        <p:nvPicPr>
          <p:cNvPr id="134" name="图片 133">
            <a:extLst>
              <a:ext uri="{FF2B5EF4-FFF2-40B4-BE49-F238E27FC236}">
                <a16:creationId xmlns:a16="http://schemas.microsoft.com/office/drawing/2014/main" id="{F796E792-3400-252C-989F-31545866FEC9}"/>
              </a:ext>
            </a:extLst>
          </p:cNvPr>
          <p:cNvPicPr>
            <a:picLocks noChangeAspect="1"/>
          </p:cNvPicPr>
          <p:nvPr/>
        </p:nvPicPr>
        <p:blipFill>
          <a:blip r:embed="rId3"/>
          <a:stretch>
            <a:fillRect/>
          </a:stretch>
        </p:blipFill>
        <p:spPr>
          <a:xfrm>
            <a:off x="237493" y="1621847"/>
            <a:ext cx="5680757" cy="4925003"/>
          </a:xfrm>
          <a:prstGeom prst="rect">
            <a:avLst/>
          </a:prstGeom>
        </p:spPr>
      </p:pic>
      <p:sp>
        <p:nvSpPr>
          <p:cNvPr id="135" name="Text 43">
            <a:extLst>
              <a:ext uri="{FF2B5EF4-FFF2-40B4-BE49-F238E27FC236}">
                <a16:creationId xmlns:a16="http://schemas.microsoft.com/office/drawing/2014/main" id="{35AA6A8A-4C7C-DE9D-F6D7-FA1FA2A3B6F5}"/>
              </a:ext>
            </a:extLst>
          </p:cNvPr>
          <p:cNvSpPr/>
          <p:nvPr/>
        </p:nvSpPr>
        <p:spPr>
          <a:xfrm>
            <a:off x="6442312" y="2592730"/>
            <a:ext cx="2834109" cy="307777"/>
          </a:xfrm>
          <a:prstGeom prst="rect">
            <a:avLst/>
          </a:prstGeom>
          <a:noFill/>
          <a:ln/>
        </p:spPr>
        <p:txBody>
          <a:bodyPr wrap="none" lIns="0" tIns="0" rIns="0" bIns="0" rtlCol="0" anchor="ctr">
            <a:spAutoFit/>
          </a:bodyPr>
          <a:lstStyle/>
          <a:p>
            <a:pPr marL="0" indent="0">
              <a:buNone/>
            </a:pPr>
            <a:r>
              <a:rPr lang="en-US" sz="2000" b="1" dirty="0">
                <a:solidFill>
                  <a:srgbClr val="1F2937"/>
                </a:solidFill>
                <a:latin typeface="微软雅黑" panose="020B0503020204020204" pitchFamily="34" charset="-122"/>
                <a:ea typeface="微软雅黑" panose="020B0503020204020204" pitchFamily="34" charset="-122"/>
                <a:cs typeface="Noto Sans" pitchFamily="34" charset="-120"/>
              </a:rPr>
              <a:t>RSA的安全性与实际应用</a:t>
            </a:r>
            <a:endParaRPr lang="en-US" sz="2000" dirty="0">
              <a:latin typeface="微软雅黑" panose="020B0503020204020204" pitchFamily="34" charset="-122"/>
              <a:ea typeface="微软雅黑" panose="020B0503020204020204" pitchFamily="34" charset="-122"/>
            </a:endParaRPr>
          </a:p>
        </p:txBody>
      </p:sp>
      <p:grpSp>
        <p:nvGrpSpPr>
          <p:cNvPr id="151" name="组合 150">
            <a:extLst>
              <a:ext uri="{FF2B5EF4-FFF2-40B4-BE49-F238E27FC236}">
                <a16:creationId xmlns:a16="http://schemas.microsoft.com/office/drawing/2014/main" id="{67F04F85-354F-5C9E-BC99-4DFB67E90D8F}"/>
              </a:ext>
            </a:extLst>
          </p:cNvPr>
          <p:cNvGrpSpPr/>
          <p:nvPr/>
        </p:nvGrpSpPr>
        <p:grpSpPr>
          <a:xfrm>
            <a:off x="6442312" y="3138259"/>
            <a:ext cx="4936888" cy="2566035"/>
            <a:chOff x="6328013" y="3171825"/>
            <a:chExt cx="3123989" cy="1748651"/>
          </a:xfrm>
        </p:grpSpPr>
        <p:grpSp>
          <p:nvGrpSpPr>
            <p:cNvPr id="150" name="组合 149">
              <a:extLst>
                <a:ext uri="{FF2B5EF4-FFF2-40B4-BE49-F238E27FC236}">
                  <a16:creationId xmlns:a16="http://schemas.microsoft.com/office/drawing/2014/main" id="{79A85DF2-CD6B-F317-BF21-D339341D3DFF}"/>
                </a:ext>
              </a:extLst>
            </p:cNvPr>
            <p:cNvGrpSpPr/>
            <p:nvPr/>
          </p:nvGrpSpPr>
          <p:grpSpPr>
            <a:xfrm>
              <a:off x="6328013" y="3171825"/>
              <a:ext cx="3123989" cy="514350"/>
              <a:chOff x="6242288" y="2374106"/>
              <a:chExt cx="3123989" cy="514350"/>
            </a:xfrm>
          </p:grpSpPr>
          <p:sp>
            <p:nvSpPr>
              <p:cNvPr id="136" name="Shape 44">
                <a:extLst>
                  <a:ext uri="{FF2B5EF4-FFF2-40B4-BE49-F238E27FC236}">
                    <a16:creationId xmlns:a16="http://schemas.microsoft.com/office/drawing/2014/main" id="{33D5F895-FE1E-C69D-D365-EE5794FF9C89}"/>
                  </a:ext>
                </a:extLst>
              </p:cNvPr>
              <p:cNvSpPr/>
              <p:nvPr/>
            </p:nvSpPr>
            <p:spPr>
              <a:xfrm>
                <a:off x="6242288" y="2374106"/>
                <a:ext cx="2781291" cy="514350"/>
              </a:xfrm>
              <a:prstGeom prst="rect">
                <a:avLst/>
              </a:prstGeom>
              <a:solidFill>
                <a:srgbClr val="EFF6FF"/>
              </a:solidFill>
              <a:ln/>
            </p:spPr>
            <p:txBody>
              <a:bodyPr/>
              <a:lstStyle/>
              <a:p>
                <a:endParaRPr lang="zh-CN" altLang="en-US"/>
              </a:p>
            </p:txBody>
          </p:sp>
          <p:pic>
            <p:nvPicPr>
              <p:cNvPr id="137" name="Image 2" descr="preencoded.png">
                <a:extLst>
                  <a:ext uri="{FF2B5EF4-FFF2-40B4-BE49-F238E27FC236}">
                    <a16:creationId xmlns:a16="http://schemas.microsoft.com/office/drawing/2014/main" id="{B7C3629E-A8FD-FDDB-2519-98942769B750}"/>
                  </a:ext>
                </a:extLst>
              </p:cNvPr>
              <p:cNvPicPr>
                <a:picLocks noChangeAspect="1"/>
              </p:cNvPicPr>
              <p:nvPr/>
            </p:nvPicPr>
            <p:blipFill>
              <a:blip r:embed="rId4"/>
              <a:stretch>
                <a:fillRect/>
              </a:stretch>
            </p:blipFill>
            <p:spPr>
              <a:xfrm>
                <a:off x="6328013" y="2488406"/>
                <a:ext cx="114300" cy="114300"/>
              </a:xfrm>
              <a:prstGeom prst="rect">
                <a:avLst/>
              </a:prstGeom>
            </p:spPr>
          </p:pic>
          <p:sp>
            <p:nvSpPr>
              <p:cNvPr id="138" name="Text 45">
                <a:extLst>
                  <a:ext uri="{FF2B5EF4-FFF2-40B4-BE49-F238E27FC236}">
                    <a16:creationId xmlns:a16="http://schemas.microsoft.com/office/drawing/2014/main" id="{B1356D33-7A4D-E98E-D55E-20849B150CE3}"/>
                  </a:ext>
                </a:extLst>
              </p:cNvPr>
              <p:cNvSpPr/>
              <p:nvPr/>
            </p:nvSpPr>
            <p:spPr>
              <a:xfrm>
                <a:off x="6499463" y="2451174"/>
                <a:ext cx="834943" cy="188764"/>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安全性考量</a:t>
                </a:r>
                <a:endParaRPr lang="en-US" dirty="0"/>
              </a:p>
            </p:txBody>
          </p:sp>
          <p:sp>
            <p:nvSpPr>
              <p:cNvPr id="139" name="Text 46">
                <a:extLst>
                  <a:ext uri="{FF2B5EF4-FFF2-40B4-BE49-F238E27FC236}">
                    <a16:creationId xmlns:a16="http://schemas.microsoft.com/office/drawing/2014/main" id="{C78D595D-E5AC-172F-D965-B75FE85019A2}"/>
                  </a:ext>
                </a:extLst>
              </p:cNvPr>
              <p:cNvSpPr/>
              <p:nvPr/>
            </p:nvSpPr>
            <p:spPr>
              <a:xfrm>
                <a:off x="6328013" y="2636912"/>
                <a:ext cx="3038264" cy="188764"/>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密钥长度至少2048位以抵抗现代计算能力</a:t>
                </a:r>
                <a:endParaRPr lang="en-US" dirty="0"/>
              </a:p>
            </p:txBody>
          </p:sp>
        </p:grpSp>
        <p:grpSp>
          <p:nvGrpSpPr>
            <p:cNvPr id="149" name="组合 148">
              <a:extLst>
                <a:ext uri="{FF2B5EF4-FFF2-40B4-BE49-F238E27FC236}">
                  <a16:creationId xmlns:a16="http://schemas.microsoft.com/office/drawing/2014/main" id="{87B56B99-C418-3AC6-8AB0-4C8605D44C48}"/>
                </a:ext>
              </a:extLst>
            </p:cNvPr>
            <p:cNvGrpSpPr/>
            <p:nvPr/>
          </p:nvGrpSpPr>
          <p:grpSpPr>
            <a:xfrm>
              <a:off x="6328013" y="3777476"/>
              <a:ext cx="2781291" cy="514350"/>
              <a:chOff x="9137879" y="2374106"/>
              <a:chExt cx="2781291" cy="514350"/>
            </a:xfrm>
          </p:grpSpPr>
          <p:sp>
            <p:nvSpPr>
              <p:cNvPr id="140" name="Shape 47">
                <a:extLst>
                  <a:ext uri="{FF2B5EF4-FFF2-40B4-BE49-F238E27FC236}">
                    <a16:creationId xmlns:a16="http://schemas.microsoft.com/office/drawing/2014/main" id="{895B4925-EB89-B639-8129-FA0908F74A7D}"/>
                  </a:ext>
                </a:extLst>
              </p:cNvPr>
              <p:cNvSpPr/>
              <p:nvPr/>
            </p:nvSpPr>
            <p:spPr>
              <a:xfrm>
                <a:off x="9137879" y="2374106"/>
                <a:ext cx="2781291" cy="514350"/>
              </a:xfrm>
              <a:prstGeom prst="rect">
                <a:avLst/>
              </a:prstGeom>
              <a:solidFill>
                <a:srgbClr val="EFF6FF"/>
              </a:solidFill>
              <a:ln/>
            </p:spPr>
          </p:sp>
          <p:pic>
            <p:nvPicPr>
              <p:cNvPr id="141" name="Image 3" descr="preencoded.png">
                <a:extLst>
                  <a:ext uri="{FF2B5EF4-FFF2-40B4-BE49-F238E27FC236}">
                    <a16:creationId xmlns:a16="http://schemas.microsoft.com/office/drawing/2014/main" id="{5D52B976-5F5B-4FAA-88F4-42349C497788}"/>
                  </a:ext>
                </a:extLst>
              </p:cNvPr>
              <p:cNvPicPr>
                <a:picLocks noChangeAspect="1"/>
              </p:cNvPicPr>
              <p:nvPr/>
            </p:nvPicPr>
            <p:blipFill>
              <a:blip r:embed="rId5"/>
              <a:stretch>
                <a:fillRect/>
              </a:stretch>
            </p:blipFill>
            <p:spPr>
              <a:xfrm>
                <a:off x="9223604" y="2488406"/>
                <a:ext cx="142875" cy="114300"/>
              </a:xfrm>
              <a:prstGeom prst="rect">
                <a:avLst/>
              </a:prstGeom>
            </p:spPr>
          </p:pic>
          <p:sp>
            <p:nvSpPr>
              <p:cNvPr id="142" name="Text 48">
                <a:extLst>
                  <a:ext uri="{FF2B5EF4-FFF2-40B4-BE49-F238E27FC236}">
                    <a16:creationId xmlns:a16="http://schemas.microsoft.com/office/drawing/2014/main" id="{3D98BC7B-93E1-7555-9AB3-14D25A4BC752}"/>
                  </a:ext>
                </a:extLst>
              </p:cNvPr>
              <p:cNvSpPr/>
              <p:nvPr/>
            </p:nvSpPr>
            <p:spPr>
              <a:xfrm>
                <a:off x="9423629" y="2451174"/>
                <a:ext cx="667954" cy="188764"/>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优化技术</a:t>
                </a:r>
                <a:endParaRPr lang="en-US" dirty="0"/>
              </a:p>
            </p:txBody>
          </p:sp>
          <p:sp>
            <p:nvSpPr>
              <p:cNvPr id="143" name="Text 49">
                <a:extLst>
                  <a:ext uri="{FF2B5EF4-FFF2-40B4-BE49-F238E27FC236}">
                    <a16:creationId xmlns:a16="http://schemas.microsoft.com/office/drawing/2014/main" id="{A22183C9-79C5-30AF-544A-A12F34DC3965}"/>
                  </a:ext>
                </a:extLst>
              </p:cNvPr>
              <p:cNvSpPr/>
              <p:nvPr/>
            </p:nvSpPr>
            <p:spPr>
              <a:xfrm>
                <a:off x="9223604" y="2636912"/>
                <a:ext cx="2560491" cy="188764"/>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中国剩余定理(CRT)可加速RSA解密</a:t>
                </a:r>
                <a:endParaRPr lang="en-US" dirty="0"/>
              </a:p>
            </p:txBody>
          </p:sp>
        </p:grpSp>
        <p:grpSp>
          <p:nvGrpSpPr>
            <p:cNvPr id="148" name="组合 147">
              <a:extLst>
                <a:ext uri="{FF2B5EF4-FFF2-40B4-BE49-F238E27FC236}">
                  <a16:creationId xmlns:a16="http://schemas.microsoft.com/office/drawing/2014/main" id="{FAF8FD05-4572-FA7A-7264-BE3F1F85F65D}"/>
                </a:ext>
              </a:extLst>
            </p:cNvPr>
            <p:cNvGrpSpPr/>
            <p:nvPr/>
          </p:nvGrpSpPr>
          <p:grpSpPr>
            <a:xfrm>
              <a:off x="6328013" y="4406126"/>
              <a:ext cx="2781319" cy="514350"/>
              <a:chOff x="12033469" y="2374106"/>
              <a:chExt cx="2781319" cy="514350"/>
            </a:xfrm>
          </p:grpSpPr>
          <p:sp>
            <p:nvSpPr>
              <p:cNvPr id="144" name="Shape 50">
                <a:extLst>
                  <a:ext uri="{FF2B5EF4-FFF2-40B4-BE49-F238E27FC236}">
                    <a16:creationId xmlns:a16="http://schemas.microsoft.com/office/drawing/2014/main" id="{72B31BB3-8645-3FD2-1EFB-437D6EBCD0D2}"/>
                  </a:ext>
                </a:extLst>
              </p:cNvPr>
              <p:cNvSpPr/>
              <p:nvPr/>
            </p:nvSpPr>
            <p:spPr>
              <a:xfrm>
                <a:off x="12033469" y="2374106"/>
                <a:ext cx="2781319" cy="514350"/>
              </a:xfrm>
              <a:prstGeom prst="rect">
                <a:avLst/>
              </a:prstGeom>
              <a:solidFill>
                <a:srgbClr val="EFF6FF"/>
              </a:solidFill>
              <a:ln/>
            </p:spPr>
          </p:sp>
          <p:pic>
            <p:nvPicPr>
              <p:cNvPr id="145" name="Image 4" descr="preencoded.png">
                <a:extLst>
                  <a:ext uri="{FF2B5EF4-FFF2-40B4-BE49-F238E27FC236}">
                    <a16:creationId xmlns:a16="http://schemas.microsoft.com/office/drawing/2014/main" id="{CB8EFE42-9A0F-EA33-D9BF-EBCCE9719666}"/>
                  </a:ext>
                </a:extLst>
              </p:cNvPr>
              <p:cNvPicPr>
                <a:picLocks noChangeAspect="1"/>
              </p:cNvPicPr>
              <p:nvPr/>
            </p:nvPicPr>
            <p:blipFill>
              <a:blip r:embed="rId6"/>
              <a:stretch>
                <a:fillRect/>
              </a:stretch>
            </p:blipFill>
            <p:spPr>
              <a:xfrm>
                <a:off x="12119194" y="2488406"/>
                <a:ext cx="114300" cy="114300"/>
              </a:xfrm>
              <a:prstGeom prst="rect">
                <a:avLst/>
              </a:prstGeom>
            </p:spPr>
          </p:pic>
          <p:sp>
            <p:nvSpPr>
              <p:cNvPr id="146" name="Text 51">
                <a:extLst>
                  <a:ext uri="{FF2B5EF4-FFF2-40B4-BE49-F238E27FC236}">
                    <a16:creationId xmlns:a16="http://schemas.microsoft.com/office/drawing/2014/main" id="{15177350-327E-008E-9956-761C30096E68}"/>
                  </a:ext>
                </a:extLst>
              </p:cNvPr>
              <p:cNvSpPr/>
              <p:nvPr/>
            </p:nvSpPr>
            <p:spPr>
              <a:xfrm>
                <a:off x="12290644" y="2451174"/>
                <a:ext cx="667954" cy="188764"/>
              </a:xfrm>
              <a:prstGeom prst="rect">
                <a:avLst/>
              </a:prstGeom>
              <a:noFill/>
              <a:ln/>
            </p:spPr>
            <p:txBody>
              <a:bodyPr wrap="none" lIns="0" tIns="0" rIns="0" bIns="0" rtlCol="0" anchor="ctr">
                <a:spAutoFit/>
              </a:bodyPr>
              <a:lstStyle/>
              <a:p>
                <a:pPr marL="0" indent="0">
                  <a:buNone/>
                </a:pPr>
                <a:r>
                  <a:rPr lang="en-US" b="1" dirty="0">
                    <a:solidFill>
                      <a:srgbClr val="34495E"/>
                    </a:solidFill>
                    <a:latin typeface="Noto Sans" pitchFamily="34" charset="0"/>
                    <a:ea typeface="Noto Sans" pitchFamily="34" charset="-122"/>
                    <a:cs typeface="Noto Sans" pitchFamily="34" charset="-120"/>
                  </a:rPr>
                  <a:t>实际应用</a:t>
                </a:r>
                <a:endParaRPr lang="en-US" dirty="0"/>
              </a:p>
            </p:txBody>
          </p:sp>
          <p:sp>
            <p:nvSpPr>
              <p:cNvPr id="147" name="Text 52">
                <a:extLst>
                  <a:ext uri="{FF2B5EF4-FFF2-40B4-BE49-F238E27FC236}">
                    <a16:creationId xmlns:a16="http://schemas.microsoft.com/office/drawing/2014/main" id="{B1963BE0-8121-9704-8C44-9F92C9234703}"/>
                  </a:ext>
                </a:extLst>
              </p:cNvPr>
              <p:cNvSpPr/>
              <p:nvPr/>
            </p:nvSpPr>
            <p:spPr>
              <a:xfrm>
                <a:off x="12119194" y="2636912"/>
                <a:ext cx="2606877" cy="188764"/>
              </a:xfrm>
              <a:prstGeom prst="rect">
                <a:avLst/>
              </a:prstGeom>
              <a:noFill/>
              <a:ln/>
            </p:spPr>
            <p:txBody>
              <a:bodyPr wrap="non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TLS/SSL、PGP、数字证书、智能卡</a:t>
                </a:r>
                <a:endParaRPr lang="en-US" dirty="0"/>
              </a:p>
            </p:txBody>
          </p:sp>
        </p:grpSp>
      </p:grpSp>
    </p:spTree>
    <p:extLst>
      <p:ext uri="{BB962C8B-B14F-4D97-AF65-F5344CB8AC3E}">
        <p14:creationId xmlns:p14="http://schemas.microsoft.com/office/powerpoint/2010/main" val="2116226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ADEC6-E524-D869-C548-1452E4915013}"/>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600F411F-1E1F-FD0E-9054-5CF8E1AB7098}"/>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A9C13F60-36ED-5784-1F65-425F0C9BC82D}"/>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2BDEC999-59A2-E7D2-BFC5-AB4DADE3731C}"/>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47D474EB-C796-661A-B796-7F2C0AEE5D8A}"/>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BE7AE2FE-1406-9492-C380-F4CEAF79CD22}"/>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BDFE1D3F-D49C-61A0-1F76-1A310D3B938D}"/>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椭圆曲线密码体制（</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ECC</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grpSp>
        <p:nvGrpSpPr>
          <p:cNvPr id="2" name="组合 1">
            <a:extLst>
              <a:ext uri="{FF2B5EF4-FFF2-40B4-BE49-F238E27FC236}">
                <a16:creationId xmlns:a16="http://schemas.microsoft.com/office/drawing/2014/main" id="{B25C426C-2385-46F6-6A42-6F984AE4EE34}"/>
              </a:ext>
            </a:extLst>
          </p:cNvPr>
          <p:cNvGrpSpPr/>
          <p:nvPr/>
        </p:nvGrpSpPr>
        <p:grpSpPr>
          <a:xfrm>
            <a:off x="377796" y="1886867"/>
            <a:ext cx="8148491" cy="4251098"/>
            <a:chOff x="400050" y="814388"/>
            <a:chExt cx="4114800" cy="1985962"/>
          </a:xfrm>
        </p:grpSpPr>
        <p:sp>
          <p:nvSpPr>
            <p:cNvPr id="3" name="Shape 1">
              <a:extLst>
                <a:ext uri="{FF2B5EF4-FFF2-40B4-BE49-F238E27FC236}">
                  <a16:creationId xmlns:a16="http://schemas.microsoft.com/office/drawing/2014/main" id="{CD8737BF-7052-2AB6-8352-20A407131339}"/>
                </a:ext>
              </a:extLst>
            </p:cNvPr>
            <p:cNvSpPr/>
            <p:nvPr/>
          </p:nvSpPr>
          <p:spPr>
            <a:xfrm>
              <a:off x="400050" y="814388"/>
              <a:ext cx="4114800" cy="950119"/>
            </a:xfrm>
            <a:prstGeom prst="rect">
              <a:avLst/>
            </a:prstGeom>
            <a:solidFill>
              <a:srgbClr val="F8F9FA"/>
            </a:solidFill>
            <a:ln/>
          </p:spPr>
        </p:sp>
        <p:sp>
          <p:nvSpPr>
            <p:cNvPr id="4" name="Shape 2">
              <a:extLst>
                <a:ext uri="{FF2B5EF4-FFF2-40B4-BE49-F238E27FC236}">
                  <a16:creationId xmlns:a16="http://schemas.microsoft.com/office/drawing/2014/main" id="{A656626E-8A89-EBE6-1F5B-45CE7F46C45C}"/>
                </a:ext>
              </a:extLst>
            </p:cNvPr>
            <p:cNvSpPr/>
            <p:nvPr/>
          </p:nvSpPr>
          <p:spPr>
            <a:xfrm>
              <a:off x="400050" y="814388"/>
              <a:ext cx="28575" cy="950119"/>
            </a:xfrm>
            <a:prstGeom prst="rect">
              <a:avLst/>
            </a:prstGeom>
            <a:solidFill>
              <a:srgbClr val="3498DB"/>
            </a:solidFill>
            <a:ln/>
          </p:spPr>
        </p:sp>
        <p:sp>
          <p:nvSpPr>
            <p:cNvPr id="5" name="Text 3">
              <a:extLst>
                <a:ext uri="{FF2B5EF4-FFF2-40B4-BE49-F238E27FC236}">
                  <a16:creationId xmlns:a16="http://schemas.microsoft.com/office/drawing/2014/main" id="{881201C8-B2BC-4FF7-A4A1-1602A25ADFD4}"/>
                </a:ext>
              </a:extLst>
            </p:cNvPr>
            <p:cNvSpPr/>
            <p:nvPr/>
          </p:nvSpPr>
          <p:spPr>
            <a:xfrm>
              <a:off x="471488" y="917564"/>
              <a:ext cx="1537892" cy="129404"/>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椭圆曲线密码学基本概念</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CC219A5C-A165-15EA-09AD-2752284AFC81}"/>
                </a:ext>
              </a:extLst>
            </p:cNvPr>
            <p:cNvSpPr/>
            <p:nvPr/>
          </p:nvSpPr>
          <p:spPr>
            <a:xfrm>
              <a:off x="471488" y="1163614"/>
              <a:ext cx="3971925" cy="258808"/>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椭圆曲线密码学(ECC)是基于椭圆曲线数学的公钥密码系统，其安全性基于椭圆曲线离散对数问题(ECDLP)的计算困难性。</a:t>
              </a:r>
              <a:endParaRPr lang="en-US"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1EA5ECC5-E1A6-4D77-C753-C47E8CA8F1F6}"/>
                </a:ext>
              </a:extLst>
            </p:cNvPr>
            <p:cNvSpPr/>
            <p:nvPr/>
          </p:nvSpPr>
          <p:spPr>
            <a:xfrm>
              <a:off x="471488" y="1542642"/>
              <a:ext cx="3296176" cy="129404"/>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标准形式：y² = x³ + ax + b（其中4a³ + 27b² ≠ 0）</a:t>
              </a:r>
              <a:endParaRPr lang="en-US" dirty="0">
                <a:latin typeface="微软雅黑" panose="020B0503020204020204" pitchFamily="34" charset="-122"/>
                <a:ea typeface="微软雅黑" panose="020B0503020204020204" pitchFamily="34" charset="-122"/>
              </a:endParaRPr>
            </a:p>
          </p:txBody>
        </p:sp>
        <p:sp>
          <p:nvSpPr>
            <p:cNvPr id="8" name="Shape 6">
              <a:extLst>
                <a:ext uri="{FF2B5EF4-FFF2-40B4-BE49-F238E27FC236}">
                  <a16:creationId xmlns:a16="http://schemas.microsoft.com/office/drawing/2014/main" id="{84D07701-B577-B091-FC22-7706D945EFF6}"/>
                </a:ext>
              </a:extLst>
            </p:cNvPr>
            <p:cNvSpPr/>
            <p:nvPr/>
          </p:nvSpPr>
          <p:spPr>
            <a:xfrm>
              <a:off x="400050" y="1850231"/>
              <a:ext cx="4114800" cy="950119"/>
            </a:xfrm>
            <a:prstGeom prst="rect">
              <a:avLst/>
            </a:prstGeom>
            <a:solidFill>
              <a:srgbClr val="F8F9FA"/>
            </a:solidFill>
            <a:ln/>
          </p:spPr>
        </p:sp>
        <p:sp>
          <p:nvSpPr>
            <p:cNvPr id="9" name="Shape 7">
              <a:extLst>
                <a:ext uri="{FF2B5EF4-FFF2-40B4-BE49-F238E27FC236}">
                  <a16:creationId xmlns:a16="http://schemas.microsoft.com/office/drawing/2014/main" id="{E7F3E9DF-48D2-552B-547E-664100E2DF6E}"/>
                </a:ext>
              </a:extLst>
            </p:cNvPr>
            <p:cNvSpPr/>
            <p:nvPr/>
          </p:nvSpPr>
          <p:spPr>
            <a:xfrm>
              <a:off x="400050" y="1850231"/>
              <a:ext cx="28575" cy="950119"/>
            </a:xfrm>
            <a:prstGeom prst="rect">
              <a:avLst/>
            </a:prstGeom>
            <a:solidFill>
              <a:srgbClr val="3498DB"/>
            </a:solidFill>
            <a:ln/>
          </p:spPr>
        </p:sp>
        <p:sp>
          <p:nvSpPr>
            <p:cNvPr id="10" name="Text 8">
              <a:extLst>
                <a:ext uri="{FF2B5EF4-FFF2-40B4-BE49-F238E27FC236}">
                  <a16:creationId xmlns:a16="http://schemas.microsoft.com/office/drawing/2014/main" id="{59189FA5-860D-2F6E-CE13-F13291B4E76D}"/>
                </a:ext>
              </a:extLst>
            </p:cNvPr>
            <p:cNvSpPr/>
            <p:nvPr/>
          </p:nvSpPr>
          <p:spPr>
            <a:xfrm>
              <a:off x="471488" y="1953408"/>
              <a:ext cx="682964" cy="129404"/>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ECC的优势</a:t>
              </a:r>
              <a:endParaRPr lang="en-US" dirty="0">
                <a:latin typeface="微软雅黑" panose="020B0503020204020204" pitchFamily="34" charset="-122"/>
                <a:ea typeface="微软雅黑" panose="020B0503020204020204" pitchFamily="34" charset="-122"/>
              </a:endParaRPr>
            </a:p>
          </p:txBody>
        </p:sp>
        <p:sp>
          <p:nvSpPr>
            <p:cNvPr id="11" name="Text 9">
              <a:extLst>
                <a:ext uri="{FF2B5EF4-FFF2-40B4-BE49-F238E27FC236}">
                  <a16:creationId xmlns:a16="http://schemas.microsoft.com/office/drawing/2014/main" id="{85A184D3-E3F7-95D8-261C-0BF9446B3303}"/>
                </a:ext>
              </a:extLst>
            </p:cNvPr>
            <p:cNvSpPr/>
            <p:nvPr/>
          </p:nvSpPr>
          <p:spPr>
            <a:xfrm>
              <a:off x="614363" y="2177543"/>
              <a:ext cx="978658" cy="129404"/>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更短的密钥长度</a:t>
              </a:r>
              <a:endParaRPr lang="en-US" dirty="0">
                <a:latin typeface="微软雅黑" panose="020B0503020204020204" pitchFamily="34" charset="-122"/>
                <a:ea typeface="微软雅黑" panose="020B0503020204020204" pitchFamily="34" charset="-122"/>
              </a:endParaRPr>
            </a:p>
          </p:txBody>
        </p:sp>
        <p:sp>
          <p:nvSpPr>
            <p:cNvPr id="13" name="Text 10">
              <a:extLst>
                <a:ext uri="{FF2B5EF4-FFF2-40B4-BE49-F238E27FC236}">
                  <a16:creationId xmlns:a16="http://schemas.microsoft.com/office/drawing/2014/main" id="{6CEF3003-2C1F-A6C2-2B58-572BB9A295B7}"/>
                </a:ext>
              </a:extLst>
            </p:cNvPr>
            <p:cNvSpPr/>
            <p:nvPr/>
          </p:nvSpPr>
          <p:spPr>
            <a:xfrm>
              <a:off x="1414463" y="2177543"/>
              <a:ext cx="3057182" cy="129404"/>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：256位ECC密钥提供与3072位RSA相当的安全性</a:t>
              </a:r>
              <a:endParaRPr lang="en-US"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B8FAB69E-C81E-8784-C111-CC6824F47EAB}"/>
                </a:ext>
              </a:extLst>
            </p:cNvPr>
            <p:cNvSpPr/>
            <p:nvPr/>
          </p:nvSpPr>
          <p:spPr>
            <a:xfrm>
              <a:off x="614363" y="2377568"/>
              <a:ext cx="978658" cy="129404"/>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更高的计算效率</a:t>
              </a:r>
              <a:endParaRPr lang="en-US"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5538658E-BDF7-F45B-8170-55C98EB625A2}"/>
                </a:ext>
              </a:extLst>
            </p:cNvPr>
            <p:cNvSpPr/>
            <p:nvPr/>
          </p:nvSpPr>
          <p:spPr>
            <a:xfrm>
              <a:off x="1414463" y="2377568"/>
              <a:ext cx="2097125" cy="129404"/>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：密钥生成、签名和验证操作更快</a:t>
              </a:r>
              <a:endParaRPr lang="en-US"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2D51A044-DB6F-C963-75A7-45328E5316DA}"/>
                </a:ext>
              </a:extLst>
            </p:cNvPr>
            <p:cNvSpPr/>
            <p:nvPr/>
          </p:nvSpPr>
          <p:spPr>
            <a:xfrm>
              <a:off x="614363" y="2577593"/>
              <a:ext cx="978658" cy="129404"/>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更低的资源消耗</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52C85607-FA44-CA17-D4CD-1D5F6B206107}"/>
                </a:ext>
              </a:extLst>
            </p:cNvPr>
            <p:cNvSpPr/>
            <p:nvPr/>
          </p:nvSpPr>
          <p:spPr>
            <a:xfrm>
              <a:off x="1414463" y="2577593"/>
              <a:ext cx="2656359" cy="129404"/>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：适用于资源受限设备（物联网、智能卡）</a:t>
              </a:r>
              <a:endParaRPr lang="en-US" dirty="0">
                <a:latin typeface="微软雅黑" panose="020B0503020204020204" pitchFamily="34" charset="-122"/>
                <a:ea typeface="微软雅黑" panose="020B0503020204020204" pitchFamily="34" charset="-122"/>
              </a:endParaRPr>
            </a:p>
          </p:txBody>
        </p:sp>
      </p:grpSp>
      <p:pic>
        <p:nvPicPr>
          <p:cNvPr id="18" name="Image 1" descr="preencoded.png">
            <a:extLst>
              <a:ext uri="{FF2B5EF4-FFF2-40B4-BE49-F238E27FC236}">
                <a16:creationId xmlns:a16="http://schemas.microsoft.com/office/drawing/2014/main" id="{AB21CDD6-C36F-3B87-9399-21BA3BE559E8}"/>
              </a:ext>
            </a:extLst>
          </p:cNvPr>
          <p:cNvPicPr>
            <a:picLocks noChangeAspect="1"/>
          </p:cNvPicPr>
          <p:nvPr/>
        </p:nvPicPr>
        <p:blipFill>
          <a:blip r:embed="rId3"/>
          <a:stretch>
            <a:fillRect/>
          </a:stretch>
        </p:blipFill>
        <p:spPr>
          <a:xfrm>
            <a:off x="8631071" y="2384722"/>
            <a:ext cx="3270768" cy="3276415"/>
          </a:xfrm>
          <a:prstGeom prst="rect">
            <a:avLst/>
          </a:prstGeom>
        </p:spPr>
      </p:pic>
    </p:spTree>
    <p:extLst>
      <p:ext uri="{BB962C8B-B14F-4D97-AF65-F5344CB8AC3E}">
        <p14:creationId xmlns:p14="http://schemas.microsoft.com/office/powerpoint/2010/main" val="4113861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A656-94A2-6102-8CBD-F01EF9A2E957}"/>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3DC9166A-17F4-ABFE-28DC-AC4ABA285DF7}"/>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07367965-D90F-8C77-9BFF-438C8FC75AB9}"/>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CD4F740C-CBD1-9110-9318-D83D83591EEF}"/>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715F6F81-6A9C-045C-8661-D7ACC0BF0FCA}"/>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1FCD1602-2BE1-6A32-1D41-D973E4FB951E}"/>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58F8E6BF-8948-1466-0189-9B1215B94810}"/>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椭圆曲线密码体制（</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ECC</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grpSp>
        <p:nvGrpSpPr>
          <p:cNvPr id="19" name="组合 18">
            <a:extLst>
              <a:ext uri="{FF2B5EF4-FFF2-40B4-BE49-F238E27FC236}">
                <a16:creationId xmlns:a16="http://schemas.microsoft.com/office/drawing/2014/main" id="{4556B7E0-6824-F4BD-1278-1E3720F6AFBA}"/>
              </a:ext>
            </a:extLst>
          </p:cNvPr>
          <p:cNvGrpSpPr/>
          <p:nvPr/>
        </p:nvGrpSpPr>
        <p:grpSpPr>
          <a:xfrm>
            <a:off x="218136" y="1866280"/>
            <a:ext cx="7250907" cy="4043362"/>
            <a:chOff x="4629150" y="2471738"/>
            <a:chExt cx="3555098" cy="1985962"/>
          </a:xfrm>
        </p:grpSpPr>
        <p:sp>
          <p:nvSpPr>
            <p:cNvPr id="20" name="Shape 16">
              <a:extLst>
                <a:ext uri="{FF2B5EF4-FFF2-40B4-BE49-F238E27FC236}">
                  <a16:creationId xmlns:a16="http://schemas.microsoft.com/office/drawing/2014/main" id="{C70F5A32-EA2A-D936-6F38-E081892BAD4B}"/>
                </a:ext>
              </a:extLst>
            </p:cNvPr>
            <p:cNvSpPr/>
            <p:nvPr/>
          </p:nvSpPr>
          <p:spPr>
            <a:xfrm>
              <a:off x="4629150" y="2471738"/>
              <a:ext cx="3541937" cy="950119"/>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Shape 17">
              <a:extLst>
                <a:ext uri="{FF2B5EF4-FFF2-40B4-BE49-F238E27FC236}">
                  <a16:creationId xmlns:a16="http://schemas.microsoft.com/office/drawing/2014/main" id="{45E6484F-6A7A-1283-CAAC-25FA1751BBE0}"/>
                </a:ext>
              </a:extLst>
            </p:cNvPr>
            <p:cNvSpPr/>
            <p:nvPr/>
          </p:nvSpPr>
          <p:spPr>
            <a:xfrm>
              <a:off x="4629150" y="2471738"/>
              <a:ext cx="28575" cy="950119"/>
            </a:xfrm>
            <a:prstGeom prst="rect">
              <a:avLst/>
            </a:prstGeom>
            <a:solidFill>
              <a:srgbClr val="3498DB"/>
            </a:solidFill>
            <a:ln/>
          </p:spPr>
        </p:sp>
        <p:sp>
          <p:nvSpPr>
            <p:cNvPr id="22" name="Text 18">
              <a:extLst>
                <a:ext uri="{FF2B5EF4-FFF2-40B4-BE49-F238E27FC236}">
                  <a16:creationId xmlns:a16="http://schemas.microsoft.com/office/drawing/2014/main" id="{7C1557B0-C206-C4B4-FFEF-EE99B6F7CD1F}"/>
                </a:ext>
              </a:extLst>
            </p:cNvPr>
            <p:cNvSpPr/>
            <p:nvPr/>
          </p:nvSpPr>
          <p:spPr>
            <a:xfrm>
              <a:off x="4700588" y="2571589"/>
              <a:ext cx="666044" cy="136052"/>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主要ECC算法</a:t>
              </a:r>
              <a:endParaRPr lang="en-US" dirty="0">
                <a:latin typeface="微软雅黑" panose="020B0503020204020204" pitchFamily="34" charset="-122"/>
                <a:ea typeface="微软雅黑" panose="020B0503020204020204" pitchFamily="34" charset="-122"/>
              </a:endParaRPr>
            </a:p>
          </p:txBody>
        </p:sp>
        <p:sp>
          <p:nvSpPr>
            <p:cNvPr id="23" name="Text 19">
              <a:extLst>
                <a:ext uri="{FF2B5EF4-FFF2-40B4-BE49-F238E27FC236}">
                  <a16:creationId xmlns:a16="http://schemas.microsoft.com/office/drawing/2014/main" id="{C7943C63-8BF0-2B26-3A15-11699427A85E}"/>
                </a:ext>
              </a:extLst>
            </p:cNvPr>
            <p:cNvSpPr/>
            <p:nvPr/>
          </p:nvSpPr>
          <p:spPr>
            <a:xfrm>
              <a:off x="4843463" y="2795725"/>
              <a:ext cx="323025" cy="136052"/>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ECDH</a:t>
              </a:r>
              <a:endParaRPr lang="en-US" dirty="0">
                <a:latin typeface="微软雅黑" panose="020B0503020204020204" pitchFamily="34" charset="-122"/>
                <a:ea typeface="微软雅黑" panose="020B0503020204020204" pitchFamily="34" charset="-122"/>
              </a:endParaRPr>
            </a:p>
          </p:txBody>
        </p:sp>
        <p:sp>
          <p:nvSpPr>
            <p:cNvPr id="24" name="Text 20">
              <a:extLst>
                <a:ext uri="{FF2B5EF4-FFF2-40B4-BE49-F238E27FC236}">
                  <a16:creationId xmlns:a16="http://schemas.microsoft.com/office/drawing/2014/main" id="{EC65FC0A-9349-A53E-A359-27C9BDC1AD53}"/>
                </a:ext>
              </a:extLst>
            </p:cNvPr>
            <p:cNvSpPr/>
            <p:nvPr/>
          </p:nvSpPr>
          <p:spPr>
            <a:xfrm>
              <a:off x="5152318" y="2795725"/>
              <a:ext cx="2146423" cy="136052"/>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：椭圆曲线Diffie-Hellman，用于密钥交换</a:t>
              </a:r>
              <a:endParaRPr lang="en-US" dirty="0">
                <a:latin typeface="微软雅黑" panose="020B0503020204020204" pitchFamily="34" charset="-122"/>
                <a:ea typeface="微软雅黑" panose="020B0503020204020204" pitchFamily="34" charset="-122"/>
              </a:endParaRPr>
            </a:p>
          </p:txBody>
        </p:sp>
        <p:sp>
          <p:nvSpPr>
            <p:cNvPr id="25" name="Text 21">
              <a:extLst>
                <a:ext uri="{FF2B5EF4-FFF2-40B4-BE49-F238E27FC236}">
                  <a16:creationId xmlns:a16="http://schemas.microsoft.com/office/drawing/2014/main" id="{2FDC76D6-50BC-AE8F-FAF8-55278C5B15BF}"/>
                </a:ext>
              </a:extLst>
            </p:cNvPr>
            <p:cNvSpPr/>
            <p:nvPr/>
          </p:nvSpPr>
          <p:spPr>
            <a:xfrm>
              <a:off x="4843463" y="2995750"/>
              <a:ext cx="397448" cy="136052"/>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ECDSA</a:t>
              </a:r>
              <a:endParaRPr lang="en-US" dirty="0">
                <a:latin typeface="微软雅黑" panose="020B0503020204020204" pitchFamily="34" charset="-122"/>
                <a:ea typeface="微软雅黑" panose="020B0503020204020204" pitchFamily="34" charset="-122"/>
              </a:endParaRPr>
            </a:p>
          </p:txBody>
        </p:sp>
        <p:sp>
          <p:nvSpPr>
            <p:cNvPr id="26" name="Text 22">
              <a:extLst>
                <a:ext uri="{FF2B5EF4-FFF2-40B4-BE49-F238E27FC236}">
                  <a16:creationId xmlns:a16="http://schemas.microsoft.com/office/drawing/2014/main" id="{F187F7C6-5B7A-1DCA-AC5A-2143E07DA968}"/>
                </a:ext>
              </a:extLst>
            </p:cNvPr>
            <p:cNvSpPr/>
            <p:nvPr/>
          </p:nvSpPr>
          <p:spPr>
            <a:xfrm>
              <a:off x="5206733" y="2995750"/>
              <a:ext cx="2037176" cy="136052"/>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：椭圆曲线数字签名算法，用于数字签名</a:t>
              </a:r>
              <a:endParaRPr lang="en-US" dirty="0">
                <a:latin typeface="微软雅黑" panose="020B0503020204020204" pitchFamily="34" charset="-122"/>
                <a:ea typeface="微软雅黑" panose="020B0503020204020204" pitchFamily="34" charset="-122"/>
              </a:endParaRPr>
            </a:p>
          </p:txBody>
        </p:sp>
        <p:sp>
          <p:nvSpPr>
            <p:cNvPr id="27" name="Text 23">
              <a:extLst>
                <a:ext uri="{FF2B5EF4-FFF2-40B4-BE49-F238E27FC236}">
                  <a16:creationId xmlns:a16="http://schemas.microsoft.com/office/drawing/2014/main" id="{79F59AE1-07B1-6E49-D117-6CF5AF3313A2}"/>
                </a:ext>
              </a:extLst>
            </p:cNvPr>
            <p:cNvSpPr/>
            <p:nvPr/>
          </p:nvSpPr>
          <p:spPr>
            <a:xfrm>
              <a:off x="4843463" y="3195775"/>
              <a:ext cx="396581" cy="136052"/>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EdDSA</a:t>
              </a:r>
              <a:endParaRPr lang="en-US" dirty="0">
                <a:latin typeface="微软雅黑" panose="020B0503020204020204" pitchFamily="34" charset="-122"/>
                <a:ea typeface="微软雅黑" panose="020B0503020204020204" pitchFamily="34" charset="-122"/>
              </a:endParaRPr>
            </a:p>
          </p:txBody>
        </p:sp>
        <p:sp>
          <p:nvSpPr>
            <p:cNvPr id="28" name="Text 24">
              <a:extLst>
                <a:ext uri="{FF2B5EF4-FFF2-40B4-BE49-F238E27FC236}">
                  <a16:creationId xmlns:a16="http://schemas.microsoft.com/office/drawing/2014/main" id="{1F578129-8982-63E5-FBCF-81CEA3BE9920}"/>
                </a:ext>
              </a:extLst>
            </p:cNvPr>
            <p:cNvSpPr/>
            <p:nvPr/>
          </p:nvSpPr>
          <p:spPr>
            <a:xfrm>
              <a:off x="5206259" y="3195775"/>
              <a:ext cx="2162896" cy="136052"/>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：Edwards曲线数字签名算法，如Ed25519</a:t>
              </a:r>
              <a:endParaRPr lang="en-US" dirty="0">
                <a:latin typeface="微软雅黑" panose="020B0503020204020204" pitchFamily="34" charset="-122"/>
                <a:ea typeface="微软雅黑" panose="020B0503020204020204" pitchFamily="34" charset="-122"/>
              </a:endParaRPr>
            </a:p>
          </p:txBody>
        </p:sp>
        <p:sp>
          <p:nvSpPr>
            <p:cNvPr id="29" name="Shape 25">
              <a:extLst>
                <a:ext uri="{FF2B5EF4-FFF2-40B4-BE49-F238E27FC236}">
                  <a16:creationId xmlns:a16="http://schemas.microsoft.com/office/drawing/2014/main" id="{BB5344A8-8D0C-AFDA-A326-EC091492F8FB}"/>
                </a:ext>
              </a:extLst>
            </p:cNvPr>
            <p:cNvSpPr/>
            <p:nvPr/>
          </p:nvSpPr>
          <p:spPr>
            <a:xfrm>
              <a:off x="4629150" y="3507581"/>
              <a:ext cx="3541937" cy="950119"/>
            </a:xfrm>
            <a:prstGeom prst="rect">
              <a:avLst/>
            </a:prstGeom>
            <a:solidFill>
              <a:srgbClr val="F8F9FA"/>
            </a:solidFill>
            <a:ln/>
          </p:spPr>
        </p:sp>
        <p:sp>
          <p:nvSpPr>
            <p:cNvPr id="30" name="Shape 26">
              <a:extLst>
                <a:ext uri="{FF2B5EF4-FFF2-40B4-BE49-F238E27FC236}">
                  <a16:creationId xmlns:a16="http://schemas.microsoft.com/office/drawing/2014/main" id="{DA4B6D37-DA14-516E-4092-697A03593237}"/>
                </a:ext>
              </a:extLst>
            </p:cNvPr>
            <p:cNvSpPr/>
            <p:nvPr/>
          </p:nvSpPr>
          <p:spPr>
            <a:xfrm>
              <a:off x="4629150" y="3507581"/>
              <a:ext cx="28575" cy="950119"/>
            </a:xfrm>
            <a:prstGeom prst="rect">
              <a:avLst/>
            </a:prstGeom>
            <a:solidFill>
              <a:srgbClr val="3498DB"/>
            </a:solidFill>
            <a:ln/>
          </p:spPr>
        </p:sp>
        <p:sp>
          <p:nvSpPr>
            <p:cNvPr id="31" name="Text 27">
              <a:extLst>
                <a:ext uri="{FF2B5EF4-FFF2-40B4-BE49-F238E27FC236}">
                  <a16:creationId xmlns:a16="http://schemas.microsoft.com/office/drawing/2014/main" id="{E5F81388-CE63-10D8-1BF5-4118FED4B653}"/>
                </a:ext>
              </a:extLst>
            </p:cNvPr>
            <p:cNvSpPr/>
            <p:nvPr/>
          </p:nvSpPr>
          <p:spPr>
            <a:xfrm>
              <a:off x="4700588" y="3607433"/>
              <a:ext cx="679059" cy="136052"/>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常用椭圆曲线</a:t>
              </a:r>
              <a:endParaRPr lang="en-US" dirty="0">
                <a:latin typeface="微软雅黑" panose="020B0503020204020204" pitchFamily="34" charset="-122"/>
                <a:ea typeface="微软雅黑" panose="020B0503020204020204" pitchFamily="34" charset="-122"/>
              </a:endParaRPr>
            </a:p>
          </p:txBody>
        </p:sp>
        <p:sp>
          <p:nvSpPr>
            <p:cNvPr id="32" name="Text 28">
              <a:extLst>
                <a:ext uri="{FF2B5EF4-FFF2-40B4-BE49-F238E27FC236}">
                  <a16:creationId xmlns:a16="http://schemas.microsoft.com/office/drawing/2014/main" id="{15F7C80F-8395-D715-2296-100F585752D9}"/>
                </a:ext>
              </a:extLst>
            </p:cNvPr>
            <p:cNvSpPr/>
            <p:nvPr/>
          </p:nvSpPr>
          <p:spPr>
            <a:xfrm>
              <a:off x="4843463" y="3831568"/>
              <a:ext cx="499077" cy="136052"/>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NIST曲线</a:t>
              </a:r>
              <a:endParaRPr lang="en-US" dirty="0">
                <a:latin typeface="微软雅黑" panose="020B0503020204020204" pitchFamily="34" charset="-122"/>
                <a:ea typeface="微软雅黑" panose="020B0503020204020204" pitchFamily="34" charset="-122"/>
              </a:endParaRPr>
            </a:p>
          </p:txBody>
        </p:sp>
        <p:sp>
          <p:nvSpPr>
            <p:cNvPr id="38" name="Text 29">
              <a:extLst>
                <a:ext uri="{FF2B5EF4-FFF2-40B4-BE49-F238E27FC236}">
                  <a16:creationId xmlns:a16="http://schemas.microsoft.com/office/drawing/2014/main" id="{9FEBA5FC-DA05-813A-B287-127236C8ABEC}"/>
                </a:ext>
              </a:extLst>
            </p:cNvPr>
            <p:cNvSpPr/>
            <p:nvPr/>
          </p:nvSpPr>
          <p:spPr>
            <a:xfrm>
              <a:off x="5338614" y="3831568"/>
              <a:ext cx="1966441" cy="136052"/>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：P-256、P-384、P-521（美国标准）</a:t>
              </a:r>
              <a:endParaRPr lang="en-US" dirty="0">
                <a:latin typeface="微软雅黑" panose="020B0503020204020204" pitchFamily="34" charset="-122"/>
                <a:ea typeface="微软雅黑" panose="020B0503020204020204" pitchFamily="34" charset="-122"/>
              </a:endParaRPr>
            </a:p>
          </p:txBody>
        </p:sp>
        <p:sp>
          <p:nvSpPr>
            <p:cNvPr id="39" name="Text 30">
              <a:extLst>
                <a:ext uri="{FF2B5EF4-FFF2-40B4-BE49-F238E27FC236}">
                  <a16:creationId xmlns:a16="http://schemas.microsoft.com/office/drawing/2014/main" id="{0E13DB75-18DF-9CAA-46D8-BCAF13B8E3C5}"/>
                </a:ext>
              </a:extLst>
            </p:cNvPr>
            <p:cNvSpPr/>
            <p:nvPr/>
          </p:nvSpPr>
          <p:spPr>
            <a:xfrm>
              <a:off x="4843463" y="4031593"/>
              <a:ext cx="706382" cy="136052"/>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Curve25519</a:t>
              </a:r>
              <a:endParaRPr lang="en-US" dirty="0">
                <a:latin typeface="微软雅黑" panose="020B0503020204020204" pitchFamily="34" charset="-122"/>
                <a:ea typeface="微软雅黑" panose="020B0503020204020204" pitchFamily="34" charset="-122"/>
              </a:endParaRPr>
            </a:p>
          </p:txBody>
        </p:sp>
        <p:sp>
          <p:nvSpPr>
            <p:cNvPr id="40" name="Text 31">
              <a:extLst>
                <a:ext uri="{FF2B5EF4-FFF2-40B4-BE49-F238E27FC236}">
                  <a16:creationId xmlns:a16="http://schemas.microsoft.com/office/drawing/2014/main" id="{D5036D88-27F5-3D28-D4CD-B98D2E3514E4}"/>
                </a:ext>
              </a:extLst>
            </p:cNvPr>
            <p:cNvSpPr/>
            <p:nvPr/>
          </p:nvSpPr>
          <p:spPr>
            <a:xfrm>
              <a:off x="5502752" y="4031593"/>
              <a:ext cx="2681496" cy="136052"/>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：由Daniel J. Bernstein设计，广泛用于现代密码协议</a:t>
              </a:r>
              <a:endParaRPr lang="en-US" dirty="0">
                <a:latin typeface="微软雅黑" panose="020B0503020204020204" pitchFamily="34" charset="-122"/>
                <a:ea typeface="微软雅黑" panose="020B0503020204020204" pitchFamily="34" charset="-122"/>
              </a:endParaRPr>
            </a:p>
          </p:txBody>
        </p:sp>
        <p:sp>
          <p:nvSpPr>
            <p:cNvPr id="41" name="Text 32">
              <a:extLst>
                <a:ext uri="{FF2B5EF4-FFF2-40B4-BE49-F238E27FC236}">
                  <a16:creationId xmlns:a16="http://schemas.microsoft.com/office/drawing/2014/main" id="{AE82B350-CFFD-4837-FD78-AEA6BF6817AC}"/>
                </a:ext>
              </a:extLst>
            </p:cNvPr>
            <p:cNvSpPr/>
            <p:nvPr/>
          </p:nvSpPr>
          <p:spPr>
            <a:xfrm>
              <a:off x="4843463" y="4231618"/>
              <a:ext cx="602822" cy="136052"/>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secp256k1</a:t>
              </a:r>
              <a:endParaRPr lang="en-US" dirty="0">
                <a:latin typeface="微软雅黑" panose="020B0503020204020204" pitchFamily="34" charset="-122"/>
                <a:ea typeface="微软雅黑" panose="020B0503020204020204" pitchFamily="34" charset="-122"/>
              </a:endParaRPr>
            </a:p>
          </p:txBody>
        </p:sp>
        <p:sp>
          <p:nvSpPr>
            <p:cNvPr id="42" name="Text 33">
              <a:extLst>
                <a:ext uri="{FF2B5EF4-FFF2-40B4-BE49-F238E27FC236}">
                  <a16:creationId xmlns:a16="http://schemas.microsoft.com/office/drawing/2014/main" id="{4AEBB7A5-B6C0-87E4-2C3C-28E6FC895177}"/>
                </a:ext>
              </a:extLst>
            </p:cNvPr>
            <p:cNvSpPr/>
            <p:nvPr/>
          </p:nvSpPr>
          <p:spPr>
            <a:xfrm>
              <a:off x="5431315" y="4231618"/>
              <a:ext cx="1810823" cy="136052"/>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：用于比特币和以太坊等区块链系统</a:t>
              </a:r>
              <a:endParaRPr lang="en-US" dirty="0">
                <a:latin typeface="微软雅黑" panose="020B0503020204020204" pitchFamily="34" charset="-122"/>
                <a:ea typeface="微软雅黑" panose="020B0503020204020204" pitchFamily="34" charset="-122"/>
              </a:endParaRPr>
            </a:p>
          </p:txBody>
        </p:sp>
      </p:grpSp>
      <p:sp>
        <p:nvSpPr>
          <p:cNvPr id="61" name="Text 34">
            <a:extLst>
              <a:ext uri="{FF2B5EF4-FFF2-40B4-BE49-F238E27FC236}">
                <a16:creationId xmlns:a16="http://schemas.microsoft.com/office/drawing/2014/main" id="{86911034-CED0-3751-C522-7167D6162806}"/>
              </a:ext>
            </a:extLst>
          </p:cNvPr>
          <p:cNvSpPr/>
          <p:nvPr/>
        </p:nvSpPr>
        <p:spPr>
          <a:xfrm>
            <a:off x="7630510" y="1852960"/>
            <a:ext cx="1578958" cy="276999"/>
          </a:xfrm>
          <a:prstGeom prst="rect">
            <a:avLst/>
          </a:prstGeom>
          <a:noFill/>
          <a:ln/>
        </p:spPr>
        <p:txBody>
          <a:bodyPr wrap="none" lIns="0" tIns="0" rIns="0" bIns="0" rtlCol="0" anchor="ctr">
            <a:spAutoFit/>
          </a:bodyPr>
          <a:lstStyle/>
          <a:p>
            <a:pPr marL="0" indent="0">
              <a:buNone/>
            </a:pPr>
            <a:r>
              <a:rPr lang="en-US" b="1" dirty="0">
                <a:solidFill>
                  <a:srgbClr val="1F2937"/>
                </a:solidFill>
                <a:latin typeface="微软雅黑" panose="020B0503020204020204" pitchFamily="34" charset="-122"/>
                <a:ea typeface="微软雅黑" panose="020B0503020204020204" pitchFamily="34" charset="-122"/>
                <a:cs typeface="Noto Sans" pitchFamily="34" charset="-120"/>
              </a:rPr>
              <a:t>ECC的应用场景</a:t>
            </a:r>
            <a:endParaRPr lang="en-US" dirty="0">
              <a:latin typeface="微软雅黑" panose="020B0503020204020204" pitchFamily="34" charset="-122"/>
              <a:ea typeface="微软雅黑" panose="020B0503020204020204" pitchFamily="34" charset="-122"/>
            </a:endParaRPr>
          </a:p>
        </p:txBody>
      </p:sp>
      <p:grpSp>
        <p:nvGrpSpPr>
          <p:cNvPr id="77" name="组合 76">
            <a:extLst>
              <a:ext uri="{FF2B5EF4-FFF2-40B4-BE49-F238E27FC236}">
                <a16:creationId xmlns:a16="http://schemas.microsoft.com/office/drawing/2014/main" id="{D742F96C-33AC-7969-BB91-0B50644DFE9A}"/>
              </a:ext>
            </a:extLst>
          </p:cNvPr>
          <p:cNvGrpSpPr/>
          <p:nvPr/>
        </p:nvGrpSpPr>
        <p:grpSpPr>
          <a:xfrm>
            <a:off x="7630510" y="2284608"/>
            <a:ext cx="4343354" cy="3344446"/>
            <a:chOff x="7994613" y="3242098"/>
            <a:chExt cx="2781319" cy="2203049"/>
          </a:xfrm>
        </p:grpSpPr>
        <p:grpSp>
          <p:nvGrpSpPr>
            <p:cNvPr id="76" name="组合 75">
              <a:extLst>
                <a:ext uri="{FF2B5EF4-FFF2-40B4-BE49-F238E27FC236}">
                  <a16:creationId xmlns:a16="http://schemas.microsoft.com/office/drawing/2014/main" id="{E88FD5CC-DE0F-FE79-D25C-BDCCB7402C0D}"/>
                </a:ext>
              </a:extLst>
            </p:cNvPr>
            <p:cNvGrpSpPr/>
            <p:nvPr/>
          </p:nvGrpSpPr>
          <p:grpSpPr>
            <a:xfrm>
              <a:off x="7994613" y="3242098"/>
              <a:ext cx="2781291" cy="657225"/>
              <a:chOff x="4298950" y="2608477"/>
              <a:chExt cx="2781291" cy="657225"/>
            </a:xfrm>
          </p:grpSpPr>
          <p:sp>
            <p:nvSpPr>
              <p:cNvPr id="62" name="Shape 35">
                <a:extLst>
                  <a:ext uri="{FF2B5EF4-FFF2-40B4-BE49-F238E27FC236}">
                    <a16:creationId xmlns:a16="http://schemas.microsoft.com/office/drawing/2014/main" id="{A268BEEA-4AB6-51A3-D05B-50308B4503EE}"/>
                  </a:ext>
                </a:extLst>
              </p:cNvPr>
              <p:cNvSpPr/>
              <p:nvPr/>
            </p:nvSpPr>
            <p:spPr>
              <a:xfrm>
                <a:off x="4298950" y="2608477"/>
                <a:ext cx="2781291" cy="657225"/>
              </a:xfrm>
              <a:prstGeom prst="rect">
                <a:avLst/>
              </a:prstGeom>
              <a:solidFill>
                <a:srgbClr val="EFF6FF"/>
              </a:solidFill>
              <a:ln/>
            </p:spPr>
            <p:txBody>
              <a:bodyPr/>
              <a:lstStyle/>
              <a:p>
                <a:endParaRPr lang="zh-CN" altLang="en-US">
                  <a:latin typeface="微软雅黑" panose="020B0503020204020204" pitchFamily="34" charset="-122"/>
                  <a:ea typeface="微软雅黑" panose="020B0503020204020204" pitchFamily="34" charset="-122"/>
                </a:endParaRPr>
              </a:p>
            </p:txBody>
          </p:sp>
          <p:pic>
            <p:nvPicPr>
              <p:cNvPr id="63" name="Image 3" descr="preencoded.png">
                <a:extLst>
                  <a:ext uri="{FF2B5EF4-FFF2-40B4-BE49-F238E27FC236}">
                    <a16:creationId xmlns:a16="http://schemas.microsoft.com/office/drawing/2014/main" id="{3E9CC8A9-F8AA-C1D9-ECA5-5DB2E51861B5}"/>
                  </a:ext>
                </a:extLst>
              </p:cNvPr>
              <p:cNvPicPr>
                <a:picLocks noChangeAspect="1"/>
              </p:cNvPicPr>
              <p:nvPr/>
            </p:nvPicPr>
            <p:blipFill>
              <a:blip r:embed="rId3"/>
              <a:stretch>
                <a:fillRect/>
              </a:stretch>
            </p:blipFill>
            <p:spPr>
              <a:xfrm>
                <a:off x="4384675" y="2722777"/>
                <a:ext cx="100013" cy="114300"/>
              </a:xfrm>
              <a:prstGeom prst="rect">
                <a:avLst/>
              </a:prstGeom>
            </p:spPr>
          </p:pic>
          <p:sp>
            <p:nvSpPr>
              <p:cNvPr id="64" name="Text 36">
                <a:extLst>
                  <a:ext uri="{FF2B5EF4-FFF2-40B4-BE49-F238E27FC236}">
                    <a16:creationId xmlns:a16="http://schemas.microsoft.com/office/drawing/2014/main" id="{9E9EEE8F-741F-0010-1800-5EA5AF8654D8}"/>
                  </a:ext>
                </a:extLst>
              </p:cNvPr>
              <p:cNvSpPr/>
              <p:nvPr/>
            </p:nvSpPr>
            <p:spPr>
              <a:xfrm>
                <a:off x="4541838" y="2689752"/>
                <a:ext cx="834250" cy="180350"/>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TLS/SSL协议</a:t>
                </a:r>
                <a:endParaRPr lang="en-US" dirty="0">
                  <a:latin typeface="微软雅黑" panose="020B0503020204020204" pitchFamily="34" charset="-122"/>
                  <a:ea typeface="微软雅黑" panose="020B0503020204020204" pitchFamily="34" charset="-122"/>
                </a:endParaRPr>
              </a:p>
            </p:txBody>
          </p:sp>
          <p:sp>
            <p:nvSpPr>
              <p:cNvPr id="65" name="Text 37">
                <a:extLst>
                  <a:ext uri="{FF2B5EF4-FFF2-40B4-BE49-F238E27FC236}">
                    <a16:creationId xmlns:a16="http://schemas.microsoft.com/office/drawing/2014/main" id="{B36950A7-C7C2-1AC1-A9FD-DDD260AE3977}"/>
                  </a:ext>
                </a:extLst>
              </p:cNvPr>
              <p:cNvSpPr/>
              <p:nvPr/>
            </p:nvSpPr>
            <p:spPr>
              <a:xfrm>
                <a:off x="4384675" y="2856752"/>
                <a:ext cx="2609841" cy="360699"/>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现代HTTPS使用ECDHE进行密钥交换，ECDSA进行证书签名</a:t>
                </a:r>
                <a:endParaRPr lang="en-US" dirty="0">
                  <a:latin typeface="微软雅黑" panose="020B0503020204020204" pitchFamily="34" charset="-122"/>
                  <a:ea typeface="微软雅黑" panose="020B0503020204020204" pitchFamily="34" charset="-122"/>
                </a:endParaRPr>
              </a:p>
            </p:txBody>
          </p:sp>
        </p:grpSp>
        <p:grpSp>
          <p:nvGrpSpPr>
            <p:cNvPr id="75" name="组合 74">
              <a:extLst>
                <a:ext uri="{FF2B5EF4-FFF2-40B4-BE49-F238E27FC236}">
                  <a16:creationId xmlns:a16="http://schemas.microsoft.com/office/drawing/2014/main" id="{8C17A980-A76D-3C1F-C284-28FEE743EDF6}"/>
                </a:ext>
              </a:extLst>
            </p:cNvPr>
            <p:cNvGrpSpPr/>
            <p:nvPr/>
          </p:nvGrpSpPr>
          <p:grpSpPr>
            <a:xfrm>
              <a:off x="7994641" y="4015010"/>
              <a:ext cx="2781291" cy="657225"/>
              <a:chOff x="7194541" y="2608477"/>
              <a:chExt cx="2781291" cy="657225"/>
            </a:xfrm>
          </p:grpSpPr>
          <p:sp>
            <p:nvSpPr>
              <p:cNvPr id="66" name="Shape 38">
                <a:extLst>
                  <a:ext uri="{FF2B5EF4-FFF2-40B4-BE49-F238E27FC236}">
                    <a16:creationId xmlns:a16="http://schemas.microsoft.com/office/drawing/2014/main" id="{61B6E77C-A70D-9C06-5F87-B1A85D06A856}"/>
                  </a:ext>
                </a:extLst>
              </p:cNvPr>
              <p:cNvSpPr/>
              <p:nvPr/>
            </p:nvSpPr>
            <p:spPr>
              <a:xfrm>
                <a:off x="7194541" y="2608477"/>
                <a:ext cx="2781291" cy="657225"/>
              </a:xfrm>
              <a:prstGeom prst="rect">
                <a:avLst/>
              </a:prstGeom>
              <a:solidFill>
                <a:srgbClr val="EFF6FF"/>
              </a:solidFill>
              <a:ln/>
            </p:spPr>
          </p:sp>
          <p:pic>
            <p:nvPicPr>
              <p:cNvPr id="67" name="Image 4" descr="preencoded.png">
                <a:extLst>
                  <a:ext uri="{FF2B5EF4-FFF2-40B4-BE49-F238E27FC236}">
                    <a16:creationId xmlns:a16="http://schemas.microsoft.com/office/drawing/2014/main" id="{16BD90E3-2AEC-8671-95DC-8E2EEFDCEBAA}"/>
                  </a:ext>
                </a:extLst>
              </p:cNvPr>
              <p:cNvPicPr>
                <a:picLocks noChangeAspect="1"/>
              </p:cNvPicPr>
              <p:nvPr/>
            </p:nvPicPr>
            <p:blipFill>
              <a:blip r:embed="rId4"/>
              <a:stretch>
                <a:fillRect/>
              </a:stretch>
            </p:blipFill>
            <p:spPr>
              <a:xfrm>
                <a:off x="7280266" y="2722777"/>
                <a:ext cx="85725" cy="114300"/>
              </a:xfrm>
              <a:prstGeom prst="rect">
                <a:avLst/>
              </a:prstGeom>
            </p:spPr>
          </p:pic>
          <p:sp>
            <p:nvSpPr>
              <p:cNvPr id="68" name="Text 39">
                <a:extLst>
                  <a:ext uri="{FF2B5EF4-FFF2-40B4-BE49-F238E27FC236}">
                    <a16:creationId xmlns:a16="http://schemas.microsoft.com/office/drawing/2014/main" id="{AB1C5F10-9C4B-1444-576D-F9BFB58339E1}"/>
                  </a:ext>
                </a:extLst>
              </p:cNvPr>
              <p:cNvSpPr/>
              <p:nvPr/>
            </p:nvSpPr>
            <p:spPr>
              <a:xfrm>
                <a:off x="7423141" y="2689752"/>
                <a:ext cx="833286" cy="180350"/>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移动设备安全</a:t>
                </a:r>
                <a:endParaRPr lang="en-US" dirty="0">
                  <a:latin typeface="微软雅黑" panose="020B0503020204020204" pitchFamily="34" charset="-122"/>
                  <a:ea typeface="微软雅黑" panose="020B0503020204020204" pitchFamily="34" charset="-122"/>
                </a:endParaRPr>
              </a:p>
            </p:txBody>
          </p:sp>
          <p:sp>
            <p:nvSpPr>
              <p:cNvPr id="69" name="Text 40">
                <a:extLst>
                  <a:ext uri="{FF2B5EF4-FFF2-40B4-BE49-F238E27FC236}">
                    <a16:creationId xmlns:a16="http://schemas.microsoft.com/office/drawing/2014/main" id="{206695D8-77B5-5687-B137-99D0987F0CA7}"/>
                  </a:ext>
                </a:extLst>
              </p:cNvPr>
              <p:cNvSpPr/>
              <p:nvPr/>
            </p:nvSpPr>
            <p:spPr>
              <a:xfrm>
                <a:off x="7280266" y="2875490"/>
                <a:ext cx="2499857" cy="180350"/>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资源受限设备上的加密、认证和安全通信</a:t>
                </a:r>
                <a:endParaRPr lang="en-US" dirty="0">
                  <a:latin typeface="微软雅黑" panose="020B0503020204020204" pitchFamily="34" charset="-122"/>
                  <a:ea typeface="微软雅黑" panose="020B0503020204020204" pitchFamily="34" charset="-122"/>
                </a:endParaRPr>
              </a:p>
            </p:txBody>
          </p:sp>
        </p:grpSp>
        <p:grpSp>
          <p:nvGrpSpPr>
            <p:cNvPr id="74" name="组合 73">
              <a:extLst>
                <a:ext uri="{FF2B5EF4-FFF2-40B4-BE49-F238E27FC236}">
                  <a16:creationId xmlns:a16="http://schemas.microsoft.com/office/drawing/2014/main" id="{07E02847-7A1C-D840-0B1E-3556EEEAF374}"/>
                </a:ext>
              </a:extLst>
            </p:cNvPr>
            <p:cNvGrpSpPr/>
            <p:nvPr/>
          </p:nvGrpSpPr>
          <p:grpSpPr>
            <a:xfrm>
              <a:off x="7994613" y="4787922"/>
              <a:ext cx="2781319" cy="657225"/>
              <a:chOff x="10090131" y="2608477"/>
              <a:chExt cx="2781319" cy="657225"/>
            </a:xfrm>
          </p:grpSpPr>
          <p:sp>
            <p:nvSpPr>
              <p:cNvPr id="70" name="Shape 41">
                <a:extLst>
                  <a:ext uri="{FF2B5EF4-FFF2-40B4-BE49-F238E27FC236}">
                    <a16:creationId xmlns:a16="http://schemas.microsoft.com/office/drawing/2014/main" id="{C496EDF3-38E9-3BA7-2DFC-FE13AF3A056C}"/>
                  </a:ext>
                </a:extLst>
              </p:cNvPr>
              <p:cNvSpPr/>
              <p:nvPr/>
            </p:nvSpPr>
            <p:spPr>
              <a:xfrm>
                <a:off x="10090131" y="2608477"/>
                <a:ext cx="2781319" cy="657225"/>
              </a:xfrm>
              <a:prstGeom prst="rect">
                <a:avLst/>
              </a:prstGeom>
              <a:solidFill>
                <a:srgbClr val="EFF6FF"/>
              </a:solidFill>
              <a:ln/>
            </p:spPr>
          </p:sp>
          <p:pic>
            <p:nvPicPr>
              <p:cNvPr id="71" name="Image 5" descr="preencoded.png">
                <a:extLst>
                  <a:ext uri="{FF2B5EF4-FFF2-40B4-BE49-F238E27FC236}">
                    <a16:creationId xmlns:a16="http://schemas.microsoft.com/office/drawing/2014/main" id="{FF675362-F97D-B4E2-1299-072CBC41ACE8}"/>
                  </a:ext>
                </a:extLst>
              </p:cNvPr>
              <p:cNvPicPr>
                <a:picLocks noChangeAspect="1"/>
              </p:cNvPicPr>
              <p:nvPr/>
            </p:nvPicPr>
            <p:blipFill>
              <a:blip r:embed="rId5"/>
              <a:stretch>
                <a:fillRect/>
              </a:stretch>
            </p:blipFill>
            <p:spPr>
              <a:xfrm>
                <a:off x="10175856" y="2722777"/>
                <a:ext cx="142875" cy="114300"/>
              </a:xfrm>
              <a:prstGeom prst="rect">
                <a:avLst/>
              </a:prstGeom>
            </p:spPr>
          </p:pic>
          <p:sp>
            <p:nvSpPr>
              <p:cNvPr id="72" name="Text 42">
                <a:extLst>
                  <a:ext uri="{FF2B5EF4-FFF2-40B4-BE49-F238E27FC236}">
                    <a16:creationId xmlns:a16="http://schemas.microsoft.com/office/drawing/2014/main" id="{6C9C337F-CEFB-818A-92FA-94E3D6E7E041}"/>
                  </a:ext>
                </a:extLst>
              </p:cNvPr>
              <p:cNvSpPr/>
              <p:nvPr/>
            </p:nvSpPr>
            <p:spPr>
              <a:xfrm>
                <a:off x="10375881" y="2689752"/>
                <a:ext cx="694404" cy="180350"/>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区块链技术</a:t>
                </a:r>
                <a:endParaRPr lang="en-US" dirty="0">
                  <a:latin typeface="微软雅黑" panose="020B0503020204020204" pitchFamily="34" charset="-122"/>
                  <a:ea typeface="微软雅黑" panose="020B0503020204020204" pitchFamily="34" charset="-122"/>
                </a:endParaRPr>
              </a:p>
            </p:txBody>
          </p:sp>
          <p:sp>
            <p:nvSpPr>
              <p:cNvPr id="73" name="Text 43">
                <a:extLst>
                  <a:ext uri="{FF2B5EF4-FFF2-40B4-BE49-F238E27FC236}">
                    <a16:creationId xmlns:a16="http://schemas.microsoft.com/office/drawing/2014/main" id="{BC783CC1-23A9-781D-B172-6CCBA2E77AF9}"/>
                  </a:ext>
                </a:extLst>
              </p:cNvPr>
              <p:cNvSpPr/>
              <p:nvPr/>
            </p:nvSpPr>
            <p:spPr>
              <a:xfrm>
                <a:off x="10175856" y="2875490"/>
                <a:ext cx="2222094" cy="180350"/>
              </a:xfrm>
              <a:prstGeom prst="rect">
                <a:avLst/>
              </a:prstGeom>
              <a:noFill/>
              <a:ln/>
            </p:spPr>
            <p:txBody>
              <a:bodyPr wrap="non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用于数字货币的交易签名和地址生成</a:t>
                </a:r>
                <a:endParaRPr lang="en-US"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2246478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169F8-0B12-C2A8-86A7-40F258AAC118}"/>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8D84E3C0-1C77-58EF-B9B0-FDD9F9C55481}"/>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1E64CBED-F2F8-EB59-0A16-3644AF009B73}"/>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7E753F36-2F97-E22E-9989-54AC56AD2637}"/>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353E7570-0409-BE6C-2DF1-8402A89B70DB}"/>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DBE1B822-2EE2-DDD5-029D-AAEC55DDEB5E}"/>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1F002D9A-E778-696F-197F-9D902248EA8F}"/>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国密算法</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SM2</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grpSp>
        <p:nvGrpSpPr>
          <p:cNvPr id="49" name="组合 48">
            <a:extLst>
              <a:ext uri="{FF2B5EF4-FFF2-40B4-BE49-F238E27FC236}">
                <a16:creationId xmlns:a16="http://schemas.microsoft.com/office/drawing/2014/main" id="{52EB8B1F-1AEA-3F49-8A93-BF9D4C02C19E}"/>
              </a:ext>
            </a:extLst>
          </p:cNvPr>
          <p:cNvGrpSpPr/>
          <p:nvPr/>
        </p:nvGrpSpPr>
        <p:grpSpPr>
          <a:xfrm>
            <a:off x="124417" y="1488498"/>
            <a:ext cx="6119735" cy="2608881"/>
            <a:chOff x="218136" y="1707356"/>
            <a:chExt cx="8461404" cy="2307985"/>
          </a:xfrm>
        </p:grpSpPr>
        <p:sp>
          <p:nvSpPr>
            <p:cNvPr id="3" name="Shape 1">
              <a:extLst>
                <a:ext uri="{FF2B5EF4-FFF2-40B4-BE49-F238E27FC236}">
                  <a16:creationId xmlns:a16="http://schemas.microsoft.com/office/drawing/2014/main" id="{2FA8A1D9-5B4E-3CF9-CD0E-6E6B3D2EEDAC}"/>
                </a:ext>
              </a:extLst>
            </p:cNvPr>
            <p:cNvSpPr/>
            <p:nvPr/>
          </p:nvSpPr>
          <p:spPr>
            <a:xfrm>
              <a:off x="218136" y="1707356"/>
              <a:ext cx="8461404" cy="2307985"/>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Shape 2">
              <a:extLst>
                <a:ext uri="{FF2B5EF4-FFF2-40B4-BE49-F238E27FC236}">
                  <a16:creationId xmlns:a16="http://schemas.microsoft.com/office/drawing/2014/main" id="{07C0B5AA-1554-A0F6-3CA2-BB1C30719597}"/>
                </a:ext>
              </a:extLst>
            </p:cNvPr>
            <p:cNvSpPr/>
            <p:nvPr/>
          </p:nvSpPr>
          <p:spPr>
            <a:xfrm>
              <a:off x="218136" y="1707356"/>
              <a:ext cx="58760" cy="2307985"/>
            </a:xfrm>
            <a:prstGeom prst="rect">
              <a:avLst/>
            </a:prstGeom>
            <a:solidFill>
              <a:srgbClr val="3498DB"/>
            </a:solidFill>
            <a:ln/>
          </p:spPr>
        </p:sp>
        <p:sp>
          <p:nvSpPr>
            <p:cNvPr id="5" name="Text 3">
              <a:extLst>
                <a:ext uri="{FF2B5EF4-FFF2-40B4-BE49-F238E27FC236}">
                  <a16:creationId xmlns:a16="http://schemas.microsoft.com/office/drawing/2014/main" id="{508E75CC-77F8-7EAD-D173-3B57507EF026}"/>
                </a:ext>
              </a:extLst>
            </p:cNvPr>
            <p:cNvSpPr/>
            <p:nvPr/>
          </p:nvSpPr>
          <p:spPr>
            <a:xfrm>
              <a:off x="365036" y="1834772"/>
              <a:ext cx="1994742" cy="245051"/>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SM2算法简介</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9A1EEC7F-A8E5-FEF6-49AB-2C811BB03C94}"/>
                </a:ext>
              </a:extLst>
            </p:cNvPr>
            <p:cNvSpPr/>
            <p:nvPr/>
          </p:nvSpPr>
          <p:spPr>
            <a:xfrm>
              <a:off x="365036" y="2052385"/>
              <a:ext cx="8167605" cy="735154"/>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SM2是中国国家密码管理局发布的椭圆曲线公钥密码算法标准，是我国自主设计的公钥密码算法，属于国家商用密码算法。</a:t>
              </a:r>
              <a:endParaRPr lang="en-US"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53188E71-C7EF-6FF8-D2E4-45F87EC96F27}"/>
                </a:ext>
              </a:extLst>
            </p:cNvPr>
            <p:cNvSpPr/>
            <p:nvPr/>
          </p:nvSpPr>
          <p:spPr>
            <a:xfrm>
              <a:off x="658835" y="2765411"/>
              <a:ext cx="6848613" cy="24505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发布时间：2010年，标准号为GM/T 0003-2012</a:t>
              </a:r>
              <a:endParaRPr lang="en-US" dirty="0">
                <a:latin typeface="微软雅黑" panose="020B0503020204020204" pitchFamily="34" charset="-122"/>
                <a:ea typeface="微软雅黑" panose="020B0503020204020204" pitchFamily="34" charset="-122"/>
              </a:endParaRPr>
            </a:p>
          </p:txBody>
        </p:sp>
        <p:sp>
          <p:nvSpPr>
            <p:cNvPr id="8" name="Text 6">
              <a:extLst>
                <a:ext uri="{FF2B5EF4-FFF2-40B4-BE49-F238E27FC236}">
                  <a16:creationId xmlns:a16="http://schemas.microsoft.com/office/drawing/2014/main" id="{5671F04B-4BAD-DFE2-CD3A-AFCFAD2EE2BB}"/>
                </a:ext>
              </a:extLst>
            </p:cNvPr>
            <p:cNvSpPr/>
            <p:nvPr/>
          </p:nvSpPr>
          <p:spPr>
            <a:xfrm>
              <a:off x="658835" y="3063214"/>
              <a:ext cx="4740481" cy="24505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基于椭圆曲线密码学（ECC）原理</a:t>
              </a:r>
              <a:endParaRPr lang="en-US" dirty="0">
                <a:latin typeface="微软雅黑" panose="020B0503020204020204" pitchFamily="34" charset="-122"/>
                <a:ea typeface="微软雅黑" panose="020B0503020204020204" pitchFamily="34" charset="-122"/>
              </a:endParaRPr>
            </a:p>
          </p:txBody>
        </p:sp>
        <p:sp>
          <p:nvSpPr>
            <p:cNvPr id="9" name="Text 7">
              <a:extLst>
                <a:ext uri="{FF2B5EF4-FFF2-40B4-BE49-F238E27FC236}">
                  <a16:creationId xmlns:a16="http://schemas.microsoft.com/office/drawing/2014/main" id="{74840DAA-2E90-8D4D-CE67-5D1183C69238}"/>
                </a:ext>
              </a:extLst>
            </p:cNvPr>
            <p:cNvSpPr/>
            <p:nvPr/>
          </p:nvSpPr>
          <p:spPr>
            <a:xfrm>
              <a:off x="658835" y="3361019"/>
              <a:ext cx="6802069" cy="24505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密钥长度：256位，安全强度相当于RSA 3072位</a:t>
              </a:r>
              <a:endParaRPr lang="en-US" dirty="0">
                <a:latin typeface="微软雅黑" panose="020B0503020204020204" pitchFamily="34" charset="-122"/>
                <a:ea typeface="微软雅黑" panose="020B0503020204020204" pitchFamily="34" charset="-122"/>
              </a:endParaRPr>
            </a:p>
          </p:txBody>
        </p:sp>
        <p:sp>
          <p:nvSpPr>
            <p:cNvPr id="10" name="Text 8">
              <a:extLst>
                <a:ext uri="{FF2B5EF4-FFF2-40B4-BE49-F238E27FC236}">
                  <a16:creationId xmlns:a16="http://schemas.microsoft.com/office/drawing/2014/main" id="{AC6B5168-ACA7-F2D6-AD42-36A337A029F2}"/>
                </a:ext>
              </a:extLst>
            </p:cNvPr>
            <p:cNvSpPr/>
            <p:nvPr/>
          </p:nvSpPr>
          <p:spPr>
            <a:xfrm>
              <a:off x="658835" y="3658824"/>
              <a:ext cx="6064014" cy="24505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包含数字签名、密钥交换和公钥加密三部分</a:t>
              </a:r>
              <a:endParaRPr lang="en-US" dirty="0">
                <a:latin typeface="微软雅黑" panose="020B0503020204020204" pitchFamily="34" charset="-122"/>
                <a:ea typeface="微软雅黑" panose="020B0503020204020204" pitchFamily="34" charset="-122"/>
              </a:endParaRPr>
            </a:p>
          </p:txBody>
        </p:sp>
      </p:grpSp>
      <p:sp>
        <p:nvSpPr>
          <p:cNvPr id="11" name="Shape 9">
            <a:extLst>
              <a:ext uri="{FF2B5EF4-FFF2-40B4-BE49-F238E27FC236}">
                <a16:creationId xmlns:a16="http://schemas.microsoft.com/office/drawing/2014/main" id="{F8CDAD0F-FAE8-89D1-6A8B-C3D60A0E1D8F}"/>
              </a:ext>
            </a:extLst>
          </p:cNvPr>
          <p:cNvSpPr/>
          <p:nvPr/>
        </p:nvSpPr>
        <p:spPr>
          <a:xfrm>
            <a:off x="124418" y="4200120"/>
            <a:ext cx="6119735" cy="2010180"/>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Shape 10">
            <a:extLst>
              <a:ext uri="{FF2B5EF4-FFF2-40B4-BE49-F238E27FC236}">
                <a16:creationId xmlns:a16="http://schemas.microsoft.com/office/drawing/2014/main" id="{F14F62F2-1705-AA69-48EE-A4B2997D992F}"/>
              </a:ext>
            </a:extLst>
          </p:cNvPr>
          <p:cNvSpPr/>
          <p:nvPr/>
        </p:nvSpPr>
        <p:spPr>
          <a:xfrm>
            <a:off x="124418" y="4200120"/>
            <a:ext cx="45719" cy="2010180"/>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3FFDBC76-7C53-9970-1B7F-C3809C80F2B5}"/>
              </a:ext>
            </a:extLst>
          </p:cNvPr>
          <p:cNvSpPr/>
          <p:nvPr/>
        </p:nvSpPr>
        <p:spPr>
          <a:xfrm>
            <a:off x="271318" y="4311564"/>
            <a:ext cx="1442703"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SM2算法特点</a:t>
            </a:r>
            <a:endParaRPr lang="en-US"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3D517EFE-FDF7-2ED3-F290-9C9231AEB0F6}"/>
              </a:ext>
            </a:extLst>
          </p:cNvPr>
          <p:cNvSpPr/>
          <p:nvPr/>
        </p:nvSpPr>
        <p:spPr>
          <a:xfrm>
            <a:off x="565117" y="4645264"/>
            <a:ext cx="1384995"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自主知识产权</a:t>
            </a:r>
            <a:endParaRPr lang="en-US"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129117AD-A945-BB2E-9897-93CEC530BAF3}"/>
              </a:ext>
            </a:extLst>
          </p:cNvPr>
          <p:cNvSpPr/>
          <p:nvPr/>
        </p:nvSpPr>
        <p:spPr>
          <a:xfrm>
            <a:off x="1975351" y="4645264"/>
            <a:ext cx="415498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：完全自主设计，避免国外算法潜在后门</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C832A4D8-B6FF-B08B-AF27-CB541316C36A}"/>
              </a:ext>
            </a:extLst>
          </p:cNvPr>
          <p:cNvSpPr/>
          <p:nvPr/>
        </p:nvSpPr>
        <p:spPr>
          <a:xfrm>
            <a:off x="565117" y="4943068"/>
            <a:ext cx="923330"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高安全性</a:t>
            </a:r>
            <a:endParaRPr lang="en-US" dirty="0">
              <a:latin typeface="微软雅黑" panose="020B0503020204020204" pitchFamily="34" charset="-122"/>
              <a:ea typeface="微软雅黑" panose="020B0503020204020204" pitchFamily="34" charset="-122"/>
            </a:endParaRPr>
          </a:p>
        </p:txBody>
      </p:sp>
      <p:sp>
        <p:nvSpPr>
          <p:cNvPr id="18" name="Text 15">
            <a:extLst>
              <a:ext uri="{FF2B5EF4-FFF2-40B4-BE49-F238E27FC236}">
                <a16:creationId xmlns:a16="http://schemas.microsoft.com/office/drawing/2014/main" id="{0A65B080-334F-C085-15E1-5771CB866C19}"/>
              </a:ext>
            </a:extLst>
          </p:cNvPr>
          <p:cNvSpPr/>
          <p:nvPr/>
        </p:nvSpPr>
        <p:spPr>
          <a:xfrm>
            <a:off x="1505273" y="4943068"/>
            <a:ext cx="273607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：抵抗已知的ECC攻击方法</a:t>
            </a:r>
            <a:endParaRPr lang="en-US" dirty="0">
              <a:latin typeface="微软雅黑" panose="020B0503020204020204" pitchFamily="34" charset="-122"/>
              <a:ea typeface="微软雅黑" panose="020B0503020204020204" pitchFamily="34" charset="-122"/>
            </a:endParaRPr>
          </a:p>
        </p:txBody>
      </p:sp>
      <p:sp>
        <p:nvSpPr>
          <p:cNvPr id="43" name="Text 16">
            <a:extLst>
              <a:ext uri="{FF2B5EF4-FFF2-40B4-BE49-F238E27FC236}">
                <a16:creationId xmlns:a16="http://schemas.microsoft.com/office/drawing/2014/main" id="{931C2B57-3D2D-97DE-31AB-5CC80982160F}"/>
              </a:ext>
            </a:extLst>
          </p:cNvPr>
          <p:cNvSpPr/>
          <p:nvPr/>
        </p:nvSpPr>
        <p:spPr>
          <a:xfrm>
            <a:off x="565117" y="5240873"/>
            <a:ext cx="692497"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高效率</a:t>
            </a:r>
            <a:endParaRPr lang="en-US" dirty="0">
              <a:latin typeface="微软雅黑" panose="020B0503020204020204" pitchFamily="34" charset="-122"/>
              <a:ea typeface="微软雅黑" panose="020B0503020204020204" pitchFamily="34" charset="-122"/>
            </a:endParaRPr>
          </a:p>
        </p:txBody>
      </p:sp>
      <p:sp>
        <p:nvSpPr>
          <p:cNvPr id="44" name="Text 17">
            <a:extLst>
              <a:ext uri="{FF2B5EF4-FFF2-40B4-BE49-F238E27FC236}">
                <a16:creationId xmlns:a16="http://schemas.microsoft.com/office/drawing/2014/main" id="{A26640BC-2F9E-9226-26B5-943712027379}"/>
              </a:ext>
            </a:extLst>
          </p:cNvPr>
          <p:cNvSpPr/>
          <p:nvPr/>
        </p:nvSpPr>
        <p:spPr>
          <a:xfrm>
            <a:off x="1270234" y="5240873"/>
            <a:ext cx="438581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：计算效率高，密钥短，适合资源受限环境</a:t>
            </a:r>
            <a:endParaRPr lang="en-US" dirty="0">
              <a:latin typeface="微软雅黑" panose="020B0503020204020204" pitchFamily="34" charset="-122"/>
              <a:ea typeface="微软雅黑" panose="020B0503020204020204" pitchFamily="34" charset="-122"/>
            </a:endParaRPr>
          </a:p>
        </p:txBody>
      </p:sp>
      <p:sp>
        <p:nvSpPr>
          <p:cNvPr id="45" name="Text 18">
            <a:extLst>
              <a:ext uri="{FF2B5EF4-FFF2-40B4-BE49-F238E27FC236}">
                <a16:creationId xmlns:a16="http://schemas.microsoft.com/office/drawing/2014/main" id="{AFF8A7D3-382D-9B24-921F-82DE069A3925}"/>
              </a:ext>
            </a:extLst>
          </p:cNvPr>
          <p:cNvSpPr/>
          <p:nvPr/>
        </p:nvSpPr>
        <p:spPr>
          <a:xfrm>
            <a:off x="565117" y="5538679"/>
            <a:ext cx="692497"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国产化</a:t>
            </a:r>
            <a:endParaRPr lang="en-US" dirty="0">
              <a:latin typeface="微软雅黑" panose="020B0503020204020204" pitchFamily="34" charset="-122"/>
              <a:ea typeface="微软雅黑" panose="020B0503020204020204" pitchFamily="34" charset="-122"/>
            </a:endParaRPr>
          </a:p>
        </p:txBody>
      </p:sp>
      <p:sp>
        <p:nvSpPr>
          <p:cNvPr id="46" name="Text 19">
            <a:extLst>
              <a:ext uri="{FF2B5EF4-FFF2-40B4-BE49-F238E27FC236}">
                <a16:creationId xmlns:a16="http://schemas.microsoft.com/office/drawing/2014/main" id="{4D6B7A79-53AD-8351-A1B0-3F0890532C39}"/>
              </a:ext>
            </a:extLst>
          </p:cNvPr>
          <p:cNvSpPr/>
          <p:nvPr/>
        </p:nvSpPr>
        <p:spPr>
          <a:xfrm>
            <a:off x="1270234" y="5538679"/>
            <a:ext cx="346248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：支持国家密码应用安全可控战略</a:t>
            </a:r>
            <a:endParaRPr lang="en-US" dirty="0">
              <a:latin typeface="微软雅黑" panose="020B0503020204020204" pitchFamily="34" charset="-122"/>
              <a:ea typeface="微软雅黑" panose="020B0503020204020204" pitchFamily="34" charset="-122"/>
            </a:endParaRPr>
          </a:p>
        </p:txBody>
      </p:sp>
      <p:sp>
        <p:nvSpPr>
          <p:cNvPr id="47" name="Text 20">
            <a:extLst>
              <a:ext uri="{FF2B5EF4-FFF2-40B4-BE49-F238E27FC236}">
                <a16:creationId xmlns:a16="http://schemas.microsoft.com/office/drawing/2014/main" id="{78B935CC-DE6D-091A-FB7D-DAB01142BFE9}"/>
              </a:ext>
            </a:extLst>
          </p:cNvPr>
          <p:cNvSpPr/>
          <p:nvPr/>
        </p:nvSpPr>
        <p:spPr>
          <a:xfrm>
            <a:off x="565117" y="5836482"/>
            <a:ext cx="692497"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标准化</a:t>
            </a:r>
            <a:endParaRPr lang="en-US" dirty="0">
              <a:latin typeface="微软雅黑" panose="020B0503020204020204" pitchFamily="34" charset="-122"/>
              <a:ea typeface="微软雅黑" panose="020B0503020204020204" pitchFamily="34" charset="-122"/>
            </a:endParaRPr>
          </a:p>
        </p:txBody>
      </p:sp>
      <p:sp>
        <p:nvSpPr>
          <p:cNvPr id="48" name="Text 21">
            <a:extLst>
              <a:ext uri="{FF2B5EF4-FFF2-40B4-BE49-F238E27FC236}">
                <a16:creationId xmlns:a16="http://schemas.microsoft.com/office/drawing/2014/main" id="{2BADAAD5-3456-0F02-0DC4-F7CE88F2313A}"/>
              </a:ext>
            </a:extLst>
          </p:cNvPr>
          <p:cNvSpPr/>
          <p:nvPr/>
        </p:nvSpPr>
        <p:spPr>
          <a:xfrm>
            <a:off x="1270234" y="5836482"/>
            <a:ext cx="300082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：已纳入国家和行业标准体系</a:t>
            </a:r>
            <a:endParaRPr lang="en-US" dirty="0">
              <a:latin typeface="微软雅黑" panose="020B0503020204020204" pitchFamily="34" charset="-122"/>
              <a:ea typeface="微软雅黑" panose="020B0503020204020204" pitchFamily="34" charset="-122"/>
            </a:endParaRPr>
          </a:p>
        </p:txBody>
      </p:sp>
      <p:sp>
        <p:nvSpPr>
          <p:cNvPr id="52" name="Shape 28">
            <a:extLst>
              <a:ext uri="{FF2B5EF4-FFF2-40B4-BE49-F238E27FC236}">
                <a16:creationId xmlns:a16="http://schemas.microsoft.com/office/drawing/2014/main" id="{4336A369-AFEE-4260-1A39-D498ECE6F476}"/>
              </a:ext>
            </a:extLst>
          </p:cNvPr>
          <p:cNvSpPr/>
          <p:nvPr/>
        </p:nvSpPr>
        <p:spPr>
          <a:xfrm>
            <a:off x="6345333" y="1502384"/>
            <a:ext cx="5503768" cy="2557461"/>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3" name="Shape 29">
            <a:extLst>
              <a:ext uri="{FF2B5EF4-FFF2-40B4-BE49-F238E27FC236}">
                <a16:creationId xmlns:a16="http://schemas.microsoft.com/office/drawing/2014/main" id="{93CC7E18-9355-25A3-7372-B672348BFAF2}"/>
              </a:ext>
            </a:extLst>
          </p:cNvPr>
          <p:cNvSpPr/>
          <p:nvPr/>
        </p:nvSpPr>
        <p:spPr>
          <a:xfrm>
            <a:off x="6358544" y="1502384"/>
            <a:ext cx="45719" cy="2557461"/>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4" name="Text 30">
            <a:extLst>
              <a:ext uri="{FF2B5EF4-FFF2-40B4-BE49-F238E27FC236}">
                <a16:creationId xmlns:a16="http://schemas.microsoft.com/office/drawing/2014/main" id="{BE74ECCE-EDDE-2805-2E72-7453EB0C6959}"/>
              </a:ext>
            </a:extLst>
          </p:cNvPr>
          <p:cNvSpPr/>
          <p:nvPr/>
        </p:nvSpPr>
        <p:spPr>
          <a:xfrm>
            <a:off x="6492659" y="1681874"/>
            <a:ext cx="1442703"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SM2实现要点</a:t>
            </a:r>
            <a:endParaRPr lang="en-US" dirty="0">
              <a:latin typeface="微软雅黑" panose="020B0503020204020204" pitchFamily="34" charset="-122"/>
              <a:ea typeface="微软雅黑" panose="020B0503020204020204" pitchFamily="34" charset="-122"/>
            </a:endParaRPr>
          </a:p>
        </p:txBody>
      </p:sp>
      <p:sp>
        <p:nvSpPr>
          <p:cNvPr id="55" name="Text 31">
            <a:extLst>
              <a:ext uri="{FF2B5EF4-FFF2-40B4-BE49-F238E27FC236}">
                <a16:creationId xmlns:a16="http://schemas.microsoft.com/office/drawing/2014/main" id="{C4DD7134-AA0A-1E3F-84D2-BFBCD091191E}"/>
              </a:ext>
            </a:extLst>
          </p:cNvPr>
          <p:cNvSpPr/>
          <p:nvPr/>
        </p:nvSpPr>
        <p:spPr>
          <a:xfrm>
            <a:off x="6787312" y="2106428"/>
            <a:ext cx="1384995"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椭圆曲线运算</a:t>
            </a:r>
            <a:endParaRPr lang="en-US" dirty="0">
              <a:latin typeface="微软雅黑" panose="020B0503020204020204" pitchFamily="34" charset="-122"/>
              <a:ea typeface="微软雅黑" panose="020B0503020204020204" pitchFamily="34" charset="-122"/>
            </a:endParaRPr>
          </a:p>
        </p:txBody>
      </p:sp>
      <p:sp>
        <p:nvSpPr>
          <p:cNvPr id="56" name="Text 32">
            <a:extLst>
              <a:ext uri="{FF2B5EF4-FFF2-40B4-BE49-F238E27FC236}">
                <a16:creationId xmlns:a16="http://schemas.microsoft.com/office/drawing/2014/main" id="{220BDD2C-AF9D-389E-653D-7D5C97D46C01}"/>
              </a:ext>
            </a:extLst>
          </p:cNvPr>
          <p:cNvSpPr/>
          <p:nvPr/>
        </p:nvSpPr>
        <p:spPr>
          <a:xfrm>
            <a:off x="8201646" y="1982585"/>
            <a:ext cx="6188629" cy="524686"/>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：点加法、点乘法的高效实现</a:t>
            </a:r>
            <a:endParaRPr lang="en-US" dirty="0"/>
          </a:p>
        </p:txBody>
      </p:sp>
      <p:sp>
        <p:nvSpPr>
          <p:cNvPr id="57" name="Text 33">
            <a:extLst>
              <a:ext uri="{FF2B5EF4-FFF2-40B4-BE49-F238E27FC236}">
                <a16:creationId xmlns:a16="http://schemas.microsoft.com/office/drawing/2014/main" id="{E7F8065F-14F7-4297-59D0-7EAA72D93FFE}"/>
              </a:ext>
            </a:extLst>
          </p:cNvPr>
          <p:cNvSpPr/>
          <p:nvPr/>
        </p:nvSpPr>
        <p:spPr>
          <a:xfrm>
            <a:off x="6787312" y="2485311"/>
            <a:ext cx="1154162"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模运算优化</a:t>
            </a:r>
            <a:endParaRPr lang="en-US" dirty="0">
              <a:latin typeface="微软雅黑" panose="020B0503020204020204" pitchFamily="34" charset="-122"/>
              <a:ea typeface="微软雅黑" panose="020B0503020204020204" pitchFamily="34" charset="-122"/>
            </a:endParaRPr>
          </a:p>
        </p:txBody>
      </p:sp>
      <p:sp>
        <p:nvSpPr>
          <p:cNvPr id="58" name="Text 34">
            <a:extLst>
              <a:ext uri="{FF2B5EF4-FFF2-40B4-BE49-F238E27FC236}">
                <a16:creationId xmlns:a16="http://schemas.microsoft.com/office/drawing/2014/main" id="{EB6D01ED-A5A0-6C90-BBBC-86B7A03625D3}"/>
              </a:ext>
            </a:extLst>
          </p:cNvPr>
          <p:cNvSpPr/>
          <p:nvPr/>
        </p:nvSpPr>
        <p:spPr>
          <a:xfrm>
            <a:off x="7965924" y="2361468"/>
            <a:ext cx="6664679" cy="524686"/>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：使用蒙哥马利算法等优化技术</a:t>
            </a:r>
            <a:endParaRPr lang="en-US" dirty="0"/>
          </a:p>
        </p:txBody>
      </p:sp>
      <p:sp>
        <p:nvSpPr>
          <p:cNvPr id="59" name="Text 35">
            <a:extLst>
              <a:ext uri="{FF2B5EF4-FFF2-40B4-BE49-F238E27FC236}">
                <a16:creationId xmlns:a16="http://schemas.microsoft.com/office/drawing/2014/main" id="{47432E06-B4AF-5F9F-767C-1F49D4CE6AE4}"/>
              </a:ext>
            </a:extLst>
          </p:cNvPr>
          <p:cNvSpPr/>
          <p:nvPr/>
        </p:nvSpPr>
        <p:spPr>
          <a:xfrm>
            <a:off x="6787312" y="2864194"/>
            <a:ext cx="1154162"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随机数生成</a:t>
            </a:r>
            <a:endParaRPr lang="en-US" dirty="0">
              <a:latin typeface="微软雅黑" panose="020B0503020204020204" pitchFamily="34" charset="-122"/>
              <a:ea typeface="微软雅黑" panose="020B0503020204020204" pitchFamily="34" charset="-122"/>
            </a:endParaRPr>
          </a:p>
        </p:txBody>
      </p:sp>
      <p:sp>
        <p:nvSpPr>
          <p:cNvPr id="60" name="Text 36">
            <a:extLst>
              <a:ext uri="{FF2B5EF4-FFF2-40B4-BE49-F238E27FC236}">
                <a16:creationId xmlns:a16="http://schemas.microsoft.com/office/drawing/2014/main" id="{5A57E9AD-8483-BA8F-A34A-E14B1DBB418C}"/>
              </a:ext>
            </a:extLst>
          </p:cNvPr>
          <p:cNvSpPr/>
          <p:nvPr/>
        </p:nvSpPr>
        <p:spPr>
          <a:xfrm>
            <a:off x="7965924" y="2740351"/>
            <a:ext cx="7140726" cy="524686"/>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：使用密码学安全的随机数生成器</a:t>
            </a:r>
            <a:endParaRPr lang="en-US" dirty="0"/>
          </a:p>
        </p:txBody>
      </p:sp>
      <p:sp>
        <p:nvSpPr>
          <p:cNvPr id="78" name="Text 37">
            <a:extLst>
              <a:ext uri="{FF2B5EF4-FFF2-40B4-BE49-F238E27FC236}">
                <a16:creationId xmlns:a16="http://schemas.microsoft.com/office/drawing/2014/main" id="{679499A3-1216-115B-43AA-D321966778C1}"/>
              </a:ext>
            </a:extLst>
          </p:cNvPr>
          <p:cNvSpPr/>
          <p:nvPr/>
        </p:nvSpPr>
        <p:spPr>
          <a:xfrm>
            <a:off x="6787312" y="3243077"/>
            <a:ext cx="1154162"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侧信道防护</a:t>
            </a:r>
            <a:endParaRPr lang="en-US" dirty="0">
              <a:latin typeface="微软雅黑" panose="020B0503020204020204" pitchFamily="34" charset="-122"/>
              <a:ea typeface="微软雅黑" panose="020B0503020204020204" pitchFamily="34" charset="-122"/>
            </a:endParaRPr>
          </a:p>
        </p:txBody>
      </p:sp>
      <p:sp>
        <p:nvSpPr>
          <p:cNvPr id="79" name="Text 38">
            <a:extLst>
              <a:ext uri="{FF2B5EF4-FFF2-40B4-BE49-F238E27FC236}">
                <a16:creationId xmlns:a16="http://schemas.microsoft.com/office/drawing/2014/main" id="{5755D690-E466-196C-2EC1-E309AA7C5AA4}"/>
              </a:ext>
            </a:extLst>
          </p:cNvPr>
          <p:cNvSpPr/>
          <p:nvPr/>
        </p:nvSpPr>
        <p:spPr>
          <a:xfrm>
            <a:off x="7965924" y="3119234"/>
            <a:ext cx="6188629" cy="524686"/>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：防止时间攻击、功耗攻击等</a:t>
            </a:r>
            <a:endParaRPr lang="en-US" dirty="0"/>
          </a:p>
        </p:txBody>
      </p:sp>
      <p:sp>
        <p:nvSpPr>
          <p:cNvPr id="80" name="Text 39">
            <a:extLst>
              <a:ext uri="{FF2B5EF4-FFF2-40B4-BE49-F238E27FC236}">
                <a16:creationId xmlns:a16="http://schemas.microsoft.com/office/drawing/2014/main" id="{04756BCB-41FF-23A2-5CB8-253442759A10}"/>
              </a:ext>
            </a:extLst>
          </p:cNvPr>
          <p:cNvSpPr/>
          <p:nvPr/>
        </p:nvSpPr>
        <p:spPr>
          <a:xfrm>
            <a:off x="6787312" y="3621960"/>
            <a:ext cx="923330"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参数验证</a:t>
            </a:r>
            <a:endParaRPr lang="en-US" dirty="0">
              <a:latin typeface="微软雅黑" panose="020B0503020204020204" pitchFamily="34" charset="-122"/>
              <a:ea typeface="微软雅黑" panose="020B0503020204020204" pitchFamily="34" charset="-122"/>
            </a:endParaRPr>
          </a:p>
        </p:txBody>
      </p:sp>
      <p:sp>
        <p:nvSpPr>
          <p:cNvPr id="81" name="Text 40">
            <a:extLst>
              <a:ext uri="{FF2B5EF4-FFF2-40B4-BE49-F238E27FC236}">
                <a16:creationId xmlns:a16="http://schemas.microsoft.com/office/drawing/2014/main" id="{E61EFDA6-BF60-1B34-0DC5-1F19C952F866}"/>
              </a:ext>
            </a:extLst>
          </p:cNvPr>
          <p:cNvSpPr/>
          <p:nvPr/>
        </p:nvSpPr>
        <p:spPr>
          <a:xfrm>
            <a:off x="7730201" y="3498117"/>
            <a:ext cx="6188629" cy="524686"/>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：严格验证输入参数的有效性</a:t>
            </a:r>
            <a:endParaRPr lang="en-US" dirty="0"/>
          </a:p>
        </p:txBody>
      </p:sp>
      <p:sp>
        <p:nvSpPr>
          <p:cNvPr id="82" name="Shape 41">
            <a:extLst>
              <a:ext uri="{FF2B5EF4-FFF2-40B4-BE49-F238E27FC236}">
                <a16:creationId xmlns:a16="http://schemas.microsoft.com/office/drawing/2014/main" id="{331048DC-85EA-5431-AFCB-A93366D6870F}"/>
              </a:ext>
            </a:extLst>
          </p:cNvPr>
          <p:cNvSpPr/>
          <p:nvPr/>
        </p:nvSpPr>
        <p:spPr>
          <a:xfrm>
            <a:off x="6345333" y="4222222"/>
            <a:ext cx="5551446" cy="2178578"/>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83" name="Shape 42">
            <a:extLst>
              <a:ext uri="{FF2B5EF4-FFF2-40B4-BE49-F238E27FC236}">
                <a16:creationId xmlns:a16="http://schemas.microsoft.com/office/drawing/2014/main" id="{C33CB8BF-53F9-EBE6-C3B7-80BD142D6FE2}"/>
              </a:ext>
            </a:extLst>
          </p:cNvPr>
          <p:cNvSpPr/>
          <p:nvPr/>
        </p:nvSpPr>
        <p:spPr>
          <a:xfrm>
            <a:off x="6358544" y="4222222"/>
            <a:ext cx="45719" cy="2178578"/>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84" name="Text 43">
            <a:extLst>
              <a:ext uri="{FF2B5EF4-FFF2-40B4-BE49-F238E27FC236}">
                <a16:creationId xmlns:a16="http://schemas.microsoft.com/office/drawing/2014/main" id="{91FCEDE9-C745-4D1B-C130-D3615D23C657}"/>
              </a:ext>
            </a:extLst>
          </p:cNvPr>
          <p:cNvSpPr/>
          <p:nvPr/>
        </p:nvSpPr>
        <p:spPr>
          <a:xfrm>
            <a:off x="6492659" y="4401714"/>
            <a:ext cx="1904367"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SM2标准化与认证</a:t>
            </a:r>
            <a:endParaRPr lang="en-US" dirty="0">
              <a:latin typeface="微软雅黑" panose="020B0503020204020204" pitchFamily="34" charset="-122"/>
              <a:ea typeface="微软雅黑" panose="020B0503020204020204" pitchFamily="34" charset="-122"/>
            </a:endParaRPr>
          </a:p>
        </p:txBody>
      </p:sp>
      <p:sp>
        <p:nvSpPr>
          <p:cNvPr id="85" name="Text 44">
            <a:extLst>
              <a:ext uri="{FF2B5EF4-FFF2-40B4-BE49-F238E27FC236}">
                <a16:creationId xmlns:a16="http://schemas.microsoft.com/office/drawing/2014/main" id="{B60870BB-004C-3499-6317-937B5618DA4C}"/>
              </a:ext>
            </a:extLst>
          </p:cNvPr>
          <p:cNvSpPr/>
          <p:nvPr/>
        </p:nvSpPr>
        <p:spPr>
          <a:xfrm>
            <a:off x="6787312" y="4826266"/>
            <a:ext cx="923330"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国家标准</a:t>
            </a:r>
            <a:endParaRPr lang="en-US" dirty="0">
              <a:latin typeface="微软雅黑" panose="020B0503020204020204" pitchFamily="34" charset="-122"/>
              <a:ea typeface="微软雅黑" panose="020B0503020204020204" pitchFamily="34" charset="-122"/>
            </a:endParaRPr>
          </a:p>
        </p:txBody>
      </p:sp>
      <p:sp>
        <p:nvSpPr>
          <p:cNvPr id="86" name="Text 45">
            <a:extLst>
              <a:ext uri="{FF2B5EF4-FFF2-40B4-BE49-F238E27FC236}">
                <a16:creationId xmlns:a16="http://schemas.microsoft.com/office/drawing/2014/main" id="{B910730C-C33C-150F-1D86-C06281DAA26A}"/>
              </a:ext>
            </a:extLst>
          </p:cNvPr>
          <p:cNvSpPr/>
          <p:nvPr/>
        </p:nvSpPr>
        <p:spPr>
          <a:xfrm>
            <a:off x="7730201" y="4826266"/>
            <a:ext cx="244458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：GB/T 32918系列标准</a:t>
            </a:r>
            <a:endParaRPr lang="en-US" dirty="0">
              <a:latin typeface="微软雅黑" panose="020B0503020204020204" pitchFamily="34" charset="-122"/>
              <a:ea typeface="微软雅黑" panose="020B0503020204020204" pitchFamily="34" charset="-122"/>
            </a:endParaRPr>
          </a:p>
        </p:txBody>
      </p:sp>
      <p:sp>
        <p:nvSpPr>
          <p:cNvPr id="87" name="Text 46">
            <a:extLst>
              <a:ext uri="{FF2B5EF4-FFF2-40B4-BE49-F238E27FC236}">
                <a16:creationId xmlns:a16="http://schemas.microsoft.com/office/drawing/2014/main" id="{B27363B1-CEB3-3696-D5CD-3CCE658C7DC0}"/>
              </a:ext>
            </a:extLst>
          </p:cNvPr>
          <p:cNvSpPr/>
          <p:nvPr/>
        </p:nvSpPr>
        <p:spPr>
          <a:xfrm>
            <a:off x="6787312" y="5205149"/>
            <a:ext cx="923330"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行业标准</a:t>
            </a:r>
            <a:endParaRPr lang="en-US" dirty="0">
              <a:latin typeface="微软雅黑" panose="020B0503020204020204" pitchFamily="34" charset="-122"/>
              <a:ea typeface="微软雅黑" panose="020B0503020204020204" pitchFamily="34" charset="-122"/>
            </a:endParaRPr>
          </a:p>
        </p:txBody>
      </p:sp>
      <p:sp>
        <p:nvSpPr>
          <p:cNvPr id="88" name="Text 47">
            <a:extLst>
              <a:ext uri="{FF2B5EF4-FFF2-40B4-BE49-F238E27FC236}">
                <a16:creationId xmlns:a16="http://schemas.microsoft.com/office/drawing/2014/main" id="{5BA6CDCC-00C7-5E6C-433F-CE40B6B50FD8}"/>
              </a:ext>
            </a:extLst>
          </p:cNvPr>
          <p:cNvSpPr/>
          <p:nvPr/>
        </p:nvSpPr>
        <p:spPr>
          <a:xfrm>
            <a:off x="7730201" y="5205149"/>
            <a:ext cx="253915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：金融、电信等行业标准</a:t>
            </a:r>
            <a:endParaRPr lang="en-US" dirty="0">
              <a:latin typeface="微软雅黑" panose="020B0503020204020204" pitchFamily="34" charset="-122"/>
              <a:ea typeface="微软雅黑" panose="020B0503020204020204" pitchFamily="34" charset="-122"/>
            </a:endParaRPr>
          </a:p>
        </p:txBody>
      </p:sp>
      <p:sp>
        <p:nvSpPr>
          <p:cNvPr id="89" name="Text 48">
            <a:extLst>
              <a:ext uri="{FF2B5EF4-FFF2-40B4-BE49-F238E27FC236}">
                <a16:creationId xmlns:a16="http://schemas.microsoft.com/office/drawing/2014/main" id="{4EBBB968-416E-850B-0D1C-1531A599C3AE}"/>
              </a:ext>
            </a:extLst>
          </p:cNvPr>
          <p:cNvSpPr/>
          <p:nvPr/>
        </p:nvSpPr>
        <p:spPr>
          <a:xfrm>
            <a:off x="6787312" y="5584032"/>
            <a:ext cx="923330"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产品认证</a:t>
            </a:r>
            <a:endParaRPr lang="en-US" dirty="0">
              <a:latin typeface="微软雅黑" panose="020B0503020204020204" pitchFamily="34" charset="-122"/>
              <a:ea typeface="微软雅黑" panose="020B0503020204020204" pitchFamily="34" charset="-122"/>
            </a:endParaRPr>
          </a:p>
        </p:txBody>
      </p:sp>
      <p:sp>
        <p:nvSpPr>
          <p:cNvPr id="90" name="Text 49">
            <a:extLst>
              <a:ext uri="{FF2B5EF4-FFF2-40B4-BE49-F238E27FC236}">
                <a16:creationId xmlns:a16="http://schemas.microsoft.com/office/drawing/2014/main" id="{FF24BC74-2C22-51D2-8BA9-3AE000BA9FFC}"/>
              </a:ext>
            </a:extLst>
          </p:cNvPr>
          <p:cNvSpPr/>
          <p:nvPr/>
        </p:nvSpPr>
        <p:spPr>
          <a:xfrm>
            <a:off x="7730201" y="5584032"/>
            <a:ext cx="2077492"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：商用密码产品认证</a:t>
            </a:r>
            <a:endParaRPr lang="en-US" dirty="0">
              <a:latin typeface="微软雅黑" panose="020B0503020204020204" pitchFamily="34" charset="-122"/>
              <a:ea typeface="微软雅黑" panose="020B0503020204020204" pitchFamily="34" charset="-122"/>
            </a:endParaRPr>
          </a:p>
        </p:txBody>
      </p:sp>
      <p:sp>
        <p:nvSpPr>
          <p:cNvPr id="91" name="Text 50">
            <a:extLst>
              <a:ext uri="{FF2B5EF4-FFF2-40B4-BE49-F238E27FC236}">
                <a16:creationId xmlns:a16="http://schemas.microsoft.com/office/drawing/2014/main" id="{D933EDB6-5D0B-FC88-3E82-3A61B625D6C4}"/>
              </a:ext>
            </a:extLst>
          </p:cNvPr>
          <p:cNvSpPr/>
          <p:nvPr/>
        </p:nvSpPr>
        <p:spPr>
          <a:xfrm>
            <a:off x="6787312" y="5962915"/>
            <a:ext cx="923330"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国际标准</a:t>
            </a:r>
            <a:endParaRPr lang="en-US" dirty="0">
              <a:latin typeface="微软雅黑" panose="020B0503020204020204" pitchFamily="34" charset="-122"/>
              <a:ea typeface="微软雅黑" panose="020B0503020204020204" pitchFamily="34" charset="-122"/>
            </a:endParaRPr>
          </a:p>
        </p:txBody>
      </p:sp>
      <p:sp>
        <p:nvSpPr>
          <p:cNvPr id="92" name="Text 51">
            <a:extLst>
              <a:ext uri="{FF2B5EF4-FFF2-40B4-BE49-F238E27FC236}">
                <a16:creationId xmlns:a16="http://schemas.microsoft.com/office/drawing/2014/main" id="{45B8EC7C-43FF-417C-D791-C255FF7E6B8C}"/>
              </a:ext>
            </a:extLst>
          </p:cNvPr>
          <p:cNvSpPr/>
          <p:nvPr/>
        </p:nvSpPr>
        <p:spPr>
          <a:xfrm>
            <a:off x="7730201" y="5839072"/>
            <a:ext cx="6433267" cy="524686"/>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：ISO/IEC 14888-3等国际标准</a:t>
            </a:r>
            <a:endParaRPr lang="en-US" dirty="0"/>
          </a:p>
        </p:txBody>
      </p:sp>
    </p:spTree>
    <p:extLst>
      <p:ext uri="{BB962C8B-B14F-4D97-AF65-F5344CB8AC3E}">
        <p14:creationId xmlns:p14="http://schemas.microsoft.com/office/powerpoint/2010/main" val="3208443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0B4D-57C1-FB9A-A353-154FFCD849B9}"/>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1EE9FFFD-BCE1-AAB0-CBF8-C84F17B6871B}"/>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非对称密码算法</a:t>
            </a:r>
          </a:p>
        </p:txBody>
      </p:sp>
      <p:grpSp>
        <p:nvGrpSpPr>
          <p:cNvPr id="33" name="组合 2">
            <a:extLst>
              <a:ext uri="{FF2B5EF4-FFF2-40B4-BE49-F238E27FC236}">
                <a16:creationId xmlns:a16="http://schemas.microsoft.com/office/drawing/2014/main" id="{7CE861A2-1721-E4A1-B5D5-AF62F79F9FCF}"/>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4E89A0C8-0BD9-FBED-A706-A7C6C2710CDE}"/>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96D1DC54-6932-E7BB-216F-5DAF21B88943}"/>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AC203016-2E39-AD8A-3A16-D8DFE7AC9E0C}"/>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C7D0C386-0758-5832-3627-DD6887169279}"/>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国密算法</a:t>
              </a: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SM2</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简介</a:t>
              </a:r>
            </a:p>
          </p:txBody>
        </p:sp>
      </p:grpSp>
      <p:sp>
        <p:nvSpPr>
          <p:cNvPr id="50" name="object 4">
            <a:extLst>
              <a:ext uri="{FF2B5EF4-FFF2-40B4-BE49-F238E27FC236}">
                <a16:creationId xmlns:a16="http://schemas.microsoft.com/office/drawing/2014/main" id="{8E7A00B4-EFD6-45C0-180F-B75AC5CD0BF0}"/>
              </a:ext>
            </a:extLst>
          </p:cNvPr>
          <p:cNvSpPr/>
          <p:nvPr/>
        </p:nvSpPr>
        <p:spPr>
          <a:xfrm>
            <a:off x="6357476" y="1860850"/>
            <a:ext cx="5628132" cy="4134611"/>
          </a:xfrm>
          <a:prstGeom prst="rect">
            <a:avLst/>
          </a:prstGeom>
          <a:blipFill>
            <a:blip r:embed="rId3" cstate="print"/>
            <a:stretch>
              <a:fillRect/>
            </a:stretch>
          </a:blipFill>
        </p:spPr>
        <p:txBody>
          <a:bodyPr wrap="square" lIns="0" tIns="0" rIns="0" bIns="0" rtlCol="0">
            <a:noAutofit/>
          </a:bodyPr>
          <a:lstStyle/>
          <a:p>
            <a:endParaRPr/>
          </a:p>
        </p:txBody>
      </p:sp>
      <p:sp>
        <p:nvSpPr>
          <p:cNvPr id="19" name="Shape 16">
            <a:extLst>
              <a:ext uri="{FF2B5EF4-FFF2-40B4-BE49-F238E27FC236}">
                <a16:creationId xmlns:a16="http://schemas.microsoft.com/office/drawing/2014/main" id="{C4115584-15BE-DD06-5336-623188016366}"/>
              </a:ext>
            </a:extLst>
          </p:cNvPr>
          <p:cNvSpPr/>
          <p:nvPr/>
        </p:nvSpPr>
        <p:spPr>
          <a:xfrm>
            <a:off x="271312" y="1903331"/>
            <a:ext cx="5824687" cy="2162207"/>
          </a:xfrm>
          <a:prstGeom prst="rect">
            <a:avLst/>
          </a:prstGeom>
          <a:solidFill>
            <a:srgbClr val="F8F9FA"/>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Shape 17">
            <a:extLst>
              <a:ext uri="{FF2B5EF4-FFF2-40B4-BE49-F238E27FC236}">
                <a16:creationId xmlns:a16="http://schemas.microsoft.com/office/drawing/2014/main" id="{92C31604-5445-5157-54D0-56B0BD494733}"/>
              </a:ext>
            </a:extLst>
          </p:cNvPr>
          <p:cNvSpPr/>
          <p:nvPr/>
        </p:nvSpPr>
        <p:spPr>
          <a:xfrm>
            <a:off x="271312" y="1903331"/>
            <a:ext cx="58059" cy="2162207"/>
          </a:xfrm>
          <a:prstGeom prst="rect">
            <a:avLst/>
          </a:prstGeom>
          <a:solidFill>
            <a:srgbClr val="3498DB"/>
          </a:solidFill>
          <a:ln/>
        </p:spPr>
      </p:sp>
      <p:sp>
        <p:nvSpPr>
          <p:cNvPr id="21" name="Text 18">
            <a:extLst>
              <a:ext uri="{FF2B5EF4-FFF2-40B4-BE49-F238E27FC236}">
                <a16:creationId xmlns:a16="http://schemas.microsoft.com/office/drawing/2014/main" id="{8A26058F-33F3-6988-2C82-6FCBA9AC92D1}"/>
              </a:ext>
            </a:extLst>
          </p:cNvPr>
          <p:cNvSpPr/>
          <p:nvPr/>
        </p:nvSpPr>
        <p:spPr>
          <a:xfrm>
            <a:off x="416460" y="2080433"/>
            <a:ext cx="3612341"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SM2数字签名算法流程</a:t>
            </a:r>
            <a:endParaRPr lang="en-US" dirty="0">
              <a:latin typeface="微软雅黑" panose="020B0503020204020204" pitchFamily="34" charset="-122"/>
              <a:ea typeface="微软雅黑" panose="020B0503020204020204" pitchFamily="34" charset="-122"/>
            </a:endParaRPr>
          </a:p>
        </p:txBody>
      </p:sp>
      <p:sp>
        <p:nvSpPr>
          <p:cNvPr id="22" name="Text 19">
            <a:extLst>
              <a:ext uri="{FF2B5EF4-FFF2-40B4-BE49-F238E27FC236}">
                <a16:creationId xmlns:a16="http://schemas.microsoft.com/office/drawing/2014/main" id="{DDE5DFDC-203C-3134-41E1-AE61809B2A88}"/>
              </a:ext>
            </a:extLst>
          </p:cNvPr>
          <p:cNvSpPr/>
          <p:nvPr/>
        </p:nvSpPr>
        <p:spPr>
          <a:xfrm>
            <a:off x="706756" y="2501794"/>
            <a:ext cx="1409694"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密钥生成</a:t>
            </a:r>
            <a:endParaRPr lang="en-US" dirty="0">
              <a:latin typeface="微软雅黑" panose="020B0503020204020204" pitchFamily="34" charset="-122"/>
              <a:ea typeface="微软雅黑" panose="020B0503020204020204" pitchFamily="34" charset="-122"/>
            </a:endParaRPr>
          </a:p>
        </p:txBody>
      </p:sp>
      <p:sp>
        <p:nvSpPr>
          <p:cNvPr id="23" name="Text 20">
            <a:extLst>
              <a:ext uri="{FF2B5EF4-FFF2-40B4-BE49-F238E27FC236}">
                <a16:creationId xmlns:a16="http://schemas.microsoft.com/office/drawing/2014/main" id="{0A8F078D-D226-387B-50E3-BAB6A879A257}"/>
              </a:ext>
            </a:extLst>
          </p:cNvPr>
          <p:cNvSpPr/>
          <p:nvPr/>
        </p:nvSpPr>
        <p:spPr>
          <a:xfrm>
            <a:off x="1635702" y="2501794"/>
            <a:ext cx="562898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：随机选择私钥d，计算公钥P = dG</a:t>
            </a:r>
            <a:endParaRPr lang="en-US" dirty="0">
              <a:latin typeface="微软雅黑" panose="020B0503020204020204" pitchFamily="34" charset="-122"/>
              <a:ea typeface="微软雅黑" panose="020B0503020204020204" pitchFamily="34" charset="-122"/>
            </a:endParaRPr>
          </a:p>
        </p:txBody>
      </p:sp>
      <p:sp>
        <p:nvSpPr>
          <p:cNvPr id="24" name="Text 21">
            <a:extLst>
              <a:ext uri="{FF2B5EF4-FFF2-40B4-BE49-F238E27FC236}">
                <a16:creationId xmlns:a16="http://schemas.microsoft.com/office/drawing/2014/main" id="{B315EB81-1A6C-F9D5-8E2A-7576A83520F7}"/>
              </a:ext>
            </a:extLst>
          </p:cNvPr>
          <p:cNvSpPr/>
          <p:nvPr/>
        </p:nvSpPr>
        <p:spPr>
          <a:xfrm>
            <a:off x="706756" y="2877830"/>
            <a:ext cx="1409694"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签名生成</a:t>
            </a:r>
            <a:endParaRPr lang="en-US" dirty="0">
              <a:latin typeface="微软雅黑" panose="020B0503020204020204" pitchFamily="34" charset="-122"/>
              <a:ea typeface="微软雅黑" panose="020B0503020204020204" pitchFamily="34" charset="-122"/>
            </a:endParaRPr>
          </a:p>
        </p:txBody>
      </p:sp>
      <p:sp>
        <p:nvSpPr>
          <p:cNvPr id="25" name="Text 22">
            <a:extLst>
              <a:ext uri="{FF2B5EF4-FFF2-40B4-BE49-F238E27FC236}">
                <a16:creationId xmlns:a16="http://schemas.microsoft.com/office/drawing/2014/main" id="{8F9DF6EA-177F-03E4-0FA7-F86087550531}"/>
              </a:ext>
            </a:extLst>
          </p:cNvPr>
          <p:cNvSpPr/>
          <p:nvPr/>
        </p:nvSpPr>
        <p:spPr>
          <a:xfrm>
            <a:off x="1635702" y="2877830"/>
            <a:ext cx="683065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：计算杂凑值，生成随机数k，计算签名(r,s)</a:t>
            </a:r>
            <a:endParaRPr lang="en-US" dirty="0">
              <a:latin typeface="微软雅黑" panose="020B0503020204020204" pitchFamily="34" charset="-122"/>
              <a:ea typeface="微软雅黑" panose="020B0503020204020204" pitchFamily="34" charset="-122"/>
            </a:endParaRPr>
          </a:p>
        </p:txBody>
      </p:sp>
      <p:sp>
        <p:nvSpPr>
          <p:cNvPr id="26" name="Text 23">
            <a:extLst>
              <a:ext uri="{FF2B5EF4-FFF2-40B4-BE49-F238E27FC236}">
                <a16:creationId xmlns:a16="http://schemas.microsoft.com/office/drawing/2014/main" id="{C9D2EA9E-6050-D2E9-43FE-8641A137E44E}"/>
              </a:ext>
            </a:extLst>
          </p:cNvPr>
          <p:cNvSpPr/>
          <p:nvPr/>
        </p:nvSpPr>
        <p:spPr>
          <a:xfrm>
            <a:off x="706756" y="3253866"/>
            <a:ext cx="1409694"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签名验证</a:t>
            </a:r>
            <a:endParaRPr lang="en-US" dirty="0">
              <a:latin typeface="微软雅黑" panose="020B0503020204020204" pitchFamily="34" charset="-122"/>
              <a:ea typeface="微软雅黑" panose="020B0503020204020204" pitchFamily="34" charset="-122"/>
            </a:endParaRPr>
          </a:p>
        </p:txBody>
      </p:sp>
      <p:sp>
        <p:nvSpPr>
          <p:cNvPr id="27" name="Text 24">
            <a:extLst>
              <a:ext uri="{FF2B5EF4-FFF2-40B4-BE49-F238E27FC236}">
                <a16:creationId xmlns:a16="http://schemas.microsoft.com/office/drawing/2014/main" id="{19FA125D-20C9-72FF-4B94-ABC54C7C1F2D}"/>
              </a:ext>
            </a:extLst>
          </p:cNvPr>
          <p:cNvSpPr/>
          <p:nvPr/>
        </p:nvSpPr>
        <p:spPr>
          <a:xfrm>
            <a:off x="1635702" y="3253866"/>
            <a:ext cx="563877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：验证签名参数有效性，计算验证点</a:t>
            </a:r>
            <a:endParaRPr lang="en-US" dirty="0">
              <a:latin typeface="微软雅黑" panose="020B0503020204020204" pitchFamily="34" charset="-122"/>
              <a:ea typeface="微软雅黑" panose="020B0503020204020204" pitchFamily="34" charset="-122"/>
            </a:endParaRPr>
          </a:p>
        </p:txBody>
      </p:sp>
      <p:sp>
        <p:nvSpPr>
          <p:cNvPr id="28" name="Text 25">
            <a:extLst>
              <a:ext uri="{FF2B5EF4-FFF2-40B4-BE49-F238E27FC236}">
                <a16:creationId xmlns:a16="http://schemas.microsoft.com/office/drawing/2014/main" id="{68B209E3-BE45-CE8E-CA66-440FF23A2B50}"/>
              </a:ext>
            </a:extLst>
          </p:cNvPr>
          <p:cNvSpPr/>
          <p:nvPr/>
        </p:nvSpPr>
        <p:spPr>
          <a:xfrm>
            <a:off x="706756" y="3629902"/>
            <a:ext cx="1409694"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杂凑算法</a:t>
            </a:r>
            <a:endParaRPr lang="en-US" dirty="0">
              <a:latin typeface="微软雅黑" panose="020B0503020204020204" pitchFamily="34" charset="-122"/>
              <a:ea typeface="微软雅黑" panose="020B0503020204020204" pitchFamily="34" charset="-122"/>
            </a:endParaRPr>
          </a:p>
        </p:txBody>
      </p:sp>
      <p:sp>
        <p:nvSpPr>
          <p:cNvPr id="29" name="Text 26">
            <a:extLst>
              <a:ext uri="{FF2B5EF4-FFF2-40B4-BE49-F238E27FC236}">
                <a16:creationId xmlns:a16="http://schemas.microsoft.com/office/drawing/2014/main" id="{939B0658-EFF5-2CCF-81F2-E5EDD7D9547F}"/>
              </a:ext>
            </a:extLst>
          </p:cNvPr>
          <p:cNvSpPr/>
          <p:nvPr/>
        </p:nvSpPr>
        <p:spPr>
          <a:xfrm>
            <a:off x="1635702" y="3629902"/>
            <a:ext cx="3220759"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：使用SM3杂凑算法</a:t>
            </a:r>
            <a:endParaRPr lang="en-US" dirty="0">
              <a:latin typeface="微软雅黑" panose="020B0503020204020204" pitchFamily="34" charset="-122"/>
              <a:ea typeface="微软雅黑" panose="020B0503020204020204" pitchFamily="34" charset="-122"/>
            </a:endParaRPr>
          </a:p>
        </p:txBody>
      </p:sp>
      <p:grpSp>
        <p:nvGrpSpPr>
          <p:cNvPr id="53" name="组合 52">
            <a:extLst>
              <a:ext uri="{FF2B5EF4-FFF2-40B4-BE49-F238E27FC236}">
                <a16:creationId xmlns:a16="http://schemas.microsoft.com/office/drawing/2014/main" id="{1EE3CF19-B8AA-D1EF-6FCE-391BEDA950C5}"/>
              </a:ext>
            </a:extLst>
          </p:cNvPr>
          <p:cNvGrpSpPr/>
          <p:nvPr/>
        </p:nvGrpSpPr>
        <p:grpSpPr>
          <a:xfrm>
            <a:off x="317481" y="4402341"/>
            <a:ext cx="6039995" cy="1235546"/>
            <a:chOff x="416460" y="4664001"/>
            <a:chExt cx="6039995" cy="1235546"/>
          </a:xfrm>
        </p:grpSpPr>
        <p:sp>
          <p:nvSpPr>
            <p:cNvPr id="31" name="Shape 53">
              <a:extLst>
                <a:ext uri="{FF2B5EF4-FFF2-40B4-BE49-F238E27FC236}">
                  <a16:creationId xmlns:a16="http://schemas.microsoft.com/office/drawing/2014/main" id="{08289539-26A9-367F-CF10-464A3010ED1E}"/>
                </a:ext>
              </a:extLst>
            </p:cNvPr>
            <p:cNvSpPr/>
            <p:nvPr/>
          </p:nvSpPr>
          <p:spPr>
            <a:xfrm>
              <a:off x="416460" y="4664001"/>
              <a:ext cx="6039995" cy="1235546"/>
            </a:xfrm>
            <a:prstGeom prst="rect">
              <a:avLst/>
            </a:prstGeom>
            <a:solidFill>
              <a:srgbClr val="EFF6FF"/>
            </a:solidFill>
            <a:ln/>
          </p:spPr>
          <p:txBody>
            <a:bodyPr/>
            <a:lstStyle/>
            <a:p>
              <a:endParaRPr lang="zh-CN" altLang="en-US">
                <a:latin typeface="微软雅黑" panose="020B0503020204020204" pitchFamily="34" charset="-122"/>
                <a:ea typeface="微软雅黑" panose="020B0503020204020204" pitchFamily="34" charset="-122"/>
              </a:endParaRPr>
            </a:p>
          </p:txBody>
        </p:sp>
        <p:pic>
          <p:nvPicPr>
            <p:cNvPr id="32" name="Image 2" descr="preencoded.png">
              <a:extLst>
                <a:ext uri="{FF2B5EF4-FFF2-40B4-BE49-F238E27FC236}">
                  <a16:creationId xmlns:a16="http://schemas.microsoft.com/office/drawing/2014/main" id="{29192003-2BF6-C940-0007-F240341BB0AE}"/>
                </a:ext>
              </a:extLst>
            </p:cNvPr>
            <p:cNvPicPr>
              <a:picLocks noChangeAspect="1"/>
            </p:cNvPicPr>
            <p:nvPr/>
          </p:nvPicPr>
          <p:blipFill>
            <a:blip r:embed="rId4"/>
            <a:stretch>
              <a:fillRect/>
            </a:stretch>
          </p:blipFill>
          <p:spPr>
            <a:xfrm>
              <a:off x="602625" y="4878878"/>
              <a:ext cx="186165" cy="214878"/>
            </a:xfrm>
            <a:prstGeom prst="rect">
              <a:avLst/>
            </a:prstGeom>
          </p:spPr>
        </p:pic>
        <p:sp>
          <p:nvSpPr>
            <p:cNvPr id="38" name="Text 54">
              <a:extLst>
                <a:ext uri="{FF2B5EF4-FFF2-40B4-BE49-F238E27FC236}">
                  <a16:creationId xmlns:a16="http://schemas.microsoft.com/office/drawing/2014/main" id="{9D4EE853-6782-BEA7-C28D-7C95BE8D502D}"/>
                </a:ext>
              </a:extLst>
            </p:cNvPr>
            <p:cNvSpPr/>
            <p:nvPr/>
          </p:nvSpPr>
          <p:spPr>
            <a:xfrm>
              <a:off x="912900" y="4847818"/>
              <a:ext cx="1506713" cy="276999"/>
            </a:xfrm>
            <a:prstGeom prst="rect">
              <a:avLst/>
            </a:prstGeom>
            <a:noFill/>
            <a:ln/>
          </p:spPr>
          <p:txBody>
            <a:bodyPr wrap="none" lIns="0" tIns="0" rIns="0" bIns="0" rtlCol="0" anchor="ctr">
              <a:spAutoFit/>
            </a:bodyPr>
            <a:lstStyle/>
            <a:p>
              <a:pPr marL="0" indent="0">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数学基础</a:t>
              </a:r>
              <a:endParaRPr lang="en-US" dirty="0">
                <a:latin typeface="微软雅黑" panose="020B0503020204020204" pitchFamily="34" charset="-122"/>
                <a:ea typeface="微软雅黑" panose="020B0503020204020204" pitchFamily="34" charset="-122"/>
              </a:endParaRPr>
            </a:p>
          </p:txBody>
        </p:sp>
        <p:sp>
          <p:nvSpPr>
            <p:cNvPr id="39" name="Text 55">
              <a:extLst>
                <a:ext uri="{FF2B5EF4-FFF2-40B4-BE49-F238E27FC236}">
                  <a16:creationId xmlns:a16="http://schemas.microsoft.com/office/drawing/2014/main" id="{7C908561-4259-AB71-3FEA-C7B33877F3F9}"/>
                </a:ext>
              </a:extLst>
            </p:cNvPr>
            <p:cNvSpPr/>
            <p:nvPr/>
          </p:nvSpPr>
          <p:spPr>
            <a:xfrm>
              <a:off x="602625" y="5054294"/>
              <a:ext cx="5667665" cy="830997"/>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基于椭圆曲线离散对数问题的困难性，目前没有有效的量子前攻击方法</a:t>
              </a:r>
              <a:endParaRPr 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654505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2D3F7-CDBA-FB6E-25B8-5E92E31FCE23}"/>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57D79B4-F4F4-9D9E-7D63-25A3C8D13F06}"/>
              </a:ext>
            </a:extLst>
          </p:cNvPr>
          <p:cNvSpPr/>
          <p:nvPr/>
        </p:nvSpPr>
        <p:spPr>
          <a:xfrm>
            <a:off x="-4445" y="130331"/>
            <a:ext cx="12196445" cy="835998"/>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4400" b="1" dirty="0">
                <a:solidFill>
                  <a:srgbClr val="002060"/>
                </a:solidFill>
                <a:effectLst>
                  <a:glow rad="76200">
                    <a:prstClr val="white"/>
                  </a:glow>
                </a:effectLst>
                <a:latin typeface="微软雅黑" panose="020B0503020204020204" pitchFamily="34" charset="-122"/>
                <a:ea typeface="微软雅黑" panose="020B0503020204020204" pitchFamily="34" charset="-122"/>
              </a:rPr>
              <a:t>目录</a:t>
            </a:r>
            <a:endParaRPr kumimoji="0" lang="en-US" altLang="zh-CN" sz="4400" b="1" i="0" u="none" strike="noStrike" kern="1200" cap="none" spc="0" normalizeH="0" baseline="0" noProof="0" dirty="0">
              <a:ln>
                <a:noFill/>
              </a:ln>
              <a:solidFill>
                <a:srgbClr val="002060"/>
              </a:solidFill>
              <a:effectLst>
                <a:glow rad="76200">
                  <a:prstClr val="white"/>
                </a:glow>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DCDAC249-1D1E-2D5D-B831-A05EFB4BA5DC}"/>
              </a:ext>
            </a:extLst>
          </p:cNvPr>
          <p:cNvSpPr txBox="1"/>
          <p:nvPr>
            <p:custDataLst>
              <p:tags r:id="rId1"/>
            </p:custDataLst>
          </p:nvPr>
        </p:nvSpPr>
        <p:spPr>
          <a:xfrm>
            <a:off x="0" y="1180323"/>
            <a:ext cx="12192000" cy="645160"/>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密码算法与协议</a:t>
            </a:r>
            <a:endParaRPr lang="zh-CN" altLang="zh-CN" sz="36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F75E9EE3-94D1-7275-2395-937D8F03BDD0}"/>
              </a:ext>
            </a:extLst>
          </p:cNvPr>
          <p:cNvSpPr txBox="1"/>
          <p:nvPr/>
        </p:nvSpPr>
        <p:spPr>
          <a:xfrm>
            <a:off x="4544504" y="2066722"/>
            <a:ext cx="3098545" cy="2820131"/>
          </a:xfrm>
          <a:prstGeom prst="rect">
            <a:avLst/>
          </a:prstGeom>
          <a:noFill/>
        </p:spPr>
        <p:txBody>
          <a:bodyPr wrap="square" rtlCol="0">
            <a:spAutoFit/>
          </a:bodyPr>
          <a:lstStyle/>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密码学发展简介</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Shannon</a:t>
            </a:r>
            <a:r>
              <a:rPr lang="zh-CN" altLang="en-US" sz="2400" dirty="0">
                <a:solidFill>
                  <a:srgbClr val="002060"/>
                </a:solidFill>
                <a:latin typeface="微软雅黑" panose="020B0503020204020204" pitchFamily="34" charset="-122"/>
                <a:ea typeface="微软雅黑" panose="020B0503020204020204" pitchFamily="34" charset="-122"/>
              </a:rPr>
              <a:t>理论</a:t>
            </a:r>
          </a:p>
          <a:p>
            <a:pPr marL="457200" indent="-457200">
              <a:lnSpc>
                <a:spcPct val="125000"/>
              </a:lnSpc>
              <a:buFont typeface="+mj-ea"/>
              <a:buAutoNum type="circleNumDbPlain"/>
            </a:pPr>
            <a:r>
              <a:rPr lang="en-IE" altLang="zh-CN" sz="2400" dirty="0">
                <a:solidFill>
                  <a:srgbClr val="002060"/>
                </a:solidFill>
                <a:latin typeface="微软雅黑" panose="020B0503020204020204" pitchFamily="34" charset="-122"/>
                <a:ea typeface="微软雅黑" panose="020B0503020204020204" pitchFamily="34" charset="-122"/>
              </a:rPr>
              <a:t>Hash</a:t>
            </a:r>
            <a:r>
              <a:rPr lang="zh-CN" altLang="en-US" sz="2400" dirty="0">
                <a:solidFill>
                  <a:srgbClr val="002060"/>
                </a:solidFill>
                <a:latin typeface="微软雅黑" panose="020B0503020204020204" pitchFamily="34" charset="-122"/>
                <a:ea typeface="微软雅黑" panose="020B0503020204020204" pitchFamily="34" charset="-122"/>
              </a:rPr>
              <a:t>函数</a:t>
            </a: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dirty="0">
                <a:solidFill>
                  <a:srgbClr val="002060"/>
                </a:solidFill>
                <a:latin typeface="微软雅黑" panose="020B0503020204020204" pitchFamily="34" charset="-122"/>
                <a:ea typeface="微软雅黑" panose="020B0503020204020204" pitchFamily="34" charset="-122"/>
              </a:rPr>
              <a:t>非对称密码算法</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5000"/>
              </a:lnSpc>
              <a:buFont typeface="+mj-ea"/>
              <a:buAutoNum type="circleNumDbPlain"/>
            </a:pPr>
            <a:r>
              <a:rPr lang="zh-CN" altLang="en-US" sz="2400" b="1" dirty="0">
                <a:solidFill>
                  <a:srgbClr val="002060"/>
                </a:solidFill>
                <a:latin typeface="微软雅黑" panose="020B0503020204020204" pitchFamily="34" charset="-122"/>
                <a:ea typeface="微软雅黑" panose="020B0503020204020204" pitchFamily="34" charset="-122"/>
              </a:rPr>
              <a:t>密码协议</a:t>
            </a:r>
          </a:p>
        </p:txBody>
      </p:sp>
    </p:spTree>
    <p:extLst>
      <p:ext uri="{BB962C8B-B14F-4D97-AF65-F5344CB8AC3E}">
        <p14:creationId xmlns:p14="http://schemas.microsoft.com/office/powerpoint/2010/main" val="1009034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9CE51-1219-BDA1-B27B-68253252D640}"/>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0292CFA6-7FFD-93F4-6C76-28FF7AD751CE}"/>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D62874C1-5DA1-6EA0-13C1-1FB7DD2543C6}"/>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42D2B6AC-C68A-6251-B94E-3D1ECB30EB04}"/>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D31A7290-F428-B298-2A71-6A0DB4B1F5B4}"/>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4965801D-AC27-3302-3FC2-DC4242855C0F}"/>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FEBADB3B-9BEE-38F0-E2B5-A915B8D68AB7}"/>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密码协议基本概念</a:t>
              </a:r>
            </a:p>
          </p:txBody>
        </p:sp>
      </p:grpSp>
      <p:grpSp>
        <p:nvGrpSpPr>
          <p:cNvPr id="45" name="组合 44">
            <a:extLst>
              <a:ext uri="{FF2B5EF4-FFF2-40B4-BE49-F238E27FC236}">
                <a16:creationId xmlns:a16="http://schemas.microsoft.com/office/drawing/2014/main" id="{7B74D860-D6DD-5767-03D6-5872E9DC9DB7}"/>
              </a:ext>
            </a:extLst>
          </p:cNvPr>
          <p:cNvGrpSpPr/>
          <p:nvPr/>
        </p:nvGrpSpPr>
        <p:grpSpPr>
          <a:xfrm>
            <a:off x="218136" y="1954307"/>
            <a:ext cx="5762575" cy="1695116"/>
            <a:chOff x="218136" y="1954307"/>
            <a:chExt cx="5762575" cy="1695116"/>
          </a:xfrm>
        </p:grpSpPr>
        <p:sp>
          <p:nvSpPr>
            <p:cNvPr id="3" name="Shape 1">
              <a:extLst>
                <a:ext uri="{FF2B5EF4-FFF2-40B4-BE49-F238E27FC236}">
                  <a16:creationId xmlns:a16="http://schemas.microsoft.com/office/drawing/2014/main" id="{1A284A91-AAC8-9538-210C-AB228A705C21}"/>
                </a:ext>
              </a:extLst>
            </p:cNvPr>
            <p:cNvSpPr/>
            <p:nvPr/>
          </p:nvSpPr>
          <p:spPr>
            <a:xfrm>
              <a:off x="218136" y="1954307"/>
              <a:ext cx="5762575" cy="1695116"/>
            </a:xfrm>
            <a:prstGeom prst="rect">
              <a:avLst/>
            </a:prstGeom>
            <a:solidFill>
              <a:srgbClr val="F8F9FA"/>
            </a:solidFill>
            <a:ln/>
          </p:spPr>
        </p:sp>
        <p:sp>
          <p:nvSpPr>
            <p:cNvPr id="4" name="Shape 2">
              <a:extLst>
                <a:ext uri="{FF2B5EF4-FFF2-40B4-BE49-F238E27FC236}">
                  <a16:creationId xmlns:a16="http://schemas.microsoft.com/office/drawing/2014/main" id="{A3B51820-FE90-D635-66A0-A6A2B3367CB4}"/>
                </a:ext>
              </a:extLst>
            </p:cNvPr>
            <p:cNvSpPr/>
            <p:nvPr/>
          </p:nvSpPr>
          <p:spPr>
            <a:xfrm>
              <a:off x="218136" y="1954307"/>
              <a:ext cx="52980" cy="1695116"/>
            </a:xfrm>
            <a:prstGeom prst="rect">
              <a:avLst/>
            </a:prstGeom>
            <a:solidFill>
              <a:srgbClr val="3498DB"/>
            </a:solidFill>
            <a:ln/>
          </p:spPr>
        </p:sp>
        <p:sp>
          <p:nvSpPr>
            <p:cNvPr id="5" name="Text 3">
              <a:extLst>
                <a:ext uri="{FF2B5EF4-FFF2-40B4-BE49-F238E27FC236}">
                  <a16:creationId xmlns:a16="http://schemas.microsoft.com/office/drawing/2014/main" id="{438741B9-BD59-286A-7AC7-EDE626F69670}"/>
                </a:ext>
              </a:extLst>
            </p:cNvPr>
            <p:cNvSpPr/>
            <p:nvPr/>
          </p:nvSpPr>
          <p:spPr>
            <a:xfrm>
              <a:off x="350586" y="2134487"/>
              <a:ext cx="1384995"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密码协议定义</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F8754626-D748-D85C-9BC7-A4C2617ABC70}"/>
                </a:ext>
              </a:extLst>
            </p:cNvPr>
            <p:cNvSpPr/>
            <p:nvPr/>
          </p:nvSpPr>
          <p:spPr>
            <a:xfrm>
              <a:off x="350586" y="2610119"/>
              <a:ext cx="5491137" cy="830996"/>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密码协议是一系列定义良好的步骤和消息交换规则，使用密码学原语（如加密、签名、哈希等）来实现特定的安全目标，如认证、保密性、完整性和不可否认性。</a:t>
              </a:r>
              <a:endParaRPr lang="en-US" dirty="0">
                <a:latin typeface="微软雅黑" panose="020B0503020204020204" pitchFamily="34" charset="-122"/>
                <a:ea typeface="微软雅黑" panose="020B0503020204020204" pitchFamily="34" charset="-122"/>
              </a:endParaRPr>
            </a:p>
          </p:txBody>
        </p:sp>
      </p:grpSp>
      <p:sp>
        <p:nvSpPr>
          <p:cNvPr id="7" name="Shape 5">
            <a:extLst>
              <a:ext uri="{FF2B5EF4-FFF2-40B4-BE49-F238E27FC236}">
                <a16:creationId xmlns:a16="http://schemas.microsoft.com/office/drawing/2014/main" id="{AC0E37F3-0F9F-B2B5-C912-4170FE29BBA6}"/>
              </a:ext>
            </a:extLst>
          </p:cNvPr>
          <p:cNvSpPr/>
          <p:nvPr/>
        </p:nvSpPr>
        <p:spPr>
          <a:xfrm>
            <a:off x="218136" y="3812152"/>
            <a:ext cx="5762575" cy="2183309"/>
          </a:xfrm>
          <a:prstGeom prst="rect">
            <a:avLst/>
          </a:prstGeom>
          <a:solidFill>
            <a:srgbClr val="F8F9FA"/>
          </a:solidFill>
          <a:ln/>
        </p:spPr>
        <p:txBody>
          <a:bodyPr/>
          <a:lstStyle/>
          <a:p>
            <a:endParaRPr lang="zh-CN" altLang="en-US"/>
          </a:p>
        </p:txBody>
      </p:sp>
      <p:sp>
        <p:nvSpPr>
          <p:cNvPr id="8" name="Shape 6">
            <a:extLst>
              <a:ext uri="{FF2B5EF4-FFF2-40B4-BE49-F238E27FC236}">
                <a16:creationId xmlns:a16="http://schemas.microsoft.com/office/drawing/2014/main" id="{50BDFBA3-626A-78A9-C8ED-D59882C73E4E}"/>
              </a:ext>
            </a:extLst>
          </p:cNvPr>
          <p:cNvSpPr/>
          <p:nvPr/>
        </p:nvSpPr>
        <p:spPr>
          <a:xfrm>
            <a:off x="218136" y="3812152"/>
            <a:ext cx="52980" cy="2183309"/>
          </a:xfrm>
          <a:prstGeom prst="rect">
            <a:avLst/>
          </a:prstGeom>
          <a:solidFill>
            <a:srgbClr val="3498DB"/>
          </a:solidFill>
          <a:ln/>
        </p:spPr>
      </p:sp>
      <p:sp>
        <p:nvSpPr>
          <p:cNvPr id="9" name="Text 7">
            <a:extLst>
              <a:ext uri="{FF2B5EF4-FFF2-40B4-BE49-F238E27FC236}">
                <a16:creationId xmlns:a16="http://schemas.microsoft.com/office/drawing/2014/main" id="{2568E238-A1F3-EC94-D74A-DD9BBDD516EA}"/>
              </a:ext>
            </a:extLst>
          </p:cNvPr>
          <p:cNvSpPr/>
          <p:nvPr/>
        </p:nvSpPr>
        <p:spPr>
          <a:xfrm>
            <a:off x="350586" y="3992334"/>
            <a:ext cx="2077493"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密码协议的基本要素</a:t>
            </a:r>
            <a:endParaRPr lang="en-US" dirty="0">
              <a:latin typeface="微软雅黑" panose="020B0503020204020204" pitchFamily="34" charset="-122"/>
              <a:ea typeface="微软雅黑" panose="020B0503020204020204" pitchFamily="34" charset="-122"/>
            </a:endParaRPr>
          </a:p>
        </p:txBody>
      </p:sp>
      <p:sp>
        <p:nvSpPr>
          <p:cNvPr id="10" name="Text 8">
            <a:extLst>
              <a:ext uri="{FF2B5EF4-FFF2-40B4-BE49-F238E27FC236}">
                <a16:creationId xmlns:a16="http://schemas.microsoft.com/office/drawing/2014/main" id="{BC8B8B10-631C-06B1-46BA-5296DF5A85A5}"/>
              </a:ext>
            </a:extLst>
          </p:cNvPr>
          <p:cNvSpPr/>
          <p:nvPr/>
        </p:nvSpPr>
        <p:spPr>
          <a:xfrm>
            <a:off x="615484" y="4417810"/>
            <a:ext cx="692498"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参与方</a:t>
            </a:r>
            <a:endParaRPr lang="en-US" dirty="0">
              <a:latin typeface="微软雅黑" panose="020B0503020204020204" pitchFamily="34" charset="-122"/>
              <a:ea typeface="微软雅黑" panose="020B0503020204020204" pitchFamily="34" charset="-122"/>
            </a:endParaRPr>
          </a:p>
        </p:txBody>
      </p:sp>
      <p:sp>
        <p:nvSpPr>
          <p:cNvPr id="11" name="Text 9">
            <a:extLst>
              <a:ext uri="{FF2B5EF4-FFF2-40B4-BE49-F238E27FC236}">
                <a16:creationId xmlns:a16="http://schemas.microsoft.com/office/drawing/2014/main" id="{7207AF3E-C928-9CCE-E6FA-7CD077354821}"/>
              </a:ext>
            </a:extLst>
          </p:cNvPr>
          <p:cNvSpPr/>
          <p:nvPr/>
        </p:nvSpPr>
        <p:spPr>
          <a:xfrm>
            <a:off x="1251240" y="4417810"/>
            <a:ext cx="438581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：协议中涉及的实体（如客户端、服务器）</a:t>
            </a:r>
            <a:endParaRPr lang="en-US" dirty="0">
              <a:latin typeface="微软雅黑" panose="020B0503020204020204" pitchFamily="34" charset="-122"/>
              <a:ea typeface="微软雅黑" panose="020B0503020204020204" pitchFamily="34" charset="-122"/>
            </a:endParaRPr>
          </a:p>
        </p:txBody>
      </p:sp>
      <p:sp>
        <p:nvSpPr>
          <p:cNvPr id="13" name="Text 10">
            <a:extLst>
              <a:ext uri="{FF2B5EF4-FFF2-40B4-BE49-F238E27FC236}">
                <a16:creationId xmlns:a16="http://schemas.microsoft.com/office/drawing/2014/main" id="{9804F58E-CAD7-6CD3-798B-5141211BD489}"/>
              </a:ext>
            </a:extLst>
          </p:cNvPr>
          <p:cNvSpPr/>
          <p:nvPr/>
        </p:nvSpPr>
        <p:spPr>
          <a:xfrm>
            <a:off x="615484" y="4797514"/>
            <a:ext cx="461666"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消息</a:t>
            </a:r>
            <a:endParaRPr lang="en-US"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715DA83D-BB61-41FD-43ED-82FD7BC6A70B}"/>
              </a:ext>
            </a:extLst>
          </p:cNvPr>
          <p:cNvSpPr/>
          <p:nvPr/>
        </p:nvSpPr>
        <p:spPr>
          <a:xfrm>
            <a:off x="1039322" y="4797514"/>
            <a:ext cx="253915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：参与方之间交换的数据</a:t>
            </a:r>
            <a:endParaRPr lang="en-US"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AA565446-76F8-8E86-BEAB-CDA63B71CCAA}"/>
              </a:ext>
            </a:extLst>
          </p:cNvPr>
          <p:cNvSpPr/>
          <p:nvPr/>
        </p:nvSpPr>
        <p:spPr>
          <a:xfrm>
            <a:off x="615484" y="5177219"/>
            <a:ext cx="461666"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规则</a:t>
            </a:r>
            <a:endParaRPr lang="en-US"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87472AF1-29B4-2B99-C999-F1DE7DF37016}"/>
              </a:ext>
            </a:extLst>
          </p:cNvPr>
          <p:cNvSpPr/>
          <p:nvPr/>
        </p:nvSpPr>
        <p:spPr>
          <a:xfrm>
            <a:off x="1039322" y="5177219"/>
            <a:ext cx="369332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：定义消息生成、发送和处理的方式</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BCF4631C-99DD-AB54-380C-E63EB4A4B60E}"/>
              </a:ext>
            </a:extLst>
          </p:cNvPr>
          <p:cNvSpPr/>
          <p:nvPr/>
        </p:nvSpPr>
        <p:spPr>
          <a:xfrm>
            <a:off x="615484" y="5556925"/>
            <a:ext cx="923329"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安全目标</a:t>
            </a:r>
            <a:endParaRPr lang="en-US" dirty="0">
              <a:latin typeface="微软雅黑" panose="020B0503020204020204" pitchFamily="34" charset="-122"/>
              <a:ea typeface="微软雅黑" panose="020B0503020204020204" pitchFamily="34" charset="-122"/>
            </a:endParaRPr>
          </a:p>
        </p:txBody>
      </p:sp>
      <p:sp>
        <p:nvSpPr>
          <p:cNvPr id="18" name="Text 15">
            <a:extLst>
              <a:ext uri="{FF2B5EF4-FFF2-40B4-BE49-F238E27FC236}">
                <a16:creationId xmlns:a16="http://schemas.microsoft.com/office/drawing/2014/main" id="{A0EF90AA-7EBA-CCBE-49AE-6A745C57C684}"/>
              </a:ext>
            </a:extLst>
          </p:cNvPr>
          <p:cNvSpPr/>
          <p:nvPr/>
        </p:nvSpPr>
        <p:spPr>
          <a:xfrm>
            <a:off x="1463159" y="5556925"/>
            <a:ext cx="300082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：协议设计要达到的安全属性</a:t>
            </a:r>
            <a:endParaRPr lang="en-US" dirty="0">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8E5F2564-F028-DE4B-1A53-DF93F5AB1BC5}"/>
              </a:ext>
            </a:extLst>
          </p:cNvPr>
          <p:cNvGrpSpPr/>
          <p:nvPr/>
        </p:nvGrpSpPr>
        <p:grpSpPr>
          <a:xfrm>
            <a:off x="6034782" y="1757928"/>
            <a:ext cx="6111875" cy="4468812"/>
            <a:chOff x="4629150" y="2185988"/>
            <a:chExt cx="2802898" cy="2185987"/>
          </a:xfrm>
        </p:grpSpPr>
        <p:sp>
          <p:nvSpPr>
            <p:cNvPr id="20" name="Shape 17">
              <a:extLst>
                <a:ext uri="{FF2B5EF4-FFF2-40B4-BE49-F238E27FC236}">
                  <a16:creationId xmlns:a16="http://schemas.microsoft.com/office/drawing/2014/main" id="{80D6EF14-23FE-4EA7-303C-1043051D2E67}"/>
                </a:ext>
              </a:extLst>
            </p:cNvPr>
            <p:cNvSpPr/>
            <p:nvPr/>
          </p:nvSpPr>
          <p:spPr>
            <a:xfrm>
              <a:off x="4629150" y="2185988"/>
              <a:ext cx="2802898" cy="1150144"/>
            </a:xfrm>
            <a:prstGeom prst="rect">
              <a:avLst/>
            </a:prstGeom>
            <a:solidFill>
              <a:srgbClr val="F8F9FA"/>
            </a:solidFill>
            <a:ln/>
          </p:spPr>
        </p:sp>
        <p:sp>
          <p:nvSpPr>
            <p:cNvPr id="21" name="Shape 18">
              <a:extLst>
                <a:ext uri="{FF2B5EF4-FFF2-40B4-BE49-F238E27FC236}">
                  <a16:creationId xmlns:a16="http://schemas.microsoft.com/office/drawing/2014/main" id="{2A37A029-1D32-D11E-72E1-CA9CB042A870}"/>
                </a:ext>
              </a:extLst>
            </p:cNvPr>
            <p:cNvSpPr/>
            <p:nvPr/>
          </p:nvSpPr>
          <p:spPr>
            <a:xfrm>
              <a:off x="4629150" y="2185988"/>
              <a:ext cx="28575" cy="1150144"/>
            </a:xfrm>
            <a:prstGeom prst="rect">
              <a:avLst/>
            </a:prstGeom>
            <a:solidFill>
              <a:srgbClr val="3498DB"/>
            </a:solidFill>
            <a:ln/>
          </p:spPr>
        </p:sp>
        <p:sp>
          <p:nvSpPr>
            <p:cNvPr id="22" name="Text 19">
              <a:extLst>
                <a:ext uri="{FF2B5EF4-FFF2-40B4-BE49-F238E27FC236}">
                  <a16:creationId xmlns:a16="http://schemas.microsoft.com/office/drawing/2014/main" id="{E61B4807-5FE1-C7E4-0683-3B03738A3F5F}"/>
                </a:ext>
              </a:extLst>
            </p:cNvPr>
            <p:cNvSpPr/>
            <p:nvPr/>
          </p:nvSpPr>
          <p:spPr>
            <a:xfrm>
              <a:off x="4700588" y="2286117"/>
              <a:ext cx="952735" cy="135498"/>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密码协议的安全属性</a:t>
              </a:r>
              <a:endParaRPr lang="en-US" dirty="0">
                <a:latin typeface="微软雅黑" panose="020B0503020204020204" pitchFamily="34" charset="-122"/>
                <a:ea typeface="微软雅黑" panose="020B0503020204020204" pitchFamily="34" charset="-122"/>
              </a:endParaRPr>
            </a:p>
          </p:txBody>
        </p:sp>
        <p:sp>
          <p:nvSpPr>
            <p:cNvPr id="23" name="Text 20">
              <a:extLst>
                <a:ext uri="{FF2B5EF4-FFF2-40B4-BE49-F238E27FC236}">
                  <a16:creationId xmlns:a16="http://schemas.microsoft.com/office/drawing/2014/main" id="{4B55C8F7-72AA-9408-165F-4D791E101BF9}"/>
                </a:ext>
              </a:extLst>
            </p:cNvPr>
            <p:cNvSpPr/>
            <p:nvPr/>
          </p:nvSpPr>
          <p:spPr>
            <a:xfrm>
              <a:off x="4843463" y="2510252"/>
              <a:ext cx="317578"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保密性</a:t>
              </a:r>
              <a:endParaRPr lang="en-US" dirty="0">
                <a:latin typeface="微软雅黑" panose="020B0503020204020204" pitchFamily="34" charset="-122"/>
                <a:ea typeface="微软雅黑" panose="020B0503020204020204" pitchFamily="34" charset="-122"/>
              </a:endParaRPr>
            </a:p>
          </p:txBody>
        </p:sp>
        <p:sp>
          <p:nvSpPr>
            <p:cNvPr id="24" name="Text 21">
              <a:extLst>
                <a:ext uri="{FF2B5EF4-FFF2-40B4-BE49-F238E27FC236}">
                  <a16:creationId xmlns:a16="http://schemas.microsoft.com/office/drawing/2014/main" id="{CCCD9EF1-4362-E392-611F-5F440CBD0DAE}"/>
                </a:ext>
              </a:extLst>
            </p:cNvPr>
            <p:cNvSpPr/>
            <p:nvPr/>
          </p:nvSpPr>
          <p:spPr>
            <a:xfrm>
              <a:off x="5186363" y="2510252"/>
              <a:ext cx="1376173"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：确保信息只能被授权方访问</a:t>
              </a:r>
              <a:endParaRPr lang="en-US" dirty="0">
                <a:latin typeface="微软雅黑" panose="020B0503020204020204" pitchFamily="34" charset="-122"/>
                <a:ea typeface="微软雅黑" panose="020B0503020204020204" pitchFamily="34" charset="-122"/>
              </a:endParaRPr>
            </a:p>
          </p:txBody>
        </p:sp>
        <p:sp>
          <p:nvSpPr>
            <p:cNvPr id="25" name="Text 22">
              <a:extLst>
                <a:ext uri="{FF2B5EF4-FFF2-40B4-BE49-F238E27FC236}">
                  <a16:creationId xmlns:a16="http://schemas.microsoft.com/office/drawing/2014/main" id="{262080DE-581B-D494-C28B-16029EE722BF}"/>
                </a:ext>
              </a:extLst>
            </p:cNvPr>
            <p:cNvSpPr/>
            <p:nvPr/>
          </p:nvSpPr>
          <p:spPr>
            <a:xfrm>
              <a:off x="4843463" y="2710277"/>
              <a:ext cx="317578"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完整性</a:t>
              </a:r>
              <a:endParaRPr lang="en-US" dirty="0">
                <a:latin typeface="微软雅黑" panose="020B0503020204020204" pitchFamily="34" charset="-122"/>
                <a:ea typeface="微软雅黑" panose="020B0503020204020204" pitchFamily="34" charset="-122"/>
              </a:endParaRPr>
            </a:p>
          </p:txBody>
        </p:sp>
        <p:sp>
          <p:nvSpPr>
            <p:cNvPr id="26" name="Text 23">
              <a:extLst>
                <a:ext uri="{FF2B5EF4-FFF2-40B4-BE49-F238E27FC236}">
                  <a16:creationId xmlns:a16="http://schemas.microsoft.com/office/drawing/2014/main" id="{DF374101-9184-A377-B1DF-9CF4A6F6AEEF}"/>
                </a:ext>
              </a:extLst>
            </p:cNvPr>
            <p:cNvSpPr/>
            <p:nvPr/>
          </p:nvSpPr>
          <p:spPr>
            <a:xfrm>
              <a:off x="5186363" y="2710277"/>
              <a:ext cx="1587892"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：确保信息在传输过程中不被篡改</a:t>
              </a:r>
              <a:endParaRPr lang="en-US" dirty="0">
                <a:latin typeface="微软雅黑" panose="020B0503020204020204" pitchFamily="34" charset="-122"/>
                <a:ea typeface="微软雅黑" panose="020B0503020204020204" pitchFamily="34" charset="-122"/>
              </a:endParaRPr>
            </a:p>
          </p:txBody>
        </p:sp>
        <p:sp>
          <p:nvSpPr>
            <p:cNvPr id="27" name="Text 24">
              <a:extLst>
                <a:ext uri="{FF2B5EF4-FFF2-40B4-BE49-F238E27FC236}">
                  <a16:creationId xmlns:a16="http://schemas.microsoft.com/office/drawing/2014/main" id="{048FC629-75CD-04E1-062E-FA43E7EE19E0}"/>
                </a:ext>
              </a:extLst>
            </p:cNvPr>
            <p:cNvSpPr/>
            <p:nvPr/>
          </p:nvSpPr>
          <p:spPr>
            <a:xfrm>
              <a:off x="4843463" y="2910302"/>
              <a:ext cx="211719"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认证</a:t>
              </a:r>
              <a:endParaRPr lang="en-US" dirty="0">
                <a:latin typeface="微软雅黑" panose="020B0503020204020204" pitchFamily="34" charset="-122"/>
                <a:ea typeface="微软雅黑" panose="020B0503020204020204" pitchFamily="34" charset="-122"/>
              </a:endParaRPr>
            </a:p>
          </p:txBody>
        </p:sp>
        <p:sp>
          <p:nvSpPr>
            <p:cNvPr id="28" name="Text 25">
              <a:extLst>
                <a:ext uri="{FF2B5EF4-FFF2-40B4-BE49-F238E27FC236}">
                  <a16:creationId xmlns:a16="http://schemas.microsoft.com/office/drawing/2014/main" id="{55CC596B-110E-0C76-1E4D-0132BFE9A0FC}"/>
                </a:ext>
              </a:extLst>
            </p:cNvPr>
            <p:cNvSpPr/>
            <p:nvPr/>
          </p:nvSpPr>
          <p:spPr>
            <a:xfrm>
              <a:off x="5072063" y="2910302"/>
              <a:ext cx="1058595"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：验证通信实体的身份</a:t>
              </a:r>
              <a:endParaRPr lang="en-US" dirty="0">
                <a:latin typeface="微软雅黑" panose="020B0503020204020204" pitchFamily="34" charset="-122"/>
                <a:ea typeface="微软雅黑" panose="020B0503020204020204" pitchFamily="34" charset="-122"/>
              </a:endParaRPr>
            </a:p>
          </p:txBody>
        </p:sp>
        <p:sp>
          <p:nvSpPr>
            <p:cNvPr id="29" name="Text 26">
              <a:extLst>
                <a:ext uri="{FF2B5EF4-FFF2-40B4-BE49-F238E27FC236}">
                  <a16:creationId xmlns:a16="http://schemas.microsoft.com/office/drawing/2014/main" id="{82898DE9-ACD8-ABA8-B428-7F97C079D224}"/>
                </a:ext>
              </a:extLst>
            </p:cNvPr>
            <p:cNvSpPr/>
            <p:nvPr/>
          </p:nvSpPr>
          <p:spPr>
            <a:xfrm>
              <a:off x="4843463" y="3110327"/>
              <a:ext cx="529297"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不可否认性</a:t>
              </a:r>
              <a:endParaRPr lang="en-US" dirty="0">
                <a:latin typeface="微软雅黑" panose="020B0503020204020204" pitchFamily="34" charset="-122"/>
                <a:ea typeface="微软雅黑" panose="020B0503020204020204" pitchFamily="34" charset="-122"/>
              </a:endParaRPr>
            </a:p>
          </p:txBody>
        </p:sp>
        <p:sp>
          <p:nvSpPr>
            <p:cNvPr id="30" name="Text 27">
              <a:extLst>
                <a:ext uri="{FF2B5EF4-FFF2-40B4-BE49-F238E27FC236}">
                  <a16:creationId xmlns:a16="http://schemas.microsoft.com/office/drawing/2014/main" id="{A1AEBA87-3B89-4B7B-EBD1-D8109587CBF3}"/>
                </a:ext>
              </a:extLst>
            </p:cNvPr>
            <p:cNvSpPr/>
            <p:nvPr/>
          </p:nvSpPr>
          <p:spPr>
            <a:xfrm>
              <a:off x="5414963" y="3110327"/>
              <a:ext cx="1058595"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：防止实体否认其行为</a:t>
              </a:r>
              <a:endParaRPr lang="en-US" dirty="0">
                <a:latin typeface="微软雅黑" panose="020B0503020204020204" pitchFamily="34" charset="-122"/>
                <a:ea typeface="微软雅黑" panose="020B0503020204020204" pitchFamily="34" charset="-122"/>
              </a:endParaRPr>
            </a:p>
          </p:txBody>
        </p:sp>
        <p:sp>
          <p:nvSpPr>
            <p:cNvPr id="31" name="Shape 28">
              <a:extLst>
                <a:ext uri="{FF2B5EF4-FFF2-40B4-BE49-F238E27FC236}">
                  <a16:creationId xmlns:a16="http://schemas.microsoft.com/office/drawing/2014/main" id="{69E579C9-5ECA-745C-78BE-19F0980EAB24}"/>
                </a:ext>
              </a:extLst>
            </p:cNvPr>
            <p:cNvSpPr/>
            <p:nvPr/>
          </p:nvSpPr>
          <p:spPr>
            <a:xfrm>
              <a:off x="4629150" y="3421856"/>
              <a:ext cx="2802898" cy="950119"/>
            </a:xfrm>
            <a:prstGeom prst="rect">
              <a:avLst/>
            </a:prstGeom>
            <a:solidFill>
              <a:srgbClr val="F8F9FA"/>
            </a:solidFill>
            <a:ln/>
          </p:spPr>
        </p:sp>
        <p:sp>
          <p:nvSpPr>
            <p:cNvPr id="32" name="Shape 29">
              <a:extLst>
                <a:ext uri="{FF2B5EF4-FFF2-40B4-BE49-F238E27FC236}">
                  <a16:creationId xmlns:a16="http://schemas.microsoft.com/office/drawing/2014/main" id="{A52E987C-EAFA-F443-32DA-258AC8D8D136}"/>
                </a:ext>
              </a:extLst>
            </p:cNvPr>
            <p:cNvSpPr/>
            <p:nvPr/>
          </p:nvSpPr>
          <p:spPr>
            <a:xfrm>
              <a:off x="4629150" y="3421856"/>
              <a:ext cx="28575" cy="950119"/>
            </a:xfrm>
            <a:prstGeom prst="rect">
              <a:avLst/>
            </a:prstGeom>
            <a:solidFill>
              <a:srgbClr val="3498DB"/>
            </a:solidFill>
            <a:ln/>
          </p:spPr>
        </p:sp>
        <p:sp>
          <p:nvSpPr>
            <p:cNvPr id="38" name="Text 30">
              <a:extLst>
                <a:ext uri="{FF2B5EF4-FFF2-40B4-BE49-F238E27FC236}">
                  <a16:creationId xmlns:a16="http://schemas.microsoft.com/office/drawing/2014/main" id="{56D35BCA-FC96-0768-E40E-690CED46559B}"/>
                </a:ext>
              </a:extLst>
            </p:cNvPr>
            <p:cNvSpPr/>
            <p:nvPr/>
          </p:nvSpPr>
          <p:spPr>
            <a:xfrm>
              <a:off x="4700588" y="3521986"/>
              <a:ext cx="952735" cy="135498"/>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密码协议的常见攻击</a:t>
              </a:r>
              <a:endParaRPr lang="en-US" dirty="0">
                <a:latin typeface="微软雅黑" panose="020B0503020204020204" pitchFamily="34" charset="-122"/>
                <a:ea typeface="微软雅黑" panose="020B0503020204020204" pitchFamily="34" charset="-122"/>
              </a:endParaRPr>
            </a:p>
          </p:txBody>
        </p:sp>
        <p:sp>
          <p:nvSpPr>
            <p:cNvPr id="39" name="Text 31">
              <a:extLst>
                <a:ext uri="{FF2B5EF4-FFF2-40B4-BE49-F238E27FC236}">
                  <a16:creationId xmlns:a16="http://schemas.microsoft.com/office/drawing/2014/main" id="{B5ACD0E4-83F0-5F46-1277-CB23F435948E}"/>
                </a:ext>
              </a:extLst>
            </p:cNvPr>
            <p:cNvSpPr/>
            <p:nvPr/>
          </p:nvSpPr>
          <p:spPr>
            <a:xfrm>
              <a:off x="4843463" y="3746121"/>
              <a:ext cx="529297"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中间人攻击</a:t>
              </a:r>
              <a:endParaRPr lang="en-US" dirty="0">
                <a:latin typeface="微软雅黑" panose="020B0503020204020204" pitchFamily="34" charset="-122"/>
                <a:ea typeface="微软雅黑" panose="020B0503020204020204" pitchFamily="34" charset="-122"/>
              </a:endParaRPr>
            </a:p>
          </p:txBody>
        </p:sp>
        <p:sp>
          <p:nvSpPr>
            <p:cNvPr id="40" name="Text 32">
              <a:extLst>
                <a:ext uri="{FF2B5EF4-FFF2-40B4-BE49-F238E27FC236}">
                  <a16:creationId xmlns:a16="http://schemas.microsoft.com/office/drawing/2014/main" id="{B856895E-3773-3B2D-CADD-6E8C0F654C62}"/>
                </a:ext>
              </a:extLst>
            </p:cNvPr>
            <p:cNvSpPr/>
            <p:nvPr/>
          </p:nvSpPr>
          <p:spPr>
            <a:xfrm>
              <a:off x="5414963" y="3746121"/>
              <a:ext cx="1905470"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：攻击者在通信双方之间截获并修改消息</a:t>
              </a:r>
              <a:endParaRPr lang="en-US" dirty="0">
                <a:latin typeface="微软雅黑" panose="020B0503020204020204" pitchFamily="34" charset="-122"/>
                <a:ea typeface="微软雅黑" panose="020B0503020204020204" pitchFamily="34" charset="-122"/>
              </a:endParaRPr>
            </a:p>
          </p:txBody>
        </p:sp>
        <p:sp>
          <p:nvSpPr>
            <p:cNvPr id="41" name="Text 33">
              <a:extLst>
                <a:ext uri="{FF2B5EF4-FFF2-40B4-BE49-F238E27FC236}">
                  <a16:creationId xmlns:a16="http://schemas.microsoft.com/office/drawing/2014/main" id="{AAEDF1B1-DFFF-C65F-6BC1-9230D73F5617}"/>
                </a:ext>
              </a:extLst>
            </p:cNvPr>
            <p:cNvSpPr/>
            <p:nvPr/>
          </p:nvSpPr>
          <p:spPr>
            <a:xfrm>
              <a:off x="4843463" y="3946146"/>
              <a:ext cx="423438"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重放攻击</a:t>
              </a:r>
              <a:endParaRPr lang="en-US" dirty="0">
                <a:latin typeface="微软雅黑" panose="020B0503020204020204" pitchFamily="34" charset="-122"/>
                <a:ea typeface="微软雅黑" panose="020B0503020204020204" pitchFamily="34" charset="-122"/>
              </a:endParaRPr>
            </a:p>
          </p:txBody>
        </p:sp>
        <p:sp>
          <p:nvSpPr>
            <p:cNvPr id="42" name="Text 34">
              <a:extLst>
                <a:ext uri="{FF2B5EF4-FFF2-40B4-BE49-F238E27FC236}">
                  <a16:creationId xmlns:a16="http://schemas.microsoft.com/office/drawing/2014/main" id="{A18BDEDD-524C-4410-96E0-69DE0FABC970}"/>
                </a:ext>
              </a:extLst>
            </p:cNvPr>
            <p:cNvSpPr/>
            <p:nvPr/>
          </p:nvSpPr>
          <p:spPr>
            <a:xfrm>
              <a:off x="5300663" y="3946146"/>
              <a:ext cx="1905470"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：攻击者捕获并重新发送之前的有效消息</a:t>
              </a:r>
              <a:endParaRPr lang="en-US" dirty="0">
                <a:latin typeface="微软雅黑" panose="020B0503020204020204" pitchFamily="34" charset="-122"/>
                <a:ea typeface="微软雅黑" panose="020B0503020204020204" pitchFamily="34" charset="-122"/>
              </a:endParaRPr>
            </a:p>
          </p:txBody>
        </p:sp>
        <p:sp>
          <p:nvSpPr>
            <p:cNvPr id="43" name="Text 35">
              <a:extLst>
                <a:ext uri="{FF2B5EF4-FFF2-40B4-BE49-F238E27FC236}">
                  <a16:creationId xmlns:a16="http://schemas.microsoft.com/office/drawing/2014/main" id="{3E6DB637-76C4-4260-1ABA-E2EAF8DD2DC0}"/>
                </a:ext>
              </a:extLst>
            </p:cNvPr>
            <p:cNvSpPr/>
            <p:nvPr/>
          </p:nvSpPr>
          <p:spPr>
            <a:xfrm>
              <a:off x="4843463" y="4146171"/>
              <a:ext cx="423438" cy="135498"/>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会话劫持</a:t>
              </a:r>
              <a:endParaRPr lang="en-US" dirty="0">
                <a:latin typeface="微软雅黑" panose="020B0503020204020204" pitchFamily="34" charset="-122"/>
                <a:ea typeface="微软雅黑" panose="020B0503020204020204" pitchFamily="34" charset="-122"/>
              </a:endParaRPr>
            </a:p>
          </p:txBody>
        </p:sp>
        <p:sp>
          <p:nvSpPr>
            <p:cNvPr id="44" name="Text 36">
              <a:extLst>
                <a:ext uri="{FF2B5EF4-FFF2-40B4-BE49-F238E27FC236}">
                  <a16:creationId xmlns:a16="http://schemas.microsoft.com/office/drawing/2014/main" id="{C48DA649-251E-A494-23BF-918BBD93FC98}"/>
                </a:ext>
              </a:extLst>
            </p:cNvPr>
            <p:cNvSpPr/>
            <p:nvPr/>
          </p:nvSpPr>
          <p:spPr>
            <a:xfrm>
              <a:off x="5300663" y="4146171"/>
              <a:ext cx="1482032" cy="135498"/>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：攻击者接管已建立的合法会话</a:t>
              </a:r>
              <a:endParaRPr 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85728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7CAB-92EF-3304-980F-985A8CDF1257}"/>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E8F5FA48-918E-00D5-3CB1-8BC28DCEAA82}"/>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54118984-8566-3813-C538-9ACE25AE1450}"/>
              </a:ext>
            </a:extLst>
          </p:cNvPr>
          <p:cNvGrpSpPr/>
          <p:nvPr/>
        </p:nvGrpSpPr>
        <p:grpSpPr>
          <a:xfrm>
            <a:off x="153148" y="808658"/>
            <a:ext cx="7381902" cy="977210"/>
            <a:chOff x="180042" y="928625"/>
            <a:chExt cx="7381902" cy="977210"/>
          </a:xfrm>
        </p:grpSpPr>
        <p:grpSp>
          <p:nvGrpSpPr>
            <p:cNvPr id="34" name="组合 3">
              <a:extLst>
                <a:ext uri="{FF2B5EF4-FFF2-40B4-BE49-F238E27FC236}">
                  <a16:creationId xmlns:a16="http://schemas.microsoft.com/office/drawing/2014/main" id="{0D084A19-0380-A5B1-7EC9-9801F874C044}"/>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593EF071-204E-9521-0A6F-AA314896FA68}"/>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5A840004-6774-F863-E0B3-33935E5AC6C3}"/>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F2769BCF-E15A-5C2F-607B-1E189221FAF1}"/>
                </a:ext>
              </a:extLst>
            </p:cNvPr>
            <p:cNvSpPr/>
            <p:nvPr/>
          </p:nvSpPr>
          <p:spPr>
            <a:xfrm>
              <a:off x="245030" y="951728"/>
              <a:ext cx="6793796" cy="954107"/>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Diffie-Hellman</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密钥交换协议</a:t>
              </a: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grpSp>
        <p:nvGrpSpPr>
          <p:cNvPr id="40" name="组合 39">
            <a:extLst>
              <a:ext uri="{FF2B5EF4-FFF2-40B4-BE49-F238E27FC236}">
                <a16:creationId xmlns:a16="http://schemas.microsoft.com/office/drawing/2014/main" id="{0C90A83A-36C4-F12D-1361-A8FF99CC1846}"/>
              </a:ext>
            </a:extLst>
          </p:cNvPr>
          <p:cNvGrpSpPr/>
          <p:nvPr/>
        </p:nvGrpSpPr>
        <p:grpSpPr>
          <a:xfrm>
            <a:off x="1209069" y="1773321"/>
            <a:ext cx="8884987" cy="4561051"/>
            <a:chOff x="1209069" y="1773321"/>
            <a:chExt cx="8884987" cy="4561051"/>
          </a:xfrm>
        </p:grpSpPr>
        <p:sp>
          <p:nvSpPr>
            <p:cNvPr id="3" name="Shape 1">
              <a:extLst>
                <a:ext uri="{FF2B5EF4-FFF2-40B4-BE49-F238E27FC236}">
                  <a16:creationId xmlns:a16="http://schemas.microsoft.com/office/drawing/2014/main" id="{5968ECD3-5D94-957C-34A6-08B84A310B0A}"/>
                </a:ext>
              </a:extLst>
            </p:cNvPr>
            <p:cNvSpPr/>
            <p:nvPr/>
          </p:nvSpPr>
          <p:spPr>
            <a:xfrm>
              <a:off x="1209069" y="1773321"/>
              <a:ext cx="8884987" cy="2713699"/>
            </a:xfrm>
            <a:prstGeom prst="rect">
              <a:avLst/>
            </a:prstGeom>
            <a:solidFill>
              <a:srgbClr val="F8F9FA"/>
            </a:solidFill>
            <a:ln/>
          </p:spPr>
        </p:sp>
        <p:sp>
          <p:nvSpPr>
            <p:cNvPr id="4" name="Shape 2">
              <a:extLst>
                <a:ext uri="{FF2B5EF4-FFF2-40B4-BE49-F238E27FC236}">
                  <a16:creationId xmlns:a16="http://schemas.microsoft.com/office/drawing/2014/main" id="{33E68DA9-ACF4-219C-F998-102042D8FECD}"/>
                </a:ext>
              </a:extLst>
            </p:cNvPr>
            <p:cNvSpPr/>
            <p:nvPr/>
          </p:nvSpPr>
          <p:spPr>
            <a:xfrm>
              <a:off x="1209069" y="1773321"/>
              <a:ext cx="61701" cy="2713699"/>
            </a:xfrm>
            <a:prstGeom prst="rect">
              <a:avLst/>
            </a:prstGeom>
            <a:solidFill>
              <a:srgbClr val="3498DB"/>
            </a:solidFill>
            <a:ln/>
          </p:spPr>
        </p:sp>
        <p:sp>
          <p:nvSpPr>
            <p:cNvPr id="5" name="Text 3">
              <a:extLst>
                <a:ext uri="{FF2B5EF4-FFF2-40B4-BE49-F238E27FC236}">
                  <a16:creationId xmlns:a16="http://schemas.microsoft.com/office/drawing/2014/main" id="{EEE56ABB-7184-3663-523D-3ECA2EED1950}"/>
                </a:ext>
              </a:extLst>
            </p:cNvPr>
            <p:cNvSpPr/>
            <p:nvPr/>
          </p:nvSpPr>
          <p:spPr>
            <a:xfrm>
              <a:off x="1363323" y="1934218"/>
              <a:ext cx="3740701"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Diffie-Hellman协议概述</a:t>
              </a:r>
              <a:endParaRPr lang="en-US" dirty="0"/>
            </a:p>
          </p:txBody>
        </p:sp>
        <p:sp>
          <p:nvSpPr>
            <p:cNvPr id="6" name="Text 4">
              <a:extLst>
                <a:ext uri="{FF2B5EF4-FFF2-40B4-BE49-F238E27FC236}">
                  <a16:creationId xmlns:a16="http://schemas.microsoft.com/office/drawing/2014/main" id="{548006FF-5B9E-872C-D874-9007877057B9}"/>
                </a:ext>
              </a:extLst>
            </p:cNvPr>
            <p:cNvSpPr/>
            <p:nvPr/>
          </p:nvSpPr>
          <p:spPr>
            <a:xfrm>
              <a:off x="1363323" y="2502811"/>
              <a:ext cx="8576481" cy="553998"/>
            </a:xfrm>
            <a:prstGeom prst="rect">
              <a:avLst/>
            </a:prstGeom>
            <a:noFill/>
            <a:ln/>
          </p:spPr>
          <p:txBody>
            <a:bodyPr wrap="square" lIns="0" tIns="0" rIns="0" bIns="0" rtlCol="0" anchor="ctr">
              <a:spAutoFit/>
            </a:bodyPr>
            <a:lstStyle/>
            <a:p>
              <a:pPr marL="0" indent="0">
                <a:buNone/>
              </a:pPr>
              <a:r>
                <a:rPr lang="en-US" dirty="0">
                  <a:solidFill>
                    <a:srgbClr val="34495E"/>
                  </a:solidFill>
                  <a:latin typeface="Noto Sans" pitchFamily="34" charset="0"/>
                  <a:ea typeface="Noto Sans" pitchFamily="34" charset="-122"/>
                  <a:cs typeface="Noto Sans" pitchFamily="34" charset="-120"/>
                </a:rPr>
                <a:t>Diffie-Hellman</a:t>
              </a:r>
              <a:r>
                <a:rPr lang="en-US" dirty="0">
                  <a:solidFill>
                    <a:srgbClr val="5F7181"/>
                  </a:solidFill>
                  <a:latin typeface="Noto Sans" pitchFamily="34" charset="0"/>
                  <a:ea typeface="Noto Sans" pitchFamily="34" charset="-122"/>
                  <a:cs typeface="Noto Sans" pitchFamily="34" charset="-120"/>
                </a:rPr>
                <a:t>密钥交换协议是第一个公开的密钥交换协议</a:t>
              </a:r>
              <a:r>
                <a:rPr lang="en-US" dirty="0">
                  <a:solidFill>
                    <a:srgbClr val="34495E"/>
                  </a:solidFill>
                  <a:latin typeface="Noto Sans" pitchFamily="34" charset="0"/>
                  <a:ea typeface="Noto Sans" pitchFamily="34" charset="-122"/>
                  <a:cs typeface="Noto Sans" pitchFamily="34" charset="-120"/>
                </a:rPr>
                <a:t>，由Whitfield Diffie和Martin Hellman于1976年提出，允许双方在不安全的通信信道上建立共享密钥。</a:t>
              </a:r>
              <a:endParaRPr lang="en-US" dirty="0"/>
            </a:p>
          </p:txBody>
        </p:sp>
        <p:sp>
          <p:nvSpPr>
            <p:cNvPr id="7" name="Text 5">
              <a:extLst>
                <a:ext uri="{FF2B5EF4-FFF2-40B4-BE49-F238E27FC236}">
                  <a16:creationId xmlns:a16="http://schemas.microsoft.com/office/drawing/2014/main" id="{14DC0951-3C28-D02E-D683-FAC70FCB26C6}"/>
                </a:ext>
              </a:extLst>
            </p:cNvPr>
            <p:cNvSpPr/>
            <p:nvPr/>
          </p:nvSpPr>
          <p:spPr>
            <a:xfrm>
              <a:off x="1671830" y="3354771"/>
              <a:ext cx="5959372"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解决了密钥分发问题，无需预先共享密钥</a:t>
              </a:r>
              <a:endParaRPr lang="en-US" dirty="0"/>
            </a:p>
          </p:txBody>
        </p:sp>
        <p:sp>
          <p:nvSpPr>
            <p:cNvPr id="8" name="Text 6">
              <a:extLst>
                <a:ext uri="{FF2B5EF4-FFF2-40B4-BE49-F238E27FC236}">
                  <a16:creationId xmlns:a16="http://schemas.microsoft.com/office/drawing/2014/main" id="{37192E0E-77D9-01E1-961D-2636BC2B54EB}"/>
                </a:ext>
              </a:extLst>
            </p:cNvPr>
            <p:cNvSpPr/>
            <p:nvPr/>
          </p:nvSpPr>
          <p:spPr>
            <a:xfrm>
              <a:off x="1671830" y="3711501"/>
              <a:ext cx="463506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基于离散对数问题的计算困难性</a:t>
              </a:r>
              <a:endParaRPr lang="en-US" dirty="0"/>
            </a:p>
          </p:txBody>
        </p:sp>
        <p:sp>
          <p:nvSpPr>
            <p:cNvPr id="9" name="Text 7">
              <a:extLst>
                <a:ext uri="{FF2B5EF4-FFF2-40B4-BE49-F238E27FC236}">
                  <a16:creationId xmlns:a16="http://schemas.microsoft.com/office/drawing/2014/main" id="{A9B83F89-0592-C39B-A147-8BEA00E3C036}"/>
                </a:ext>
              </a:extLst>
            </p:cNvPr>
            <p:cNvSpPr/>
            <p:nvPr/>
          </p:nvSpPr>
          <p:spPr>
            <a:xfrm>
              <a:off x="1671830" y="4068232"/>
              <a:ext cx="397291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为非对称密码学奠定了基础</a:t>
              </a:r>
              <a:endParaRPr lang="en-US" dirty="0"/>
            </a:p>
          </p:txBody>
        </p:sp>
        <p:sp>
          <p:nvSpPr>
            <p:cNvPr id="10" name="Shape 8">
              <a:extLst>
                <a:ext uri="{FF2B5EF4-FFF2-40B4-BE49-F238E27FC236}">
                  <a16:creationId xmlns:a16="http://schemas.microsoft.com/office/drawing/2014/main" id="{B7C013D4-37DA-C011-6088-2C4277AB0A19}"/>
                </a:ext>
              </a:extLst>
            </p:cNvPr>
            <p:cNvSpPr/>
            <p:nvPr/>
          </p:nvSpPr>
          <p:spPr>
            <a:xfrm>
              <a:off x="1209069" y="4639903"/>
              <a:ext cx="8884987" cy="1694469"/>
            </a:xfrm>
            <a:prstGeom prst="rect">
              <a:avLst/>
            </a:prstGeom>
            <a:solidFill>
              <a:srgbClr val="F8F9FA"/>
            </a:solidFill>
            <a:ln/>
          </p:spPr>
        </p:sp>
        <p:sp>
          <p:nvSpPr>
            <p:cNvPr id="11" name="Shape 9">
              <a:extLst>
                <a:ext uri="{FF2B5EF4-FFF2-40B4-BE49-F238E27FC236}">
                  <a16:creationId xmlns:a16="http://schemas.microsoft.com/office/drawing/2014/main" id="{1716E965-BA8B-CC56-B15C-8399152E570E}"/>
                </a:ext>
              </a:extLst>
            </p:cNvPr>
            <p:cNvSpPr/>
            <p:nvPr/>
          </p:nvSpPr>
          <p:spPr>
            <a:xfrm>
              <a:off x="1209069" y="4639903"/>
              <a:ext cx="61701" cy="1694469"/>
            </a:xfrm>
            <a:prstGeom prst="rect">
              <a:avLst/>
            </a:prstGeom>
            <a:solidFill>
              <a:srgbClr val="3498DB"/>
            </a:solidFill>
            <a:ln/>
          </p:spPr>
        </p:sp>
        <p:sp>
          <p:nvSpPr>
            <p:cNvPr id="13" name="Text 10">
              <a:extLst>
                <a:ext uri="{FF2B5EF4-FFF2-40B4-BE49-F238E27FC236}">
                  <a16:creationId xmlns:a16="http://schemas.microsoft.com/office/drawing/2014/main" id="{7177C208-E194-8958-98DC-00644B8CE042}"/>
                </a:ext>
              </a:extLst>
            </p:cNvPr>
            <p:cNvSpPr/>
            <p:nvPr/>
          </p:nvSpPr>
          <p:spPr>
            <a:xfrm>
              <a:off x="1363323" y="4800802"/>
              <a:ext cx="4733931"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Noto Sans" pitchFamily="34" charset="0"/>
                  <a:ea typeface="Noto Sans" pitchFamily="34" charset="-122"/>
                  <a:cs typeface="Noto Sans" pitchFamily="34" charset="-120"/>
                </a:rPr>
                <a:t>Diffie-Hellman协议的数学基础</a:t>
              </a:r>
              <a:endParaRPr lang="en-US" dirty="0"/>
            </a:p>
          </p:txBody>
        </p:sp>
        <p:sp>
          <p:nvSpPr>
            <p:cNvPr id="14" name="Text 11">
              <a:extLst>
                <a:ext uri="{FF2B5EF4-FFF2-40B4-BE49-F238E27FC236}">
                  <a16:creationId xmlns:a16="http://schemas.microsoft.com/office/drawing/2014/main" id="{5BEFA54E-7231-3A7E-C461-F7285A3D38E8}"/>
                </a:ext>
              </a:extLst>
            </p:cNvPr>
            <p:cNvSpPr/>
            <p:nvPr/>
          </p:nvSpPr>
          <p:spPr>
            <a:xfrm>
              <a:off x="1671830" y="5200530"/>
              <a:ext cx="1986458"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离散对数问题</a:t>
              </a:r>
              <a:endParaRPr lang="en-US" dirty="0"/>
            </a:p>
          </p:txBody>
        </p:sp>
        <p:sp>
          <p:nvSpPr>
            <p:cNvPr id="15" name="Text 12">
              <a:extLst>
                <a:ext uri="{FF2B5EF4-FFF2-40B4-BE49-F238E27FC236}">
                  <a16:creationId xmlns:a16="http://schemas.microsoft.com/office/drawing/2014/main" id="{3563EB24-E739-8C04-D617-EFE5D878FE5A}"/>
                </a:ext>
              </a:extLst>
            </p:cNvPr>
            <p:cNvSpPr/>
            <p:nvPr/>
          </p:nvSpPr>
          <p:spPr>
            <a:xfrm>
              <a:off x="3152661" y="5200530"/>
              <a:ext cx="4255710"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：已知大素数p、生成元g和g</a:t>
              </a:r>
              <a:endParaRPr lang="en-US" dirty="0"/>
            </a:p>
          </p:txBody>
        </p:sp>
        <p:sp>
          <p:nvSpPr>
            <p:cNvPr id="16" name="Text 13">
              <a:extLst>
                <a:ext uri="{FF2B5EF4-FFF2-40B4-BE49-F238E27FC236}">
                  <a16:creationId xmlns:a16="http://schemas.microsoft.com/office/drawing/2014/main" id="{ACFCC4DF-56EF-CC0F-F00C-A822CD6A527D}"/>
                </a:ext>
              </a:extLst>
            </p:cNvPr>
            <p:cNvSpPr/>
            <p:nvPr/>
          </p:nvSpPr>
          <p:spPr>
            <a:xfrm>
              <a:off x="6106797" y="5146386"/>
              <a:ext cx="18623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a:t>
              </a:r>
              <a:endParaRPr lang="en-US" dirty="0"/>
            </a:p>
          </p:txBody>
        </p:sp>
        <p:sp>
          <p:nvSpPr>
            <p:cNvPr id="17" name="Text 14">
              <a:extLst>
                <a:ext uri="{FF2B5EF4-FFF2-40B4-BE49-F238E27FC236}">
                  <a16:creationId xmlns:a16="http://schemas.microsoft.com/office/drawing/2014/main" id="{2312B9B4-920D-C6C6-F2B3-0C845A81D76D}"/>
                </a:ext>
              </a:extLst>
            </p:cNvPr>
            <p:cNvSpPr/>
            <p:nvPr/>
          </p:nvSpPr>
          <p:spPr>
            <a:xfrm>
              <a:off x="6210675" y="5200530"/>
              <a:ext cx="359355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 mod p，求解a非常困难</a:t>
              </a:r>
              <a:endParaRPr lang="en-US" dirty="0"/>
            </a:p>
          </p:txBody>
        </p:sp>
        <p:sp>
          <p:nvSpPr>
            <p:cNvPr id="18" name="Text 15">
              <a:extLst>
                <a:ext uri="{FF2B5EF4-FFF2-40B4-BE49-F238E27FC236}">
                  <a16:creationId xmlns:a16="http://schemas.microsoft.com/office/drawing/2014/main" id="{51C1EF67-03C4-0885-A09C-D325A3000A3B}"/>
                </a:ext>
              </a:extLst>
            </p:cNvPr>
            <p:cNvSpPr/>
            <p:nvPr/>
          </p:nvSpPr>
          <p:spPr>
            <a:xfrm>
              <a:off x="1671830" y="5557261"/>
              <a:ext cx="1324305"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模幂运算</a:t>
              </a:r>
              <a:endParaRPr lang="en-US" dirty="0"/>
            </a:p>
          </p:txBody>
        </p:sp>
        <p:sp>
          <p:nvSpPr>
            <p:cNvPr id="19" name="Text 16">
              <a:extLst>
                <a:ext uri="{FF2B5EF4-FFF2-40B4-BE49-F238E27FC236}">
                  <a16:creationId xmlns:a16="http://schemas.microsoft.com/office/drawing/2014/main" id="{0442ADE6-F697-5EF5-40F9-D066E0C4B806}"/>
                </a:ext>
              </a:extLst>
            </p:cNvPr>
            <p:cNvSpPr/>
            <p:nvPr/>
          </p:nvSpPr>
          <p:spPr>
            <a:xfrm>
              <a:off x="2659051" y="5557261"/>
              <a:ext cx="53570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：g</a:t>
              </a:r>
              <a:endParaRPr lang="en-US" dirty="0"/>
            </a:p>
          </p:txBody>
        </p:sp>
        <p:sp>
          <p:nvSpPr>
            <p:cNvPr id="20" name="Text 17">
              <a:extLst>
                <a:ext uri="{FF2B5EF4-FFF2-40B4-BE49-F238E27FC236}">
                  <a16:creationId xmlns:a16="http://schemas.microsoft.com/office/drawing/2014/main" id="{602EA9D1-F3BE-53EE-4473-BB4D4362450F}"/>
                </a:ext>
              </a:extLst>
            </p:cNvPr>
            <p:cNvSpPr/>
            <p:nvPr/>
          </p:nvSpPr>
          <p:spPr>
            <a:xfrm>
              <a:off x="3057698" y="5503116"/>
              <a:ext cx="18623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a:t>
              </a:r>
              <a:endParaRPr lang="en-US" dirty="0"/>
            </a:p>
          </p:txBody>
        </p:sp>
        <p:sp>
          <p:nvSpPr>
            <p:cNvPr id="21" name="Text 18">
              <a:extLst>
                <a:ext uri="{FF2B5EF4-FFF2-40B4-BE49-F238E27FC236}">
                  <a16:creationId xmlns:a16="http://schemas.microsoft.com/office/drawing/2014/main" id="{DD2B9D8F-041C-E57C-455C-22A2DF6F459C}"/>
                </a:ext>
              </a:extLst>
            </p:cNvPr>
            <p:cNvSpPr/>
            <p:nvPr/>
          </p:nvSpPr>
          <p:spPr>
            <a:xfrm>
              <a:off x="3161577" y="5557261"/>
              <a:ext cx="5809928"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 mod p 计算容易，但求解离散对数困难</a:t>
              </a:r>
              <a:endParaRPr lang="en-US" dirty="0"/>
            </a:p>
          </p:txBody>
        </p:sp>
        <p:sp>
          <p:nvSpPr>
            <p:cNvPr id="22" name="Text 19">
              <a:extLst>
                <a:ext uri="{FF2B5EF4-FFF2-40B4-BE49-F238E27FC236}">
                  <a16:creationId xmlns:a16="http://schemas.microsoft.com/office/drawing/2014/main" id="{B8D5E378-969A-0F7D-114F-094A4E689636}"/>
                </a:ext>
              </a:extLst>
            </p:cNvPr>
            <p:cNvSpPr/>
            <p:nvPr/>
          </p:nvSpPr>
          <p:spPr>
            <a:xfrm>
              <a:off x="1671830" y="5913991"/>
              <a:ext cx="993228" cy="27699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Noto Sans" pitchFamily="34" charset="0"/>
                  <a:ea typeface="Noto Sans" pitchFamily="34" charset="-122"/>
                  <a:cs typeface="Noto Sans" pitchFamily="34" charset="-120"/>
                </a:rPr>
                <a:t>交换律</a:t>
              </a:r>
              <a:endParaRPr lang="en-US" dirty="0"/>
            </a:p>
          </p:txBody>
        </p:sp>
        <p:sp>
          <p:nvSpPr>
            <p:cNvPr id="23" name="Text 20">
              <a:extLst>
                <a:ext uri="{FF2B5EF4-FFF2-40B4-BE49-F238E27FC236}">
                  <a16:creationId xmlns:a16="http://schemas.microsoft.com/office/drawing/2014/main" id="{3CF09E6E-BDB7-67DF-5E7E-9A34BB56E047}"/>
                </a:ext>
              </a:extLst>
            </p:cNvPr>
            <p:cNvSpPr/>
            <p:nvPr/>
          </p:nvSpPr>
          <p:spPr>
            <a:xfrm>
              <a:off x="2412245" y="5913991"/>
              <a:ext cx="652956"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：(g</a:t>
              </a:r>
              <a:endParaRPr lang="en-US" dirty="0"/>
            </a:p>
          </p:txBody>
        </p:sp>
        <p:sp>
          <p:nvSpPr>
            <p:cNvPr id="24" name="Text 21">
              <a:extLst>
                <a:ext uri="{FF2B5EF4-FFF2-40B4-BE49-F238E27FC236}">
                  <a16:creationId xmlns:a16="http://schemas.microsoft.com/office/drawing/2014/main" id="{18F146C0-691F-F1C2-E1E5-6633D99F7B68}"/>
                </a:ext>
              </a:extLst>
            </p:cNvPr>
            <p:cNvSpPr/>
            <p:nvPr/>
          </p:nvSpPr>
          <p:spPr>
            <a:xfrm>
              <a:off x="2884885" y="5859846"/>
              <a:ext cx="18623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a:t>
              </a:r>
              <a:endParaRPr lang="en-US" dirty="0"/>
            </a:p>
          </p:txBody>
        </p:sp>
        <p:sp>
          <p:nvSpPr>
            <p:cNvPr id="25" name="Text 22">
              <a:extLst>
                <a:ext uri="{FF2B5EF4-FFF2-40B4-BE49-F238E27FC236}">
                  <a16:creationId xmlns:a16="http://schemas.microsoft.com/office/drawing/2014/main" id="{586ED8F8-9ACF-DD40-FFCD-2FB9C4EB0EF9}"/>
                </a:ext>
              </a:extLst>
            </p:cNvPr>
            <p:cNvSpPr/>
            <p:nvPr/>
          </p:nvSpPr>
          <p:spPr>
            <a:xfrm>
              <a:off x="2988765" y="5913991"/>
              <a:ext cx="11725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t>
              </a:r>
              <a:endParaRPr lang="en-US" dirty="0"/>
            </a:p>
          </p:txBody>
        </p:sp>
        <p:sp>
          <p:nvSpPr>
            <p:cNvPr id="26" name="Text 23">
              <a:extLst>
                <a:ext uri="{FF2B5EF4-FFF2-40B4-BE49-F238E27FC236}">
                  <a16:creationId xmlns:a16="http://schemas.microsoft.com/office/drawing/2014/main" id="{1426F47A-3208-A528-EA1E-74C875FAB041}"/>
                </a:ext>
              </a:extLst>
            </p:cNvPr>
            <p:cNvSpPr/>
            <p:nvPr/>
          </p:nvSpPr>
          <p:spPr>
            <a:xfrm>
              <a:off x="3062820" y="5859846"/>
              <a:ext cx="20462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b</a:t>
              </a:r>
              <a:endParaRPr lang="en-US" dirty="0"/>
            </a:p>
          </p:txBody>
        </p:sp>
        <p:sp>
          <p:nvSpPr>
            <p:cNvPr id="27" name="Text 24">
              <a:extLst>
                <a:ext uri="{FF2B5EF4-FFF2-40B4-BE49-F238E27FC236}">
                  <a16:creationId xmlns:a16="http://schemas.microsoft.com/office/drawing/2014/main" id="{2764954F-A813-B1E7-97CF-8B2A8839A169}"/>
                </a:ext>
              </a:extLst>
            </p:cNvPr>
            <p:cNvSpPr/>
            <p:nvPr/>
          </p:nvSpPr>
          <p:spPr>
            <a:xfrm>
              <a:off x="3176702" y="5913991"/>
              <a:ext cx="176344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 mod p = (g</a:t>
              </a:r>
              <a:endParaRPr lang="en-US" dirty="0"/>
            </a:p>
          </p:txBody>
        </p:sp>
        <p:sp>
          <p:nvSpPr>
            <p:cNvPr id="28" name="Text 25">
              <a:extLst>
                <a:ext uri="{FF2B5EF4-FFF2-40B4-BE49-F238E27FC236}">
                  <a16:creationId xmlns:a16="http://schemas.microsoft.com/office/drawing/2014/main" id="{06309A66-3BD1-F333-9532-D1DC90A33FE0}"/>
                </a:ext>
              </a:extLst>
            </p:cNvPr>
            <p:cNvSpPr/>
            <p:nvPr/>
          </p:nvSpPr>
          <p:spPr>
            <a:xfrm>
              <a:off x="4450805" y="5859846"/>
              <a:ext cx="20462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b</a:t>
              </a:r>
              <a:endParaRPr lang="en-US" dirty="0"/>
            </a:p>
          </p:txBody>
        </p:sp>
        <p:sp>
          <p:nvSpPr>
            <p:cNvPr id="29" name="Text 26">
              <a:extLst>
                <a:ext uri="{FF2B5EF4-FFF2-40B4-BE49-F238E27FC236}">
                  <a16:creationId xmlns:a16="http://schemas.microsoft.com/office/drawing/2014/main" id="{3FDA1B6A-D958-4E71-B084-C765E2CCA62B}"/>
                </a:ext>
              </a:extLst>
            </p:cNvPr>
            <p:cNvSpPr/>
            <p:nvPr/>
          </p:nvSpPr>
          <p:spPr>
            <a:xfrm>
              <a:off x="4597940" y="5913991"/>
              <a:ext cx="117257"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t>
              </a:r>
              <a:endParaRPr lang="en-US" dirty="0"/>
            </a:p>
          </p:txBody>
        </p:sp>
        <p:sp>
          <p:nvSpPr>
            <p:cNvPr id="30" name="Text 27">
              <a:extLst>
                <a:ext uri="{FF2B5EF4-FFF2-40B4-BE49-F238E27FC236}">
                  <a16:creationId xmlns:a16="http://schemas.microsoft.com/office/drawing/2014/main" id="{F65466E2-985E-9A71-0FF6-7F6C07F29207}"/>
                </a:ext>
              </a:extLst>
            </p:cNvPr>
            <p:cNvSpPr/>
            <p:nvPr/>
          </p:nvSpPr>
          <p:spPr>
            <a:xfrm>
              <a:off x="4671994" y="5859846"/>
              <a:ext cx="186231"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a:t>
              </a:r>
              <a:endParaRPr lang="en-US" dirty="0"/>
            </a:p>
          </p:txBody>
        </p:sp>
        <p:sp>
          <p:nvSpPr>
            <p:cNvPr id="31" name="Text 28">
              <a:extLst>
                <a:ext uri="{FF2B5EF4-FFF2-40B4-BE49-F238E27FC236}">
                  <a16:creationId xmlns:a16="http://schemas.microsoft.com/office/drawing/2014/main" id="{BB24D653-3E4D-3234-0F63-6C727E3B7B6E}"/>
                </a:ext>
              </a:extLst>
            </p:cNvPr>
            <p:cNvSpPr/>
            <p:nvPr/>
          </p:nvSpPr>
          <p:spPr>
            <a:xfrm>
              <a:off x="4775875" y="5913991"/>
              <a:ext cx="164618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 mod p = g</a:t>
              </a:r>
              <a:endParaRPr lang="en-US" dirty="0"/>
            </a:p>
          </p:txBody>
        </p:sp>
        <p:sp>
          <p:nvSpPr>
            <p:cNvPr id="32" name="Text 29">
              <a:extLst>
                <a:ext uri="{FF2B5EF4-FFF2-40B4-BE49-F238E27FC236}">
                  <a16:creationId xmlns:a16="http://schemas.microsoft.com/office/drawing/2014/main" id="{98373CD1-2958-5EC9-9045-DDDE4E777C1E}"/>
                </a:ext>
              </a:extLst>
            </p:cNvPr>
            <p:cNvSpPr/>
            <p:nvPr/>
          </p:nvSpPr>
          <p:spPr>
            <a:xfrm>
              <a:off x="5942675" y="5859846"/>
              <a:ext cx="390853"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ab</a:t>
              </a:r>
              <a:endParaRPr lang="en-US" dirty="0"/>
            </a:p>
          </p:txBody>
        </p:sp>
        <p:sp>
          <p:nvSpPr>
            <p:cNvPr id="38" name="Text 30">
              <a:extLst>
                <a:ext uri="{FF2B5EF4-FFF2-40B4-BE49-F238E27FC236}">
                  <a16:creationId xmlns:a16="http://schemas.microsoft.com/office/drawing/2014/main" id="{E291968E-A56D-A6BE-22D1-E1C641139C2E}"/>
                </a:ext>
              </a:extLst>
            </p:cNvPr>
            <p:cNvSpPr/>
            <p:nvPr/>
          </p:nvSpPr>
          <p:spPr>
            <a:xfrm>
              <a:off x="6160378" y="5913991"/>
              <a:ext cx="1089793"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Noto Sans" pitchFamily="34" charset="0"/>
                  <a:ea typeface="Noto Sans" pitchFamily="34" charset="-122"/>
                  <a:cs typeface="Noto Sans" pitchFamily="34" charset="-120"/>
                </a:rPr>
                <a:t> mod p</a:t>
              </a:r>
              <a:endParaRPr lang="en-US" dirty="0"/>
            </a:p>
          </p:txBody>
        </p:sp>
      </p:grpSp>
    </p:spTree>
    <p:extLst>
      <p:ext uri="{BB962C8B-B14F-4D97-AF65-F5344CB8AC3E}">
        <p14:creationId xmlns:p14="http://schemas.microsoft.com/office/powerpoint/2010/main" val="891921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69F49-0CA7-B0D4-6ADC-DA1E011232C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A796784D-5BF2-E551-BA2C-F809D436B4E3}"/>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7ED5544E-4FEE-649D-2291-A108CBDC27E9}"/>
              </a:ext>
            </a:extLst>
          </p:cNvPr>
          <p:cNvGrpSpPr/>
          <p:nvPr/>
        </p:nvGrpSpPr>
        <p:grpSpPr>
          <a:xfrm>
            <a:off x="153148" y="808658"/>
            <a:ext cx="7381902" cy="977210"/>
            <a:chOff x="180042" y="928625"/>
            <a:chExt cx="7381902" cy="977210"/>
          </a:xfrm>
        </p:grpSpPr>
        <p:grpSp>
          <p:nvGrpSpPr>
            <p:cNvPr id="34" name="组合 3">
              <a:extLst>
                <a:ext uri="{FF2B5EF4-FFF2-40B4-BE49-F238E27FC236}">
                  <a16:creationId xmlns:a16="http://schemas.microsoft.com/office/drawing/2014/main" id="{170D55BD-F7ED-D30E-ACE3-BEAA27B12B61}"/>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76333F05-DD95-72DC-4BC9-4105D3044068}"/>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4199ACCE-45A9-A21F-400A-41D3B957166F}"/>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AA34F653-0E6B-05C9-73A8-92E8C5A4A9E7}"/>
                </a:ext>
              </a:extLst>
            </p:cNvPr>
            <p:cNvSpPr/>
            <p:nvPr/>
          </p:nvSpPr>
          <p:spPr>
            <a:xfrm>
              <a:off x="245030" y="951728"/>
              <a:ext cx="6793796" cy="954107"/>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Diffie-Hellman</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密钥交换协议</a:t>
              </a: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grpSp>
        <p:nvGrpSpPr>
          <p:cNvPr id="2" name="组合 1">
            <a:extLst>
              <a:ext uri="{FF2B5EF4-FFF2-40B4-BE49-F238E27FC236}">
                <a16:creationId xmlns:a16="http://schemas.microsoft.com/office/drawing/2014/main" id="{3D6B6952-32F2-6027-9868-9AF9F4FAF31B}"/>
              </a:ext>
            </a:extLst>
          </p:cNvPr>
          <p:cNvGrpSpPr/>
          <p:nvPr/>
        </p:nvGrpSpPr>
        <p:grpSpPr>
          <a:xfrm>
            <a:off x="218137" y="1785868"/>
            <a:ext cx="6211238" cy="4462532"/>
            <a:chOff x="1209069" y="1785868"/>
            <a:chExt cx="6658581" cy="4462532"/>
          </a:xfrm>
        </p:grpSpPr>
        <p:sp>
          <p:nvSpPr>
            <p:cNvPr id="3" name="Shape 1">
              <a:extLst>
                <a:ext uri="{FF2B5EF4-FFF2-40B4-BE49-F238E27FC236}">
                  <a16:creationId xmlns:a16="http://schemas.microsoft.com/office/drawing/2014/main" id="{9E7CA9DE-426D-621D-46F8-C4A4FF07E522}"/>
                </a:ext>
              </a:extLst>
            </p:cNvPr>
            <p:cNvSpPr/>
            <p:nvPr/>
          </p:nvSpPr>
          <p:spPr>
            <a:xfrm>
              <a:off x="1209069" y="1785868"/>
              <a:ext cx="6658581" cy="4462532"/>
            </a:xfrm>
            <a:prstGeom prst="rect">
              <a:avLst/>
            </a:prstGeom>
            <a:solidFill>
              <a:srgbClr val="F8F9FA"/>
            </a:solidFill>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4" name="Shape 2">
              <a:extLst>
                <a:ext uri="{FF2B5EF4-FFF2-40B4-BE49-F238E27FC236}">
                  <a16:creationId xmlns:a16="http://schemas.microsoft.com/office/drawing/2014/main" id="{6A210E7D-3044-B3AF-218C-9A6A5C4DAC1A}"/>
                </a:ext>
              </a:extLst>
            </p:cNvPr>
            <p:cNvSpPr/>
            <p:nvPr/>
          </p:nvSpPr>
          <p:spPr>
            <a:xfrm>
              <a:off x="1209069" y="1785868"/>
              <a:ext cx="67281" cy="4462532"/>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 3">
              <a:extLst>
                <a:ext uri="{FF2B5EF4-FFF2-40B4-BE49-F238E27FC236}">
                  <a16:creationId xmlns:a16="http://schemas.microsoft.com/office/drawing/2014/main" id="{03F029C5-374F-647D-43ED-1AAB275F5093}"/>
                </a:ext>
              </a:extLst>
            </p:cNvPr>
            <p:cNvSpPr/>
            <p:nvPr/>
          </p:nvSpPr>
          <p:spPr>
            <a:xfrm>
              <a:off x="1363323" y="1870565"/>
              <a:ext cx="3069751"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Diffie-Hellman</a:t>
              </a:r>
              <a:r>
                <a:rPr lang="zh-CN" altLang="en-US" b="1" dirty="0">
                  <a:solidFill>
                    <a:srgbClr val="2C3E50"/>
                  </a:solidFill>
                  <a:latin typeface="微软雅黑" panose="020B0503020204020204" pitchFamily="34" charset="-122"/>
                  <a:ea typeface="微软雅黑" panose="020B0503020204020204" pitchFamily="34" charset="-122"/>
                  <a:cs typeface="Noto Sans" pitchFamily="34" charset="-120"/>
                </a:rPr>
                <a:t>秘钥交换流程</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D67B7FE1-A781-D763-3786-D6A33C6AD3D2}"/>
                </a:ext>
              </a:extLst>
            </p:cNvPr>
            <p:cNvSpPr/>
            <p:nvPr/>
          </p:nvSpPr>
          <p:spPr>
            <a:xfrm>
              <a:off x="1363324" y="2474433"/>
              <a:ext cx="6202332" cy="3447098"/>
            </a:xfrm>
            <a:prstGeom prst="rect">
              <a:avLst/>
            </a:prstGeom>
            <a:noFill/>
            <a:ln/>
          </p:spPr>
          <p:txBody>
            <a:bodyPr wrap="square" lIns="0" tIns="0" rIns="0" bIns="0" rtlCol="0" anchor="ctr">
              <a:spAutoFit/>
            </a:bodyPr>
            <a:lstStyle/>
            <a:p>
              <a:r>
                <a:rPr lang="zh-CN" altLang="en-US" sz="1600" b="1" dirty="0">
                  <a:solidFill>
                    <a:srgbClr val="5F7181"/>
                  </a:solidFill>
                  <a:latin typeface="微软雅黑" panose="020B0503020204020204" pitchFamily="34" charset="-122"/>
                  <a:ea typeface="微软雅黑" panose="020B0503020204020204" pitchFamily="34" charset="-122"/>
                </a:rPr>
                <a:t>参数准备</a:t>
              </a:r>
              <a:endParaRPr lang="zh-CN" altLang="en-US" sz="1600" dirty="0">
                <a:solidFill>
                  <a:srgbClr val="5F7181"/>
                </a:solidFill>
                <a:latin typeface="微软雅黑" panose="020B0503020204020204" pitchFamily="34" charset="-122"/>
                <a:ea typeface="微软雅黑" panose="020B0503020204020204" pitchFamily="34" charset="-122"/>
              </a:endParaRPr>
            </a:p>
            <a:p>
              <a:pPr lvl="1"/>
              <a:r>
                <a:rPr lang="zh-CN" altLang="en-US" sz="1600" dirty="0">
                  <a:solidFill>
                    <a:srgbClr val="5F7181"/>
                  </a:solidFill>
                  <a:latin typeface="微软雅黑" panose="020B0503020204020204" pitchFamily="34" charset="-122"/>
                  <a:ea typeface="微软雅黑" panose="020B0503020204020204" pitchFamily="34" charset="-122"/>
                </a:rPr>
                <a:t>双方公开选定两个参数：</a:t>
              </a:r>
            </a:p>
            <a:p>
              <a:pPr lvl="2"/>
              <a:r>
                <a:rPr lang="zh-CN" altLang="en-US" sz="1600" dirty="0">
                  <a:solidFill>
                    <a:srgbClr val="5F7181"/>
                  </a:solidFill>
                  <a:latin typeface="微软雅黑" panose="020B0503020204020204" pitchFamily="34" charset="-122"/>
                  <a:ea typeface="微软雅黑" panose="020B0503020204020204" pitchFamily="34" charset="-122"/>
                </a:rPr>
                <a:t>一个大素数 </a:t>
              </a:r>
              <a:r>
                <a:rPr lang="en-US" altLang="zh-CN" sz="1600" b="1" dirty="0">
                  <a:solidFill>
                    <a:srgbClr val="5F7181"/>
                  </a:solidFill>
                  <a:latin typeface="微软雅黑" panose="020B0503020204020204" pitchFamily="34" charset="-122"/>
                  <a:ea typeface="微软雅黑" panose="020B0503020204020204" pitchFamily="34" charset="-122"/>
                </a:rPr>
                <a:t>p</a:t>
              </a:r>
              <a:r>
                <a:rPr lang="zh-CN" altLang="en-US" sz="1600" dirty="0">
                  <a:solidFill>
                    <a:srgbClr val="5F7181"/>
                  </a:solidFill>
                  <a:latin typeface="微软雅黑" panose="020B0503020204020204" pitchFamily="34" charset="-122"/>
                  <a:ea typeface="微软雅黑" panose="020B0503020204020204" pitchFamily="34" charset="-122"/>
                </a:rPr>
                <a:t>（模数）</a:t>
              </a:r>
            </a:p>
            <a:p>
              <a:pPr lvl="2"/>
              <a:r>
                <a:rPr lang="zh-CN" altLang="en-US" sz="1600" dirty="0">
                  <a:solidFill>
                    <a:srgbClr val="5F7181"/>
                  </a:solidFill>
                  <a:latin typeface="微软雅黑" panose="020B0503020204020204" pitchFamily="34" charset="-122"/>
                  <a:ea typeface="微软雅黑" panose="020B0503020204020204" pitchFamily="34" charset="-122"/>
                </a:rPr>
                <a:t>一个整数 </a:t>
              </a:r>
              <a:r>
                <a:rPr lang="en-US" altLang="zh-CN" sz="1600" b="1" dirty="0">
                  <a:solidFill>
                    <a:srgbClr val="5F7181"/>
                  </a:solidFill>
                  <a:latin typeface="微软雅黑" panose="020B0503020204020204" pitchFamily="34" charset="-122"/>
                  <a:ea typeface="微软雅黑" panose="020B0503020204020204" pitchFamily="34" charset="-122"/>
                </a:rPr>
                <a:t>g</a:t>
              </a:r>
              <a:r>
                <a:rPr lang="zh-CN" altLang="en-US" sz="1600" dirty="0">
                  <a:solidFill>
                    <a:srgbClr val="5F7181"/>
                  </a:solidFill>
                  <a:latin typeface="微软雅黑" panose="020B0503020204020204" pitchFamily="34" charset="-122"/>
                  <a:ea typeface="微软雅黑" panose="020B0503020204020204" pitchFamily="34" charset="-122"/>
                </a:rPr>
                <a:t>（原根，</a:t>
              </a:r>
              <a:r>
                <a:rPr lang="en-US" altLang="zh-CN" sz="1600" dirty="0">
                  <a:solidFill>
                    <a:srgbClr val="5F7181"/>
                  </a:solidFill>
                  <a:latin typeface="微软雅黑" panose="020B0503020204020204" pitchFamily="34" charset="-122"/>
                  <a:ea typeface="微软雅黑" panose="020B0503020204020204" pitchFamily="34" charset="-122"/>
                </a:rPr>
                <a:t>1 &lt; g &lt; p</a:t>
              </a:r>
              <a:r>
                <a:rPr lang="zh-CN" altLang="en-US" sz="1600" dirty="0">
                  <a:solidFill>
                    <a:srgbClr val="5F7181"/>
                  </a:solidFill>
                  <a:latin typeface="微软雅黑" panose="020B0503020204020204" pitchFamily="34" charset="-122"/>
                  <a:ea typeface="微软雅黑" panose="020B0503020204020204" pitchFamily="34" charset="-122"/>
                </a:rPr>
                <a:t>）</a:t>
              </a:r>
            </a:p>
            <a:p>
              <a:r>
                <a:rPr lang="zh-CN" altLang="en-US" sz="1600" b="1" dirty="0">
                  <a:solidFill>
                    <a:srgbClr val="5F7181"/>
                  </a:solidFill>
                  <a:latin typeface="微软雅黑" panose="020B0503020204020204" pitchFamily="34" charset="-122"/>
                  <a:ea typeface="微软雅黑" panose="020B0503020204020204" pitchFamily="34" charset="-122"/>
                </a:rPr>
                <a:t>生成私钥</a:t>
              </a:r>
              <a:endParaRPr lang="zh-CN" altLang="en-US" sz="1600" dirty="0">
                <a:solidFill>
                  <a:srgbClr val="5F7181"/>
                </a:solidFill>
                <a:latin typeface="微软雅黑" panose="020B0503020204020204" pitchFamily="34" charset="-122"/>
                <a:ea typeface="微软雅黑" panose="020B0503020204020204" pitchFamily="34" charset="-122"/>
              </a:endParaRPr>
            </a:p>
            <a:p>
              <a:pPr lvl="1"/>
              <a:r>
                <a:rPr lang="en-US" altLang="zh-CN" sz="1600" dirty="0">
                  <a:solidFill>
                    <a:srgbClr val="5F7181"/>
                  </a:solidFill>
                  <a:latin typeface="微软雅黑" panose="020B0503020204020204" pitchFamily="34" charset="-122"/>
                  <a:ea typeface="微软雅黑" panose="020B0503020204020204" pitchFamily="34" charset="-122"/>
                </a:rPr>
                <a:t>Alice</a:t>
              </a:r>
              <a:r>
                <a:rPr lang="zh-CN" altLang="en-US" sz="1600" dirty="0">
                  <a:solidFill>
                    <a:srgbClr val="5F7181"/>
                  </a:solidFill>
                  <a:latin typeface="微软雅黑" panose="020B0503020204020204" pitchFamily="34" charset="-122"/>
                  <a:ea typeface="微软雅黑" panose="020B0503020204020204" pitchFamily="34" charset="-122"/>
                </a:rPr>
                <a:t>随机选择私钥 </a:t>
              </a:r>
              <a:r>
                <a:rPr lang="en-US" altLang="zh-CN" sz="1600" b="1" dirty="0">
                  <a:solidFill>
                    <a:srgbClr val="5F7181"/>
                  </a:solidFill>
                  <a:latin typeface="微软雅黑" panose="020B0503020204020204" pitchFamily="34" charset="-122"/>
                  <a:ea typeface="微软雅黑" panose="020B0503020204020204" pitchFamily="34" charset="-122"/>
                </a:rPr>
                <a:t>a</a:t>
              </a:r>
              <a:r>
                <a:rPr lang="zh-CN" altLang="en-US" sz="1600" dirty="0">
                  <a:solidFill>
                    <a:srgbClr val="5F7181"/>
                  </a:solidFill>
                  <a:latin typeface="微软雅黑" panose="020B0503020204020204" pitchFamily="34" charset="-122"/>
                  <a:ea typeface="微软雅黑" panose="020B0503020204020204" pitchFamily="34" charset="-122"/>
                </a:rPr>
                <a:t>，</a:t>
              </a:r>
              <a:r>
                <a:rPr lang="en-US" altLang="zh-CN" sz="1600" dirty="0">
                  <a:solidFill>
                    <a:srgbClr val="5F7181"/>
                  </a:solidFill>
                  <a:latin typeface="微软雅黑" panose="020B0503020204020204" pitchFamily="34" charset="-122"/>
                  <a:ea typeface="微软雅黑" panose="020B0503020204020204" pitchFamily="34" charset="-122"/>
                </a:rPr>
                <a:t>Bob</a:t>
              </a:r>
              <a:r>
                <a:rPr lang="zh-CN" altLang="en-US" sz="1600" dirty="0">
                  <a:solidFill>
                    <a:srgbClr val="5F7181"/>
                  </a:solidFill>
                  <a:latin typeface="微软雅黑" panose="020B0503020204020204" pitchFamily="34" charset="-122"/>
                  <a:ea typeface="微软雅黑" panose="020B0503020204020204" pitchFamily="34" charset="-122"/>
                </a:rPr>
                <a:t>随机选择私钥 </a:t>
              </a:r>
              <a:r>
                <a:rPr lang="en-US" altLang="zh-CN" sz="1600" b="1" dirty="0">
                  <a:solidFill>
                    <a:srgbClr val="5F7181"/>
                  </a:solidFill>
                  <a:latin typeface="微软雅黑" panose="020B0503020204020204" pitchFamily="34" charset="-122"/>
                  <a:ea typeface="微软雅黑" panose="020B0503020204020204" pitchFamily="34" charset="-122"/>
                </a:rPr>
                <a:t>b</a:t>
              </a:r>
              <a:r>
                <a:rPr lang="zh-CN" altLang="en-US" sz="1600" dirty="0">
                  <a:solidFill>
                    <a:srgbClr val="5F7181"/>
                  </a:solidFill>
                  <a:latin typeface="微软雅黑" panose="020B0503020204020204" pitchFamily="34" charset="-122"/>
                  <a:ea typeface="微软雅黑" panose="020B0503020204020204" pitchFamily="34" charset="-122"/>
                </a:rPr>
                <a:t>（均保密）</a:t>
              </a:r>
            </a:p>
            <a:p>
              <a:r>
                <a:rPr lang="zh-CN" altLang="en-US" sz="1600" b="1" dirty="0">
                  <a:solidFill>
                    <a:srgbClr val="5F7181"/>
                  </a:solidFill>
                  <a:latin typeface="微软雅黑" panose="020B0503020204020204" pitchFamily="34" charset="-122"/>
                  <a:ea typeface="微软雅黑" panose="020B0503020204020204" pitchFamily="34" charset="-122"/>
                </a:rPr>
                <a:t>计算公钥</a:t>
              </a:r>
              <a:endParaRPr lang="zh-CN" altLang="en-US" sz="1600" dirty="0">
                <a:solidFill>
                  <a:srgbClr val="5F7181"/>
                </a:solidFill>
                <a:latin typeface="微软雅黑" panose="020B0503020204020204" pitchFamily="34" charset="-122"/>
                <a:ea typeface="微软雅黑" panose="020B0503020204020204" pitchFamily="34" charset="-122"/>
              </a:endParaRPr>
            </a:p>
            <a:p>
              <a:pPr lvl="1"/>
              <a:r>
                <a:rPr lang="en-US" altLang="zh-CN" sz="1600" dirty="0">
                  <a:solidFill>
                    <a:srgbClr val="5F7181"/>
                  </a:solidFill>
                  <a:latin typeface="微软雅黑" panose="020B0503020204020204" pitchFamily="34" charset="-122"/>
                  <a:ea typeface="微软雅黑" panose="020B0503020204020204" pitchFamily="34" charset="-122"/>
                </a:rPr>
                <a:t>Alice</a:t>
              </a:r>
              <a:r>
                <a:rPr lang="zh-CN" altLang="en-US" sz="1600" dirty="0">
                  <a:solidFill>
                    <a:srgbClr val="5F7181"/>
                  </a:solidFill>
                  <a:latin typeface="微软雅黑" panose="020B0503020204020204" pitchFamily="34" charset="-122"/>
                  <a:ea typeface="微软雅黑" panose="020B0503020204020204" pitchFamily="34" charset="-122"/>
                </a:rPr>
                <a:t>计算公钥 </a:t>
              </a:r>
              <a:r>
                <a:rPr lang="en-US" altLang="zh-CN" sz="1600" b="1" dirty="0">
                  <a:solidFill>
                    <a:srgbClr val="5F7181"/>
                  </a:solidFill>
                  <a:latin typeface="微软雅黑" panose="020B0503020204020204" pitchFamily="34" charset="-122"/>
                  <a:ea typeface="微软雅黑" panose="020B0503020204020204" pitchFamily="34" charset="-122"/>
                </a:rPr>
                <a:t>A = gᵃ mod p</a:t>
              </a:r>
              <a:r>
                <a:rPr lang="zh-CN" altLang="en-US" sz="1600" dirty="0">
                  <a:solidFill>
                    <a:srgbClr val="5F7181"/>
                  </a:solidFill>
                  <a:latin typeface="微软雅黑" panose="020B0503020204020204" pitchFamily="34" charset="-122"/>
                  <a:ea typeface="微软雅黑" panose="020B0503020204020204" pitchFamily="34" charset="-122"/>
                </a:rPr>
                <a:t> → 发送给</a:t>
              </a:r>
              <a:r>
                <a:rPr lang="en-US" altLang="zh-CN" sz="1600" dirty="0">
                  <a:solidFill>
                    <a:srgbClr val="5F7181"/>
                  </a:solidFill>
                  <a:latin typeface="微软雅黑" panose="020B0503020204020204" pitchFamily="34" charset="-122"/>
                  <a:ea typeface="微软雅黑" panose="020B0503020204020204" pitchFamily="34" charset="-122"/>
                </a:rPr>
                <a:t>Bob</a:t>
              </a:r>
            </a:p>
            <a:p>
              <a:pPr lvl="1"/>
              <a:r>
                <a:rPr lang="en-US" altLang="zh-CN" sz="1600" dirty="0">
                  <a:solidFill>
                    <a:srgbClr val="5F7181"/>
                  </a:solidFill>
                  <a:latin typeface="微软雅黑" panose="020B0503020204020204" pitchFamily="34" charset="-122"/>
                  <a:ea typeface="微软雅黑" panose="020B0503020204020204" pitchFamily="34" charset="-122"/>
                </a:rPr>
                <a:t>Bob</a:t>
              </a:r>
              <a:r>
                <a:rPr lang="zh-CN" altLang="en-US" sz="1600" dirty="0">
                  <a:solidFill>
                    <a:srgbClr val="5F7181"/>
                  </a:solidFill>
                  <a:latin typeface="微软雅黑" panose="020B0503020204020204" pitchFamily="34" charset="-122"/>
                  <a:ea typeface="微软雅黑" panose="020B0503020204020204" pitchFamily="34" charset="-122"/>
                </a:rPr>
                <a:t>计算公钥 </a:t>
              </a:r>
              <a:r>
                <a:rPr lang="en-US" altLang="zh-CN" sz="1600" b="1" dirty="0">
                  <a:solidFill>
                    <a:srgbClr val="5F7181"/>
                  </a:solidFill>
                  <a:latin typeface="微软雅黑" panose="020B0503020204020204" pitchFamily="34" charset="-122"/>
                  <a:ea typeface="微软雅黑" panose="020B0503020204020204" pitchFamily="34" charset="-122"/>
                </a:rPr>
                <a:t>B = gᵇ mod p</a:t>
              </a:r>
              <a:r>
                <a:rPr lang="zh-CN" altLang="en-US" sz="1600" dirty="0">
                  <a:solidFill>
                    <a:srgbClr val="5F7181"/>
                  </a:solidFill>
                  <a:latin typeface="微软雅黑" panose="020B0503020204020204" pitchFamily="34" charset="-122"/>
                  <a:ea typeface="微软雅黑" panose="020B0503020204020204" pitchFamily="34" charset="-122"/>
                </a:rPr>
                <a:t> → 发送给</a:t>
              </a:r>
              <a:r>
                <a:rPr lang="en-US" altLang="zh-CN" sz="1600" dirty="0">
                  <a:solidFill>
                    <a:srgbClr val="5F7181"/>
                  </a:solidFill>
                  <a:latin typeface="微软雅黑" panose="020B0503020204020204" pitchFamily="34" charset="-122"/>
                  <a:ea typeface="微软雅黑" panose="020B0503020204020204" pitchFamily="34" charset="-122"/>
                </a:rPr>
                <a:t>Alice</a:t>
              </a:r>
            </a:p>
            <a:p>
              <a:r>
                <a:rPr lang="zh-CN" altLang="en-US" sz="1600" b="1" dirty="0">
                  <a:solidFill>
                    <a:srgbClr val="5F7181"/>
                  </a:solidFill>
                  <a:latin typeface="微软雅黑" panose="020B0503020204020204" pitchFamily="34" charset="-122"/>
                  <a:ea typeface="微软雅黑" panose="020B0503020204020204" pitchFamily="34" charset="-122"/>
                </a:rPr>
                <a:t>共享密钥生成</a:t>
              </a:r>
              <a:endParaRPr lang="zh-CN" altLang="en-US" sz="1600" dirty="0">
                <a:solidFill>
                  <a:srgbClr val="5F7181"/>
                </a:solidFill>
                <a:latin typeface="微软雅黑" panose="020B0503020204020204" pitchFamily="34" charset="-122"/>
                <a:ea typeface="微软雅黑" panose="020B0503020204020204" pitchFamily="34" charset="-122"/>
              </a:endParaRPr>
            </a:p>
            <a:p>
              <a:pPr lvl="1"/>
              <a:r>
                <a:rPr lang="en-US" altLang="zh-CN" sz="1600" dirty="0">
                  <a:solidFill>
                    <a:srgbClr val="5F7181"/>
                  </a:solidFill>
                  <a:latin typeface="微软雅黑" panose="020B0503020204020204" pitchFamily="34" charset="-122"/>
                  <a:ea typeface="微软雅黑" panose="020B0503020204020204" pitchFamily="34" charset="-122"/>
                </a:rPr>
                <a:t>Alice</a:t>
              </a:r>
              <a:r>
                <a:rPr lang="zh-CN" altLang="en-US" sz="1600" dirty="0">
                  <a:solidFill>
                    <a:srgbClr val="5F7181"/>
                  </a:solidFill>
                  <a:latin typeface="微软雅黑" panose="020B0503020204020204" pitchFamily="34" charset="-122"/>
                  <a:ea typeface="微软雅黑" panose="020B0503020204020204" pitchFamily="34" charset="-122"/>
                </a:rPr>
                <a:t>计算共享密钥：</a:t>
              </a:r>
              <a:r>
                <a:rPr lang="en-US" altLang="zh-CN" sz="1600" b="1" dirty="0">
                  <a:solidFill>
                    <a:srgbClr val="5F7181"/>
                  </a:solidFill>
                  <a:latin typeface="微软雅黑" panose="020B0503020204020204" pitchFamily="34" charset="-122"/>
                  <a:ea typeface="微软雅黑" panose="020B0503020204020204" pitchFamily="34" charset="-122"/>
                </a:rPr>
                <a:t>K = Bᵃ mod p = (gᵇ)ᵃ mod p</a:t>
              </a:r>
              <a:endParaRPr lang="zh-CN" altLang="en-US" sz="1600" dirty="0">
                <a:solidFill>
                  <a:srgbClr val="5F7181"/>
                </a:solidFill>
                <a:latin typeface="微软雅黑" panose="020B0503020204020204" pitchFamily="34" charset="-122"/>
                <a:ea typeface="微软雅黑" panose="020B0503020204020204" pitchFamily="34" charset="-122"/>
              </a:endParaRPr>
            </a:p>
            <a:p>
              <a:pPr lvl="1"/>
              <a:r>
                <a:rPr lang="en-US" altLang="zh-CN" sz="1600" dirty="0">
                  <a:solidFill>
                    <a:srgbClr val="5F7181"/>
                  </a:solidFill>
                  <a:latin typeface="微软雅黑" panose="020B0503020204020204" pitchFamily="34" charset="-122"/>
                  <a:ea typeface="微软雅黑" panose="020B0503020204020204" pitchFamily="34" charset="-122"/>
                </a:rPr>
                <a:t>Bob</a:t>
              </a:r>
              <a:r>
                <a:rPr lang="zh-CN" altLang="en-US" sz="1600" dirty="0">
                  <a:solidFill>
                    <a:srgbClr val="5F7181"/>
                  </a:solidFill>
                  <a:latin typeface="微软雅黑" panose="020B0503020204020204" pitchFamily="34" charset="-122"/>
                  <a:ea typeface="微软雅黑" panose="020B0503020204020204" pitchFamily="34" charset="-122"/>
                </a:rPr>
                <a:t>计算共享密钥：</a:t>
              </a:r>
              <a:r>
                <a:rPr lang="en-US" altLang="zh-CN" sz="1600" b="1" dirty="0">
                  <a:solidFill>
                    <a:srgbClr val="5F7181"/>
                  </a:solidFill>
                  <a:latin typeface="微软雅黑" panose="020B0503020204020204" pitchFamily="34" charset="-122"/>
                  <a:ea typeface="微软雅黑" panose="020B0503020204020204" pitchFamily="34" charset="-122"/>
                </a:rPr>
                <a:t>K = Aᵇ mod p = (gᵃ)ᵇ mod p</a:t>
              </a:r>
              <a:endParaRPr lang="zh-CN" altLang="en-US" sz="1600" dirty="0">
                <a:solidFill>
                  <a:srgbClr val="5F7181"/>
                </a:solidFill>
                <a:latin typeface="微软雅黑" panose="020B0503020204020204" pitchFamily="34" charset="-122"/>
                <a:ea typeface="微软雅黑" panose="020B0503020204020204" pitchFamily="34" charset="-122"/>
              </a:endParaRPr>
            </a:p>
            <a:p>
              <a:r>
                <a:rPr lang="zh-CN" altLang="en-US" sz="1600" b="1" dirty="0">
                  <a:solidFill>
                    <a:srgbClr val="5F7181"/>
                  </a:solidFill>
                  <a:latin typeface="微软雅黑" panose="020B0503020204020204" pitchFamily="34" charset="-122"/>
                  <a:ea typeface="微软雅黑" panose="020B0503020204020204" pitchFamily="34" charset="-122"/>
                </a:rPr>
                <a:t>结果验证</a:t>
              </a:r>
              <a:endParaRPr lang="zh-CN" altLang="en-US" sz="1600" dirty="0">
                <a:solidFill>
                  <a:srgbClr val="5F7181"/>
                </a:solidFill>
                <a:latin typeface="微软雅黑" panose="020B0503020204020204" pitchFamily="34" charset="-122"/>
                <a:ea typeface="微软雅黑" panose="020B0503020204020204" pitchFamily="34" charset="-122"/>
              </a:endParaRPr>
            </a:p>
            <a:p>
              <a:pPr lvl="1"/>
              <a:r>
                <a:rPr lang="zh-CN" altLang="en-US" sz="1600" dirty="0">
                  <a:solidFill>
                    <a:srgbClr val="5F7181"/>
                  </a:solidFill>
                  <a:latin typeface="微软雅黑" panose="020B0503020204020204" pitchFamily="34" charset="-122"/>
                  <a:ea typeface="微软雅黑" panose="020B0503020204020204" pitchFamily="34" charset="-122"/>
                </a:rPr>
                <a:t>双方得到相同的 </a:t>
              </a:r>
              <a:r>
                <a:rPr lang="en-US" altLang="zh-CN" sz="1600" b="1" dirty="0">
                  <a:solidFill>
                    <a:srgbClr val="5F7181"/>
                  </a:solidFill>
                  <a:latin typeface="微软雅黑" panose="020B0503020204020204" pitchFamily="34" charset="-122"/>
                  <a:ea typeface="微软雅黑" panose="020B0503020204020204" pitchFamily="34" charset="-122"/>
                </a:rPr>
                <a:t>K</a:t>
              </a:r>
              <a:r>
                <a:rPr lang="zh-CN" altLang="en-US" sz="1600" dirty="0">
                  <a:solidFill>
                    <a:srgbClr val="5F7181"/>
                  </a:solidFill>
                  <a:latin typeface="微软雅黑" panose="020B0503020204020204" pitchFamily="34" charset="-122"/>
                  <a:ea typeface="微软雅黑" panose="020B0503020204020204" pitchFamily="34" charset="-122"/>
                </a:rPr>
                <a:t>（因数学原理：</a:t>
              </a:r>
              <a:r>
                <a:rPr lang="en-US" altLang="zh-CN" sz="1600" dirty="0">
                  <a:solidFill>
                    <a:srgbClr val="5F7181"/>
                  </a:solidFill>
                  <a:latin typeface="微软雅黑" panose="020B0503020204020204" pitchFamily="34" charset="-122"/>
                  <a:ea typeface="微软雅黑" panose="020B0503020204020204" pitchFamily="34" charset="-122"/>
                </a:rPr>
                <a:t>gᵃᵇ mod p = gᵇᵃ mod p</a:t>
              </a:r>
              <a:r>
                <a:rPr lang="zh-CN" altLang="en-US" sz="1600" dirty="0">
                  <a:solidFill>
                    <a:srgbClr val="5F7181"/>
                  </a:solidFill>
                  <a:latin typeface="微软雅黑" panose="020B0503020204020204" pitchFamily="34" charset="-122"/>
                  <a:ea typeface="微软雅黑" panose="020B0503020204020204" pitchFamily="34" charset="-122"/>
                </a:rPr>
                <a:t>）</a:t>
              </a:r>
            </a:p>
          </p:txBody>
        </p:sp>
      </p:grpSp>
      <p:pic>
        <p:nvPicPr>
          <p:cNvPr id="39" name="Image 1" descr="preencoded.png">
            <a:extLst>
              <a:ext uri="{FF2B5EF4-FFF2-40B4-BE49-F238E27FC236}">
                <a16:creationId xmlns:a16="http://schemas.microsoft.com/office/drawing/2014/main" id="{A08F888C-F4F3-063F-7CA1-C6B3FD28200D}"/>
              </a:ext>
            </a:extLst>
          </p:cNvPr>
          <p:cNvPicPr>
            <a:picLocks noChangeAspect="1"/>
          </p:cNvPicPr>
          <p:nvPr/>
        </p:nvPicPr>
        <p:blipFill>
          <a:blip r:embed="rId3"/>
          <a:srcRect l="4315" r="3315"/>
          <a:stretch>
            <a:fillRect/>
          </a:stretch>
        </p:blipFill>
        <p:spPr>
          <a:xfrm>
            <a:off x="6510506" y="2695179"/>
            <a:ext cx="5505450" cy="2110509"/>
          </a:xfrm>
          <a:prstGeom prst="rect">
            <a:avLst/>
          </a:prstGeom>
        </p:spPr>
      </p:pic>
    </p:spTree>
    <p:extLst>
      <p:ext uri="{BB962C8B-B14F-4D97-AF65-F5344CB8AC3E}">
        <p14:creationId xmlns:p14="http://schemas.microsoft.com/office/powerpoint/2010/main" val="576349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173C0-5F73-49DD-9821-9EF52A194EF0}"/>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78C87FAF-897C-7CF0-AD8C-C15DD5605481}"/>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63EE2DD2-F04C-AE0B-589C-1AA8D9AA2372}"/>
              </a:ext>
            </a:extLst>
          </p:cNvPr>
          <p:cNvGrpSpPr/>
          <p:nvPr/>
        </p:nvGrpSpPr>
        <p:grpSpPr>
          <a:xfrm>
            <a:off x="153148" y="808658"/>
            <a:ext cx="7381902" cy="977210"/>
            <a:chOff x="180042" y="928625"/>
            <a:chExt cx="7381902" cy="977210"/>
          </a:xfrm>
        </p:grpSpPr>
        <p:grpSp>
          <p:nvGrpSpPr>
            <p:cNvPr id="34" name="组合 3">
              <a:extLst>
                <a:ext uri="{FF2B5EF4-FFF2-40B4-BE49-F238E27FC236}">
                  <a16:creationId xmlns:a16="http://schemas.microsoft.com/office/drawing/2014/main" id="{93A1D583-0540-5BC2-4655-183DB5147642}"/>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A5990C25-0760-E732-62CC-8C35FBD09340}"/>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B2294403-A00F-8510-318E-0CF277CD49B4}"/>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0FEBCDF0-7FB7-5EE0-C575-5E4E2A965CC9}"/>
                </a:ext>
              </a:extLst>
            </p:cNvPr>
            <p:cNvSpPr/>
            <p:nvPr/>
          </p:nvSpPr>
          <p:spPr>
            <a:xfrm>
              <a:off x="245030" y="951728"/>
              <a:ext cx="6793796" cy="954107"/>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Diffie-Hellman</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密钥交换协议</a:t>
              </a: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pSp>
      <p:grpSp>
        <p:nvGrpSpPr>
          <p:cNvPr id="7" name="组合 6">
            <a:extLst>
              <a:ext uri="{FF2B5EF4-FFF2-40B4-BE49-F238E27FC236}">
                <a16:creationId xmlns:a16="http://schemas.microsoft.com/office/drawing/2014/main" id="{02DEA151-507A-0DC0-2C33-1C5658BD5BBB}"/>
              </a:ext>
            </a:extLst>
          </p:cNvPr>
          <p:cNvGrpSpPr/>
          <p:nvPr/>
        </p:nvGrpSpPr>
        <p:grpSpPr>
          <a:xfrm>
            <a:off x="247696" y="1808971"/>
            <a:ext cx="5124405" cy="4178815"/>
            <a:chOff x="400050" y="814388"/>
            <a:chExt cx="2552346" cy="2586037"/>
          </a:xfrm>
        </p:grpSpPr>
        <p:sp>
          <p:nvSpPr>
            <p:cNvPr id="8" name="Shape 1">
              <a:extLst>
                <a:ext uri="{FF2B5EF4-FFF2-40B4-BE49-F238E27FC236}">
                  <a16:creationId xmlns:a16="http://schemas.microsoft.com/office/drawing/2014/main" id="{5743F3B6-D723-23EB-6E04-BE827D68E900}"/>
                </a:ext>
              </a:extLst>
            </p:cNvPr>
            <p:cNvSpPr/>
            <p:nvPr/>
          </p:nvSpPr>
          <p:spPr>
            <a:xfrm>
              <a:off x="400050" y="814388"/>
              <a:ext cx="2552346" cy="1350169"/>
            </a:xfrm>
            <a:prstGeom prst="rect">
              <a:avLst/>
            </a:prstGeom>
            <a:solidFill>
              <a:srgbClr val="F8F9FA"/>
            </a:solidFill>
            <a:ln/>
          </p:spPr>
        </p:sp>
        <p:sp>
          <p:nvSpPr>
            <p:cNvPr id="9" name="Shape 2">
              <a:extLst>
                <a:ext uri="{FF2B5EF4-FFF2-40B4-BE49-F238E27FC236}">
                  <a16:creationId xmlns:a16="http://schemas.microsoft.com/office/drawing/2014/main" id="{58A86E81-A28E-BADD-BA22-1B597C50BAB3}"/>
                </a:ext>
              </a:extLst>
            </p:cNvPr>
            <p:cNvSpPr/>
            <p:nvPr/>
          </p:nvSpPr>
          <p:spPr>
            <a:xfrm>
              <a:off x="400050" y="814388"/>
              <a:ext cx="28575" cy="1350169"/>
            </a:xfrm>
            <a:prstGeom prst="rect">
              <a:avLst/>
            </a:prstGeom>
            <a:solidFill>
              <a:srgbClr val="3498DB"/>
            </a:solidFill>
            <a:ln/>
          </p:spPr>
        </p:sp>
        <p:sp>
          <p:nvSpPr>
            <p:cNvPr id="10" name="Text 3">
              <a:extLst>
                <a:ext uri="{FF2B5EF4-FFF2-40B4-BE49-F238E27FC236}">
                  <a16:creationId xmlns:a16="http://schemas.microsoft.com/office/drawing/2014/main" id="{C7F9E929-9078-1628-C7E6-A8BC1AD5245C}"/>
                </a:ext>
              </a:extLst>
            </p:cNvPr>
            <p:cNvSpPr/>
            <p:nvPr/>
          </p:nvSpPr>
          <p:spPr>
            <a:xfrm>
              <a:off x="471488" y="896555"/>
              <a:ext cx="1887461" cy="17141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Diffie-Hellman在实际协议中的应用</a:t>
              </a:r>
              <a:endParaRPr lang="en-US" dirty="0">
                <a:latin typeface="微软雅黑" panose="020B0503020204020204" pitchFamily="34" charset="-122"/>
                <a:ea typeface="微软雅黑" panose="020B0503020204020204" pitchFamily="34" charset="-122"/>
              </a:endParaRPr>
            </a:p>
          </p:txBody>
        </p:sp>
        <p:sp>
          <p:nvSpPr>
            <p:cNvPr id="11" name="Text 4">
              <a:extLst>
                <a:ext uri="{FF2B5EF4-FFF2-40B4-BE49-F238E27FC236}">
                  <a16:creationId xmlns:a16="http://schemas.microsoft.com/office/drawing/2014/main" id="{66E871DF-7528-7D25-5709-C10725382868}"/>
                </a:ext>
              </a:extLst>
            </p:cNvPr>
            <p:cNvSpPr/>
            <p:nvPr/>
          </p:nvSpPr>
          <p:spPr>
            <a:xfrm>
              <a:off x="614363" y="1120693"/>
              <a:ext cx="460687"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TLS/SSL</a:t>
              </a:r>
              <a:endParaRPr lang="en-US" dirty="0">
                <a:latin typeface="微软雅黑" panose="020B0503020204020204" pitchFamily="34" charset="-122"/>
                <a:ea typeface="微软雅黑" panose="020B0503020204020204" pitchFamily="34" charset="-122"/>
              </a:endParaRPr>
            </a:p>
          </p:txBody>
        </p:sp>
        <p:sp>
          <p:nvSpPr>
            <p:cNvPr id="13" name="Text 5">
              <a:extLst>
                <a:ext uri="{FF2B5EF4-FFF2-40B4-BE49-F238E27FC236}">
                  <a16:creationId xmlns:a16="http://schemas.microsoft.com/office/drawing/2014/main" id="{9F2E8ABE-B7DF-8E62-DEEC-9C7CD6CCF722}"/>
                </a:ext>
              </a:extLst>
            </p:cNvPr>
            <p:cNvSpPr/>
            <p:nvPr/>
          </p:nvSpPr>
          <p:spPr>
            <a:xfrm>
              <a:off x="1045862" y="1120693"/>
              <a:ext cx="1632989"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：用于Web安全通信的密钥协商</a:t>
              </a:r>
              <a:endParaRPr lang="en-US" dirty="0">
                <a:latin typeface="微软雅黑" panose="020B0503020204020204" pitchFamily="34" charset="-122"/>
                <a:ea typeface="微软雅黑" panose="020B0503020204020204" pitchFamily="34" charset="-122"/>
              </a:endParaRPr>
            </a:p>
          </p:txBody>
        </p:sp>
        <p:sp>
          <p:nvSpPr>
            <p:cNvPr id="14" name="Text 6">
              <a:extLst>
                <a:ext uri="{FF2B5EF4-FFF2-40B4-BE49-F238E27FC236}">
                  <a16:creationId xmlns:a16="http://schemas.microsoft.com/office/drawing/2014/main" id="{305B3F9B-36F7-301F-0DA8-F9D31E7EC830}"/>
                </a:ext>
              </a:extLst>
            </p:cNvPr>
            <p:cNvSpPr/>
            <p:nvPr/>
          </p:nvSpPr>
          <p:spPr>
            <a:xfrm>
              <a:off x="614363" y="1320716"/>
              <a:ext cx="297012"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IPsec</a:t>
              </a:r>
              <a:endParaRPr lang="en-US" dirty="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707DABCB-3FE7-52D0-7CEC-346283A4F395}"/>
                </a:ext>
              </a:extLst>
            </p:cNvPr>
            <p:cNvSpPr/>
            <p:nvPr/>
          </p:nvSpPr>
          <p:spPr>
            <a:xfrm>
              <a:off x="913730" y="1320716"/>
              <a:ext cx="1609611"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：网络层安全协议中的密钥交换</a:t>
              </a:r>
              <a:endParaRPr lang="en-US" dirty="0">
                <a:latin typeface="微软雅黑" panose="020B0503020204020204" pitchFamily="34" charset="-122"/>
                <a:ea typeface="微软雅黑" panose="020B0503020204020204" pitchFamily="34" charset="-122"/>
              </a:endParaRPr>
            </a:p>
          </p:txBody>
        </p:sp>
        <p:sp>
          <p:nvSpPr>
            <p:cNvPr id="16" name="Text 8">
              <a:extLst>
                <a:ext uri="{FF2B5EF4-FFF2-40B4-BE49-F238E27FC236}">
                  <a16:creationId xmlns:a16="http://schemas.microsoft.com/office/drawing/2014/main" id="{CCE1865F-4BE1-E272-8269-D93FAB50A51C}"/>
                </a:ext>
              </a:extLst>
            </p:cNvPr>
            <p:cNvSpPr/>
            <p:nvPr/>
          </p:nvSpPr>
          <p:spPr>
            <a:xfrm>
              <a:off x="614363" y="1520743"/>
              <a:ext cx="233138"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SSH</a:t>
              </a:r>
              <a:endParaRPr lang="en-US" dirty="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976EED3C-2B9E-0DF7-F007-F53828FAD6D0}"/>
                </a:ext>
              </a:extLst>
            </p:cNvPr>
            <p:cNvSpPr/>
            <p:nvPr/>
          </p:nvSpPr>
          <p:spPr>
            <a:xfrm>
              <a:off x="827782" y="1520743"/>
              <a:ext cx="1528173"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：安全Shell协议中的密钥协商</a:t>
              </a:r>
              <a:endParaRPr lang="en-US" dirty="0">
                <a:latin typeface="微软雅黑" panose="020B0503020204020204" pitchFamily="34" charset="-122"/>
                <a:ea typeface="微软雅黑" panose="020B0503020204020204" pitchFamily="34" charset="-122"/>
              </a:endParaRPr>
            </a:p>
          </p:txBody>
        </p:sp>
        <p:sp>
          <p:nvSpPr>
            <p:cNvPr id="18" name="Text 10">
              <a:extLst>
                <a:ext uri="{FF2B5EF4-FFF2-40B4-BE49-F238E27FC236}">
                  <a16:creationId xmlns:a16="http://schemas.microsoft.com/office/drawing/2014/main" id="{5E555B77-27FA-7885-48E2-E06267CA8886}"/>
                </a:ext>
              </a:extLst>
            </p:cNvPr>
            <p:cNvSpPr/>
            <p:nvPr/>
          </p:nvSpPr>
          <p:spPr>
            <a:xfrm>
              <a:off x="614363" y="1720767"/>
              <a:ext cx="585241"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Signal协议</a:t>
              </a:r>
              <a:endParaRPr lang="en-US" dirty="0">
                <a:latin typeface="微软雅黑" panose="020B0503020204020204" pitchFamily="34" charset="-122"/>
                <a:ea typeface="微软雅黑" panose="020B0503020204020204" pitchFamily="34" charset="-122"/>
              </a:endParaRPr>
            </a:p>
          </p:txBody>
        </p:sp>
        <p:sp>
          <p:nvSpPr>
            <p:cNvPr id="19" name="Text 11">
              <a:extLst>
                <a:ext uri="{FF2B5EF4-FFF2-40B4-BE49-F238E27FC236}">
                  <a16:creationId xmlns:a16="http://schemas.microsoft.com/office/drawing/2014/main" id="{90F870F4-374B-461E-7575-3CA2C592C86B}"/>
                </a:ext>
              </a:extLst>
            </p:cNvPr>
            <p:cNvSpPr/>
            <p:nvPr/>
          </p:nvSpPr>
          <p:spPr>
            <a:xfrm>
              <a:off x="1192169" y="1720767"/>
              <a:ext cx="1494639"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：端到端加密消息应用的基础</a:t>
              </a:r>
              <a:endParaRPr lang="en-US" dirty="0">
                <a:latin typeface="微软雅黑" panose="020B0503020204020204" pitchFamily="34" charset="-122"/>
                <a:ea typeface="微软雅黑" panose="020B0503020204020204" pitchFamily="34" charset="-122"/>
              </a:endParaRPr>
            </a:p>
          </p:txBody>
        </p:sp>
        <p:sp>
          <p:nvSpPr>
            <p:cNvPr id="20" name="Text 12">
              <a:extLst>
                <a:ext uri="{FF2B5EF4-FFF2-40B4-BE49-F238E27FC236}">
                  <a16:creationId xmlns:a16="http://schemas.microsoft.com/office/drawing/2014/main" id="{DFB9FE41-4D8F-0BBE-E636-D6ACEEBB1489}"/>
                </a:ext>
              </a:extLst>
            </p:cNvPr>
            <p:cNvSpPr/>
            <p:nvPr/>
          </p:nvSpPr>
          <p:spPr>
            <a:xfrm>
              <a:off x="614363" y="1920792"/>
              <a:ext cx="183636"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IKE</a:t>
              </a:r>
              <a:endParaRPr lang="en-US" dirty="0">
                <a:latin typeface="微软雅黑" panose="020B0503020204020204" pitchFamily="34" charset="-122"/>
                <a:ea typeface="微软雅黑" panose="020B0503020204020204" pitchFamily="34" charset="-122"/>
              </a:endParaRPr>
            </a:p>
          </p:txBody>
        </p:sp>
        <p:sp>
          <p:nvSpPr>
            <p:cNvPr id="21" name="Text 13">
              <a:extLst>
                <a:ext uri="{FF2B5EF4-FFF2-40B4-BE49-F238E27FC236}">
                  <a16:creationId xmlns:a16="http://schemas.microsoft.com/office/drawing/2014/main" id="{40978F98-1FAA-1DB0-3990-A2346C217955}"/>
                </a:ext>
              </a:extLst>
            </p:cNvPr>
            <p:cNvSpPr/>
            <p:nvPr/>
          </p:nvSpPr>
          <p:spPr>
            <a:xfrm>
              <a:off x="798733" y="1920792"/>
              <a:ext cx="1240359"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：Internet密钥交换协议</a:t>
              </a:r>
              <a:endParaRPr lang="en-US" dirty="0">
                <a:latin typeface="微软雅黑" panose="020B0503020204020204" pitchFamily="34" charset="-122"/>
                <a:ea typeface="微软雅黑" panose="020B0503020204020204" pitchFamily="34" charset="-122"/>
              </a:endParaRPr>
            </a:p>
          </p:txBody>
        </p:sp>
        <p:sp>
          <p:nvSpPr>
            <p:cNvPr id="22" name="Shape 14">
              <a:extLst>
                <a:ext uri="{FF2B5EF4-FFF2-40B4-BE49-F238E27FC236}">
                  <a16:creationId xmlns:a16="http://schemas.microsoft.com/office/drawing/2014/main" id="{5BC57187-5CE5-3225-145B-822C9DBCB475}"/>
                </a:ext>
              </a:extLst>
            </p:cNvPr>
            <p:cNvSpPr/>
            <p:nvPr/>
          </p:nvSpPr>
          <p:spPr>
            <a:xfrm>
              <a:off x="400050" y="2250281"/>
              <a:ext cx="2552346" cy="1150144"/>
            </a:xfrm>
            <a:prstGeom prst="rect">
              <a:avLst/>
            </a:prstGeom>
            <a:solidFill>
              <a:srgbClr val="F8F9FA"/>
            </a:solidFill>
            <a:ln/>
          </p:spPr>
        </p:sp>
        <p:sp>
          <p:nvSpPr>
            <p:cNvPr id="23" name="Shape 15">
              <a:extLst>
                <a:ext uri="{FF2B5EF4-FFF2-40B4-BE49-F238E27FC236}">
                  <a16:creationId xmlns:a16="http://schemas.microsoft.com/office/drawing/2014/main" id="{E37D3656-C875-F1A0-08E5-6ADA668E0448}"/>
                </a:ext>
              </a:extLst>
            </p:cNvPr>
            <p:cNvSpPr/>
            <p:nvPr/>
          </p:nvSpPr>
          <p:spPr>
            <a:xfrm>
              <a:off x="400050" y="2250281"/>
              <a:ext cx="28575" cy="1150144"/>
            </a:xfrm>
            <a:prstGeom prst="rect">
              <a:avLst/>
            </a:prstGeom>
            <a:solidFill>
              <a:srgbClr val="3498DB"/>
            </a:solidFill>
            <a:ln/>
          </p:spPr>
        </p:sp>
        <p:sp>
          <p:nvSpPr>
            <p:cNvPr id="24" name="Text 16">
              <a:extLst>
                <a:ext uri="{FF2B5EF4-FFF2-40B4-BE49-F238E27FC236}">
                  <a16:creationId xmlns:a16="http://schemas.microsoft.com/office/drawing/2014/main" id="{1CCC2E84-1D45-8BAA-7876-6801D1DA815F}"/>
                </a:ext>
              </a:extLst>
            </p:cNvPr>
            <p:cNvSpPr/>
            <p:nvPr/>
          </p:nvSpPr>
          <p:spPr>
            <a:xfrm>
              <a:off x="471488" y="2332450"/>
              <a:ext cx="1542544" cy="17141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Diffie-Hellman安全参数选择</a:t>
              </a:r>
              <a:endParaRPr lang="en-US" dirty="0">
                <a:latin typeface="微软雅黑" panose="020B0503020204020204" pitchFamily="34" charset="-122"/>
                <a:ea typeface="微软雅黑" panose="020B0503020204020204" pitchFamily="34" charset="-122"/>
              </a:endParaRPr>
            </a:p>
          </p:txBody>
        </p:sp>
        <p:sp>
          <p:nvSpPr>
            <p:cNvPr id="25" name="Text 17">
              <a:extLst>
                <a:ext uri="{FF2B5EF4-FFF2-40B4-BE49-F238E27FC236}">
                  <a16:creationId xmlns:a16="http://schemas.microsoft.com/office/drawing/2014/main" id="{2F7F3D5E-4FEA-A186-AE68-9B0D3BE6F051}"/>
                </a:ext>
              </a:extLst>
            </p:cNvPr>
            <p:cNvSpPr/>
            <p:nvPr/>
          </p:nvSpPr>
          <p:spPr>
            <a:xfrm>
              <a:off x="614363" y="2556586"/>
              <a:ext cx="536537"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素数p大小</a:t>
              </a:r>
              <a:endParaRPr lang="en-US" dirty="0">
                <a:latin typeface="微软雅黑" panose="020B0503020204020204" pitchFamily="34" charset="-122"/>
                <a:ea typeface="微软雅黑" panose="020B0503020204020204" pitchFamily="34" charset="-122"/>
              </a:endParaRPr>
            </a:p>
          </p:txBody>
        </p:sp>
        <p:sp>
          <p:nvSpPr>
            <p:cNvPr id="26" name="Text 18">
              <a:extLst>
                <a:ext uri="{FF2B5EF4-FFF2-40B4-BE49-F238E27FC236}">
                  <a16:creationId xmlns:a16="http://schemas.microsoft.com/office/drawing/2014/main" id="{C09F3E1F-A9C1-E6A1-6541-B9B94FB1005D}"/>
                </a:ext>
              </a:extLst>
            </p:cNvPr>
            <p:cNvSpPr/>
            <p:nvPr/>
          </p:nvSpPr>
          <p:spPr>
            <a:xfrm>
              <a:off x="1143921" y="2556586"/>
              <a:ext cx="1762907"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：至少2048位以抵抗当前计算能力</a:t>
              </a:r>
              <a:endParaRPr lang="en-US" dirty="0">
                <a:latin typeface="微软雅黑" panose="020B0503020204020204" pitchFamily="34" charset="-122"/>
                <a:ea typeface="微软雅黑" panose="020B0503020204020204" pitchFamily="34" charset="-122"/>
              </a:endParaRPr>
            </a:p>
          </p:txBody>
        </p:sp>
        <p:sp>
          <p:nvSpPr>
            <p:cNvPr id="27" name="Text 19">
              <a:extLst>
                <a:ext uri="{FF2B5EF4-FFF2-40B4-BE49-F238E27FC236}">
                  <a16:creationId xmlns:a16="http://schemas.microsoft.com/office/drawing/2014/main" id="{6DE142CF-0133-552A-077A-BDD939C02E67}"/>
                </a:ext>
              </a:extLst>
            </p:cNvPr>
            <p:cNvSpPr/>
            <p:nvPr/>
          </p:nvSpPr>
          <p:spPr>
            <a:xfrm>
              <a:off x="614363" y="2756609"/>
              <a:ext cx="651509"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生成元g选择</a:t>
              </a:r>
              <a:endParaRPr lang="en-US" dirty="0">
                <a:latin typeface="微软雅黑" panose="020B0503020204020204" pitchFamily="34" charset="-122"/>
                <a:ea typeface="微软雅黑" panose="020B0503020204020204" pitchFamily="34" charset="-122"/>
              </a:endParaRPr>
            </a:p>
          </p:txBody>
        </p:sp>
        <p:sp>
          <p:nvSpPr>
            <p:cNvPr id="28" name="Text 20">
              <a:extLst>
                <a:ext uri="{FF2B5EF4-FFF2-40B4-BE49-F238E27FC236}">
                  <a16:creationId xmlns:a16="http://schemas.microsoft.com/office/drawing/2014/main" id="{0B2CD1B1-37C1-22E7-B951-D209D7D5FE40}"/>
                </a:ext>
              </a:extLst>
            </p:cNvPr>
            <p:cNvSpPr/>
            <p:nvPr/>
          </p:nvSpPr>
          <p:spPr>
            <a:xfrm>
              <a:off x="1258221" y="2756609"/>
              <a:ext cx="879857"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：应为p-1的原根</a:t>
              </a:r>
              <a:endParaRPr lang="en-US" dirty="0">
                <a:latin typeface="微软雅黑" panose="020B0503020204020204" pitchFamily="34" charset="-122"/>
                <a:ea typeface="微软雅黑" panose="020B0503020204020204" pitchFamily="34" charset="-122"/>
              </a:endParaRPr>
            </a:p>
          </p:txBody>
        </p:sp>
        <p:sp>
          <p:nvSpPr>
            <p:cNvPr id="29" name="Text 21">
              <a:extLst>
                <a:ext uri="{FF2B5EF4-FFF2-40B4-BE49-F238E27FC236}">
                  <a16:creationId xmlns:a16="http://schemas.microsoft.com/office/drawing/2014/main" id="{CCE3A416-8AE3-0E9C-74FE-C7945C7F6BF8}"/>
                </a:ext>
              </a:extLst>
            </p:cNvPr>
            <p:cNvSpPr/>
            <p:nvPr/>
          </p:nvSpPr>
          <p:spPr>
            <a:xfrm>
              <a:off x="614363" y="2956636"/>
              <a:ext cx="459889"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私钥长度</a:t>
              </a:r>
              <a:endParaRPr lang="en-US" dirty="0">
                <a:latin typeface="微软雅黑" panose="020B0503020204020204" pitchFamily="34" charset="-122"/>
                <a:ea typeface="微软雅黑" panose="020B0503020204020204" pitchFamily="34" charset="-122"/>
              </a:endParaRPr>
            </a:p>
          </p:txBody>
        </p:sp>
        <p:sp>
          <p:nvSpPr>
            <p:cNvPr id="30" name="Text 22">
              <a:extLst>
                <a:ext uri="{FF2B5EF4-FFF2-40B4-BE49-F238E27FC236}">
                  <a16:creationId xmlns:a16="http://schemas.microsoft.com/office/drawing/2014/main" id="{52F39AE4-839E-9DE4-A7C2-2FFFE3D95592}"/>
                </a:ext>
              </a:extLst>
            </p:cNvPr>
            <p:cNvSpPr/>
            <p:nvPr/>
          </p:nvSpPr>
          <p:spPr>
            <a:xfrm>
              <a:off x="1071563" y="2956636"/>
              <a:ext cx="1108204"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：至少与p相当的位数</a:t>
              </a:r>
              <a:endParaRPr lang="en-US" dirty="0">
                <a:latin typeface="微软雅黑" panose="020B0503020204020204" pitchFamily="34" charset="-122"/>
                <a:ea typeface="微软雅黑" panose="020B0503020204020204" pitchFamily="34" charset="-122"/>
              </a:endParaRPr>
            </a:p>
          </p:txBody>
        </p:sp>
        <p:sp>
          <p:nvSpPr>
            <p:cNvPr id="31" name="Text 23">
              <a:extLst>
                <a:ext uri="{FF2B5EF4-FFF2-40B4-BE49-F238E27FC236}">
                  <a16:creationId xmlns:a16="http://schemas.microsoft.com/office/drawing/2014/main" id="{EA12EF05-C78B-67FD-13C2-42D03EA76F21}"/>
                </a:ext>
              </a:extLst>
            </p:cNvPr>
            <p:cNvSpPr/>
            <p:nvPr/>
          </p:nvSpPr>
          <p:spPr>
            <a:xfrm>
              <a:off x="614363" y="3156660"/>
              <a:ext cx="919778" cy="171419"/>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安全随机数生成器</a:t>
              </a:r>
              <a:endParaRPr lang="en-US" dirty="0">
                <a:latin typeface="微软雅黑" panose="020B0503020204020204" pitchFamily="34" charset="-122"/>
                <a:ea typeface="微软雅黑" panose="020B0503020204020204" pitchFamily="34" charset="-122"/>
              </a:endParaRPr>
            </a:p>
          </p:txBody>
        </p:sp>
        <p:sp>
          <p:nvSpPr>
            <p:cNvPr id="32" name="Text 24">
              <a:extLst>
                <a:ext uri="{FF2B5EF4-FFF2-40B4-BE49-F238E27FC236}">
                  <a16:creationId xmlns:a16="http://schemas.microsoft.com/office/drawing/2014/main" id="{E800584F-2EEF-D357-12F6-FBC4B4F572E5}"/>
                </a:ext>
              </a:extLst>
            </p:cNvPr>
            <p:cNvSpPr/>
            <p:nvPr/>
          </p:nvSpPr>
          <p:spPr>
            <a:xfrm>
              <a:off x="1528763" y="3156660"/>
              <a:ext cx="804806" cy="17141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：用于生成私钥</a:t>
              </a:r>
              <a:endParaRPr lang="en-US" dirty="0">
                <a:latin typeface="微软雅黑" panose="020B0503020204020204" pitchFamily="34" charset="-122"/>
                <a:ea typeface="微软雅黑" panose="020B0503020204020204" pitchFamily="34" charset="-122"/>
              </a:endParaRPr>
            </a:p>
          </p:txBody>
        </p:sp>
      </p:grpSp>
      <p:grpSp>
        <p:nvGrpSpPr>
          <p:cNvPr id="38" name="组合 37">
            <a:extLst>
              <a:ext uri="{FF2B5EF4-FFF2-40B4-BE49-F238E27FC236}">
                <a16:creationId xmlns:a16="http://schemas.microsoft.com/office/drawing/2014/main" id="{A6CCDD70-5015-7B8F-ABE4-83394C4360F7}"/>
              </a:ext>
            </a:extLst>
          </p:cNvPr>
          <p:cNvGrpSpPr/>
          <p:nvPr/>
        </p:nvGrpSpPr>
        <p:grpSpPr>
          <a:xfrm>
            <a:off x="5599952" y="1808971"/>
            <a:ext cx="7135579" cy="4315604"/>
            <a:chOff x="4629150" y="2185988"/>
            <a:chExt cx="3413402" cy="2386012"/>
          </a:xfrm>
        </p:grpSpPr>
        <p:sp>
          <p:nvSpPr>
            <p:cNvPr id="40" name="Shape 26">
              <a:extLst>
                <a:ext uri="{FF2B5EF4-FFF2-40B4-BE49-F238E27FC236}">
                  <a16:creationId xmlns:a16="http://schemas.microsoft.com/office/drawing/2014/main" id="{701A5246-BBD9-B1BD-7250-2F4B15910081}"/>
                </a:ext>
              </a:extLst>
            </p:cNvPr>
            <p:cNvSpPr/>
            <p:nvPr/>
          </p:nvSpPr>
          <p:spPr>
            <a:xfrm>
              <a:off x="4629150" y="2185988"/>
              <a:ext cx="2966297" cy="1150144"/>
            </a:xfrm>
            <a:prstGeom prst="rect">
              <a:avLst/>
            </a:prstGeom>
            <a:solidFill>
              <a:srgbClr val="F8F9FA"/>
            </a:solidFill>
            <a:ln/>
          </p:spPr>
        </p:sp>
        <p:sp>
          <p:nvSpPr>
            <p:cNvPr id="41" name="Shape 27">
              <a:extLst>
                <a:ext uri="{FF2B5EF4-FFF2-40B4-BE49-F238E27FC236}">
                  <a16:creationId xmlns:a16="http://schemas.microsoft.com/office/drawing/2014/main" id="{A33249A6-C5D6-F356-521A-BB5C17A84FD2}"/>
                </a:ext>
              </a:extLst>
            </p:cNvPr>
            <p:cNvSpPr/>
            <p:nvPr/>
          </p:nvSpPr>
          <p:spPr>
            <a:xfrm>
              <a:off x="4629150" y="2185988"/>
              <a:ext cx="28575" cy="1150144"/>
            </a:xfrm>
            <a:prstGeom prst="rect">
              <a:avLst/>
            </a:prstGeom>
            <a:solidFill>
              <a:srgbClr val="3498DB"/>
            </a:solidFill>
            <a:ln/>
          </p:spPr>
        </p:sp>
        <p:sp>
          <p:nvSpPr>
            <p:cNvPr id="42" name="Text 28">
              <a:extLst>
                <a:ext uri="{FF2B5EF4-FFF2-40B4-BE49-F238E27FC236}">
                  <a16:creationId xmlns:a16="http://schemas.microsoft.com/office/drawing/2014/main" id="{BD1BB400-C335-CB1E-C5B1-44CD60AEF7EB}"/>
                </a:ext>
              </a:extLst>
            </p:cNvPr>
            <p:cNvSpPr/>
            <p:nvPr/>
          </p:nvSpPr>
          <p:spPr>
            <a:xfrm>
              <a:off x="4700588" y="2277292"/>
              <a:ext cx="1772072" cy="153147"/>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Diffie-Hellman的安全威胁</a:t>
              </a:r>
              <a:endParaRPr lang="en-US" dirty="0">
                <a:latin typeface="微软雅黑" panose="020B0503020204020204" pitchFamily="34" charset="-122"/>
                <a:ea typeface="微软雅黑" panose="020B0503020204020204" pitchFamily="34" charset="-122"/>
              </a:endParaRPr>
            </a:p>
          </p:txBody>
        </p:sp>
        <p:sp>
          <p:nvSpPr>
            <p:cNvPr id="43" name="Text 29">
              <a:extLst>
                <a:ext uri="{FF2B5EF4-FFF2-40B4-BE49-F238E27FC236}">
                  <a16:creationId xmlns:a16="http://schemas.microsoft.com/office/drawing/2014/main" id="{7CB89848-6A69-E31D-EBF8-6BE7D5600515}"/>
                </a:ext>
              </a:extLst>
            </p:cNvPr>
            <p:cNvSpPr/>
            <p:nvPr/>
          </p:nvSpPr>
          <p:spPr>
            <a:xfrm>
              <a:off x="4843463" y="2501428"/>
              <a:ext cx="720436"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中间人攻击</a:t>
              </a:r>
              <a:endParaRPr lang="en-US" dirty="0">
                <a:latin typeface="微软雅黑" panose="020B0503020204020204" pitchFamily="34" charset="-122"/>
                <a:ea typeface="微软雅黑" panose="020B0503020204020204" pitchFamily="34" charset="-122"/>
              </a:endParaRPr>
            </a:p>
          </p:txBody>
        </p:sp>
        <p:sp>
          <p:nvSpPr>
            <p:cNvPr id="44" name="Text 30">
              <a:extLst>
                <a:ext uri="{FF2B5EF4-FFF2-40B4-BE49-F238E27FC236}">
                  <a16:creationId xmlns:a16="http://schemas.microsoft.com/office/drawing/2014/main" id="{432D7EBA-66DA-7580-E448-F4BDF131B7B5}"/>
                </a:ext>
              </a:extLst>
            </p:cNvPr>
            <p:cNvSpPr/>
            <p:nvPr/>
          </p:nvSpPr>
          <p:spPr>
            <a:xfrm>
              <a:off x="5414963" y="2501428"/>
              <a:ext cx="1873133"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：攻击者可以截获并替换公钥</a:t>
              </a:r>
              <a:endParaRPr lang="en-US" dirty="0">
                <a:latin typeface="微软雅黑" panose="020B0503020204020204" pitchFamily="34" charset="-122"/>
                <a:ea typeface="微软雅黑" panose="020B0503020204020204" pitchFamily="34" charset="-122"/>
              </a:endParaRPr>
            </a:p>
          </p:txBody>
        </p:sp>
        <p:sp>
          <p:nvSpPr>
            <p:cNvPr id="45" name="Text 31">
              <a:extLst>
                <a:ext uri="{FF2B5EF4-FFF2-40B4-BE49-F238E27FC236}">
                  <a16:creationId xmlns:a16="http://schemas.microsoft.com/office/drawing/2014/main" id="{C24A6922-589E-361A-58D5-E27BAFA73F87}"/>
                </a:ext>
              </a:extLst>
            </p:cNvPr>
            <p:cNvSpPr/>
            <p:nvPr/>
          </p:nvSpPr>
          <p:spPr>
            <a:xfrm>
              <a:off x="4843463" y="2701453"/>
              <a:ext cx="720436"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弱参数攻击</a:t>
              </a:r>
              <a:endParaRPr lang="en-US" dirty="0">
                <a:latin typeface="微软雅黑" panose="020B0503020204020204" pitchFamily="34" charset="-122"/>
                <a:ea typeface="微软雅黑" panose="020B0503020204020204" pitchFamily="34" charset="-122"/>
              </a:endParaRPr>
            </a:p>
          </p:txBody>
        </p:sp>
        <p:sp>
          <p:nvSpPr>
            <p:cNvPr id="46" name="Text 32">
              <a:extLst>
                <a:ext uri="{FF2B5EF4-FFF2-40B4-BE49-F238E27FC236}">
                  <a16:creationId xmlns:a16="http://schemas.microsoft.com/office/drawing/2014/main" id="{D0423F7D-B163-1F58-1851-B4583636A1B2}"/>
                </a:ext>
              </a:extLst>
            </p:cNvPr>
            <p:cNvSpPr/>
            <p:nvPr/>
          </p:nvSpPr>
          <p:spPr>
            <a:xfrm>
              <a:off x="5414963" y="2701453"/>
              <a:ext cx="2627589"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：使用特殊构造的p和g可能导致密钥泄露</a:t>
              </a:r>
              <a:endParaRPr lang="en-US" dirty="0">
                <a:latin typeface="微软雅黑" panose="020B0503020204020204" pitchFamily="34" charset="-122"/>
                <a:ea typeface="微软雅黑" panose="020B0503020204020204" pitchFamily="34" charset="-122"/>
              </a:endParaRPr>
            </a:p>
          </p:txBody>
        </p:sp>
        <p:sp>
          <p:nvSpPr>
            <p:cNvPr id="47" name="Text 33">
              <a:extLst>
                <a:ext uri="{FF2B5EF4-FFF2-40B4-BE49-F238E27FC236}">
                  <a16:creationId xmlns:a16="http://schemas.microsoft.com/office/drawing/2014/main" id="{DC9B5498-C6DE-6B7B-7354-46D48088DAC0}"/>
                </a:ext>
              </a:extLst>
            </p:cNvPr>
            <p:cNvSpPr/>
            <p:nvPr/>
          </p:nvSpPr>
          <p:spPr>
            <a:xfrm>
              <a:off x="4843463" y="2901477"/>
              <a:ext cx="821497"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Logjam攻击</a:t>
              </a:r>
              <a:endParaRPr lang="en-US" dirty="0">
                <a:latin typeface="微软雅黑" panose="020B0503020204020204" pitchFamily="34" charset="-122"/>
                <a:ea typeface="微软雅黑" panose="020B0503020204020204" pitchFamily="34" charset="-122"/>
              </a:endParaRPr>
            </a:p>
          </p:txBody>
        </p:sp>
        <p:sp>
          <p:nvSpPr>
            <p:cNvPr id="48" name="Text 34">
              <a:extLst>
                <a:ext uri="{FF2B5EF4-FFF2-40B4-BE49-F238E27FC236}">
                  <a16:creationId xmlns:a16="http://schemas.microsoft.com/office/drawing/2014/main" id="{97B7B480-9BCF-F0F0-27C9-13D5F24CF5C8}"/>
                </a:ext>
              </a:extLst>
            </p:cNvPr>
            <p:cNvSpPr/>
            <p:nvPr/>
          </p:nvSpPr>
          <p:spPr>
            <a:xfrm>
              <a:off x="5495888" y="2901477"/>
              <a:ext cx="2031229"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：针对使用弱DH参数的TLS连接</a:t>
              </a:r>
              <a:endParaRPr lang="en-US" dirty="0">
                <a:latin typeface="微软雅黑" panose="020B0503020204020204" pitchFamily="34" charset="-122"/>
                <a:ea typeface="微软雅黑" panose="020B0503020204020204" pitchFamily="34" charset="-122"/>
              </a:endParaRPr>
            </a:p>
          </p:txBody>
        </p:sp>
        <p:sp>
          <p:nvSpPr>
            <p:cNvPr id="49" name="Text 35">
              <a:extLst>
                <a:ext uri="{FF2B5EF4-FFF2-40B4-BE49-F238E27FC236}">
                  <a16:creationId xmlns:a16="http://schemas.microsoft.com/office/drawing/2014/main" id="{D3491B09-62AC-04BE-36F0-13F5D189D3D8}"/>
                </a:ext>
              </a:extLst>
            </p:cNvPr>
            <p:cNvSpPr/>
            <p:nvPr/>
          </p:nvSpPr>
          <p:spPr>
            <a:xfrm>
              <a:off x="4843463" y="3101503"/>
              <a:ext cx="864523"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量子计算威胁</a:t>
              </a:r>
              <a:endParaRPr lang="en-US" dirty="0">
                <a:latin typeface="微软雅黑" panose="020B0503020204020204" pitchFamily="34" charset="-122"/>
                <a:ea typeface="微软雅黑" panose="020B0503020204020204" pitchFamily="34" charset="-122"/>
              </a:endParaRPr>
            </a:p>
          </p:txBody>
        </p:sp>
        <p:sp>
          <p:nvSpPr>
            <p:cNvPr id="50" name="Text 36">
              <a:extLst>
                <a:ext uri="{FF2B5EF4-FFF2-40B4-BE49-F238E27FC236}">
                  <a16:creationId xmlns:a16="http://schemas.microsoft.com/office/drawing/2014/main" id="{3667FB44-1B0E-2746-0C28-D057E0B01A50}"/>
                </a:ext>
              </a:extLst>
            </p:cNvPr>
            <p:cNvSpPr/>
            <p:nvPr/>
          </p:nvSpPr>
          <p:spPr>
            <a:xfrm>
              <a:off x="5529263" y="3101503"/>
              <a:ext cx="2187323"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：Shor算法可在多项式时间内破解</a:t>
              </a:r>
              <a:endParaRPr lang="en-US" dirty="0">
                <a:latin typeface="微软雅黑" panose="020B0503020204020204" pitchFamily="34" charset="-122"/>
                <a:ea typeface="微软雅黑" panose="020B0503020204020204" pitchFamily="34" charset="-122"/>
              </a:endParaRPr>
            </a:p>
          </p:txBody>
        </p:sp>
        <p:sp>
          <p:nvSpPr>
            <p:cNvPr id="51" name="Shape 37">
              <a:extLst>
                <a:ext uri="{FF2B5EF4-FFF2-40B4-BE49-F238E27FC236}">
                  <a16:creationId xmlns:a16="http://schemas.microsoft.com/office/drawing/2014/main" id="{A12510F4-3AC5-F165-6478-A43EE8656CE0}"/>
                </a:ext>
              </a:extLst>
            </p:cNvPr>
            <p:cNvSpPr/>
            <p:nvPr/>
          </p:nvSpPr>
          <p:spPr>
            <a:xfrm>
              <a:off x="4629150" y="3421856"/>
              <a:ext cx="2966297" cy="1150144"/>
            </a:xfrm>
            <a:prstGeom prst="rect">
              <a:avLst/>
            </a:prstGeom>
            <a:solidFill>
              <a:srgbClr val="F8F9FA"/>
            </a:solidFill>
            <a:ln/>
          </p:spPr>
        </p:sp>
        <p:sp>
          <p:nvSpPr>
            <p:cNvPr id="52" name="Shape 38">
              <a:extLst>
                <a:ext uri="{FF2B5EF4-FFF2-40B4-BE49-F238E27FC236}">
                  <a16:creationId xmlns:a16="http://schemas.microsoft.com/office/drawing/2014/main" id="{A183DE13-1039-AA2A-BE18-1B3C72CF5F15}"/>
                </a:ext>
              </a:extLst>
            </p:cNvPr>
            <p:cNvSpPr/>
            <p:nvPr/>
          </p:nvSpPr>
          <p:spPr>
            <a:xfrm>
              <a:off x="4629150" y="3421856"/>
              <a:ext cx="28575" cy="1150144"/>
            </a:xfrm>
            <a:prstGeom prst="rect">
              <a:avLst/>
            </a:prstGeom>
            <a:solidFill>
              <a:srgbClr val="3498DB"/>
            </a:solidFill>
            <a:ln/>
          </p:spPr>
        </p:sp>
        <p:sp>
          <p:nvSpPr>
            <p:cNvPr id="53" name="Text 39">
              <a:extLst>
                <a:ext uri="{FF2B5EF4-FFF2-40B4-BE49-F238E27FC236}">
                  <a16:creationId xmlns:a16="http://schemas.microsoft.com/office/drawing/2014/main" id="{E2E41BF8-0522-E4A4-8A6F-D5BB059D1AAC}"/>
                </a:ext>
              </a:extLst>
            </p:cNvPr>
            <p:cNvSpPr/>
            <p:nvPr/>
          </p:nvSpPr>
          <p:spPr>
            <a:xfrm>
              <a:off x="4700588" y="3513161"/>
              <a:ext cx="2204334" cy="153147"/>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增强Diffie-Hellman安全性的方法</a:t>
              </a:r>
              <a:endParaRPr lang="en-US" dirty="0">
                <a:latin typeface="微软雅黑" panose="020B0503020204020204" pitchFamily="34" charset="-122"/>
                <a:ea typeface="微软雅黑" panose="020B0503020204020204" pitchFamily="34" charset="-122"/>
              </a:endParaRPr>
            </a:p>
          </p:txBody>
        </p:sp>
        <p:sp>
          <p:nvSpPr>
            <p:cNvPr id="54" name="Text 40">
              <a:extLst>
                <a:ext uri="{FF2B5EF4-FFF2-40B4-BE49-F238E27FC236}">
                  <a16:creationId xmlns:a16="http://schemas.microsoft.com/office/drawing/2014/main" id="{05D8EDDF-900C-44C2-31F0-F291E53A315D}"/>
                </a:ext>
              </a:extLst>
            </p:cNvPr>
            <p:cNvSpPr/>
            <p:nvPr/>
          </p:nvSpPr>
          <p:spPr>
            <a:xfrm>
              <a:off x="4843463" y="3737296"/>
              <a:ext cx="520315"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认证DH</a:t>
              </a:r>
              <a:endParaRPr lang="en-US" dirty="0">
                <a:latin typeface="微软雅黑" panose="020B0503020204020204" pitchFamily="34" charset="-122"/>
                <a:ea typeface="微软雅黑" panose="020B0503020204020204" pitchFamily="34" charset="-122"/>
              </a:endParaRPr>
            </a:p>
          </p:txBody>
        </p:sp>
        <p:sp>
          <p:nvSpPr>
            <p:cNvPr id="55" name="Text 41">
              <a:extLst>
                <a:ext uri="{FF2B5EF4-FFF2-40B4-BE49-F238E27FC236}">
                  <a16:creationId xmlns:a16="http://schemas.microsoft.com/office/drawing/2014/main" id="{11457A8D-C65E-C8B2-8A40-C1D3E3C6A952}"/>
                </a:ext>
              </a:extLst>
            </p:cNvPr>
            <p:cNvSpPr/>
            <p:nvPr/>
          </p:nvSpPr>
          <p:spPr>
            <a:xfrm>
              <a:off x="5244099" y="3737296"/>
              <a:ext cx="2017220"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：结合数字签名防止中间人攻击</a:t>
              </a:r>
              <a:endParaRPr lang="en-US" dirty="0">
                <a:latin typeface="微软雅黑" panose="020B0503020204020204" pitchFamily="34" charset="-122"/>
                <a:ea typeface="微软雅黑" panose="020B0503020204020204" pitchFamily="34" charset="-122"/>
              </a:endParaRPr>
            </a:p>
          </p:txBody>
        </p:sp>
        <p:sp>
          <p:nvSpPr>
            <p:cNvPr id="56" name="Text 42">
              <a:extLst>
                <a:ext uri="{FF2B5EF4-FFF2-40B4-BE49-F238E27FC236}">
                  <a16:creationId xmlns:a16="http://schemas.microsoft.com/office/drawing/2014/main" id="{CF49377E-FB0D-46FC-7CE4-05920E33DFA9}"/>
                </a:ext>
              </a:extLst>
            </p:cNvPr>
            <p:cNvSpPr/>
            <p:nvPr/>
          </p:nvSpPr>
          <p:spPr>
            <a:xfrm>
              <a:off x="4843463" y="3937321"/>
              <a:ext cx="720436"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使用强参数</a:t>
              </a:r>
              <a:endParaRPr lang="en-US" dirty="0">
                <a:latin typeface="微软雅黑" panose="020B0503020204020204" pitchFamily="34" charset="-122"/>
                <a:ea typeface="微软雅黑" panose="020B0503020204020204" pitchFamily="34" charset="-122"/>
              </a:endParaRPr>
            </a:p>
          </p:txBody>
        </p:sp>
        <p:sp>
          <p:nvSpPr>
            <p:cNvPr id="57" name="Text 43">
              <a:extLst>
                <a:ext uri="{FF2B5EF4-FFF2-40B4-BE49-F238E27FC236}">
                  <a16:creationId xmlns:a16="http://schemas.microsoft.com/office/drawing/2014/main" id="{DBB96B2F-DA9B-6610-3910-D1EBFD9DC19D}"/>
                </a:ext>
              </a:extLst>
            </p:cNvPr>
            <p:cNvSpPr/>
            <p:nvPr/>
          </p:nvSpPr>
          <p:spPr>
            <a:xfrm>
              <a:off x="5414963" y="3937321"/>
              <a:ext cx="2305395"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：选择足够大的素数和安全的生成元</a:t>
              </a:r>
              <a:endParaRPr lang="en-US" dirty="0">
                <a:latin typeface="微软雅黑" panose="020B0503020204020204" pitchFamily="34" charset="-122"/>
                <a:ea typeface="微软雅黑" panose="020B0503020204020204" pitchFamily="34" charset="-122"/>
              </a:endParaRPr>
            </a:p>
          </p:txBody>
        </p:sp>
        <p:sp>
          <p:nvSpPr>
            <p:cNvPr id="58" name="Text 44">
              <a:extLst>
                <a:ext uri="{FF2B5EF4-FFF2-40B4-BE49-F238E27FC236}">
                  <a16:creationId xmlns:a16="http://schemas.microsoft.com/office/drawing/2014/main" id="{1689643E-7F17-6D7B-4C1B-3E2A14E2D650}"/>
                </a:ext>
              </a:extLst>
            </p:cNvPr>
            <p:cNvSpPr/>
            <p:nvPr/>
          </p:nvSpPr>
          <p:spPr>
            <a:xfrm>
              <a:off x="4843463" y="4137345"/>
              <a:ext cx="843511"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迁移到ECDH</a:t>
              </a:r>
              <a:endParaRPr lang="en-US" dirty="0">
                <a:latin typeface="微软雅黑" panose="020B0503020204020204" pitchFamily="34" charset="-122"/>
                <a:ea typeface="微软雅黑" panose="020B0503020204020204" pitchFamily="34" charset="-122"/>
              </a:endParaRPr>
            </a:p>
          </p:txBody>
        </p:sp>
        <p:sp>
          <p:nvSpPr>
            <p:cNvPr id="59" name="Text 45">
              <a:extLst>
                <a:ext uri="{FF2B5EF4-FFF2-40B4-BE49-F238E27FC236}">
                  <a16:creationId xmlns:a16="http://schemas.microsoft.com/office/drawing/2014/main" id="{14D29AD1-C428-FF16-9BF5-C5BBBFA86A01}"/>
                </a:ext>
              </a:extLst>
            </p:cNvPr>
            <p:cNvSpPr/>
            <p:nvPr/>
          </p:nvSpPr>
          <p:spPr>
            <a:xfrm>
              <a:off x="5495218" y="4137345"/>
              <a:ext cx="2305395"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：使用椭圆曲线提供更高效的安全性</a:t>
              </a:r>
              <a:endParaRPr lang="en-US" dirty="0">
                <a:latin typeface="微软雅黑" panose="020B0503020204020204" pitchFamily="34" charset="-122"/>
                <a:ea typeface="微软雅黑" panose="020B0503020204020204" pitchFamily="34" charset="-122"/>
              </a:endParaRPr>
            </a:p>
          </p:txBody>
        </p:sp>
        <p:sp>
          <p:nvSpPr>
            <p:cNvPr id="60" name="Text 46">
              <a:extLst>
                <a:ext uri="{FF2B5EF4-FFF2-40B4-BE49-F238E27FC236}">
                  <a16:creationId xmlns:a16="http://schemas.microsoft.com/office/drawing/2014/main" id="{DF535043-9B0D-2D58-F2F3-162E1825FC5A}"/>
                </a:ext>
              </a:extLst>
            </p:cNvPr>
            <p:cNvSpPr/>
            <p:nvPr/>
          </p:nvSpPr>
          <p:spPr>
            <a:xfrm>
              <a:off x="4843463" y="4337370"/>
              <a:ext cx="1008610" cy="153147"/>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后量子替代方案</a:t>
              </a:r>
              <a:endParaRPr lang="en-US" dirty="0">
                <a:latin typeface="微软雅黑" panose="020B0503020204020204" pitchFamily="34" charset="-122"/>
                <a:ea typeface="微软雅黑" panose="020B0503020204020204" pitchFamily="34" charset="-122"/>
              </a:endParaRPr>
            </a:p>
          </p:txBody>
        </p:sp>
        <p:sp>
          <p:nvSpPr>
            <p:cNvPr id="61" name="Text 47">
              <a:extLst>
                <a:ext uri="{FF2B5EF4-FFF2-40B4-BE49-F238E27FC236}">
                  <a16:creationId xmlns:a16="http://schemas.microsoft.com/office/drawing/2014/main" id="{1EB35E70-82B6-0788-1BEC-BDE8984C248E}"/>
                </a:ext>
              </a:extLst>
            </p:cNvPr>
            <p:cNvSpPr/>
            <p:nvPr/>
          </p:nvSpPr>
          <p:spPr>
            <a:xfrm>
              <a:off x="5643563" y="4337370"/>
              <a:ext cx="1873133" cy="153147"/>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：研究抗量子的密钥交换协议</a:t>
              </a:r>
              <a:endParaRPr 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24150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E578F-8F2F-174F-3F90-01B57B999B5A}"/>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74D83F53-3F75-BD33-910D-3B1151714479}"/>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39CD29FC-77A6-4B53-1F9A-E0858D7398EE}"/>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682136BC-C4F3-0568-9F0C-EB3ECB3B90F7}"/>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E2CFFD48-2E96-D658-243C-2C713106A83B}"/>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56664A3D-BED2-4512-3CBC-CB354A190CC8}"/>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792ACFB4-3152-4EBA-EB3C-460BAA9E9902}"/>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SSL/TLS</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协议</a:t>
              </a:r>
            </a:p>
          </p:txBody>
        </p:sp>
      </p:grpSp>
      <p:grpSp>
        <p:nvGrpSpPr>
          <p:cNvPr id="2" name="组合 1">
            <a:extLst>
              <a:ext uri="{FF2B5EF4-FFF2-40B4-BE49-F238E27FC236}">
                <a16:creationId xmlns:a16="http://schemas.microsoft.com/office/drawing/2014/main" id="{F7773322-0084-E259-84F2-17CD2242C0E5}"/>
              </a:ext>
            </a:extLst>
          </p:cNvPr>
          <p:cNvGrpSpPr/>
          <p:nvPr/>
        </p:nvGrpSpPr>
        <p:grpSpPr>
          <a:xfrm>
            <a:off x="218136" y="1737962"/>
            <a:ext cx="8028904" cy="4555898"/>
            <a:chOff x="400050" y="814388"/>
            <a:chExt cx="4114800" cy="2586037"/>
          </a:xfrm>
        </p:grpSpPr>
        <p:sp>
          <p:nvSpPr>
            <p:cNvPr id="3" name="Shape 1">
              <a:extLst>
                <a:ext uri="{FF2B5EF4-FFF2-40B4-BE49-F238E27FC236}">
                  <a16:creationId xmlns:a16="http://schemas.microsoft.com/office/drawing/2014/main" id="{A76D2815-2B78-2C22-13C3-F20CB3E76A0A}"/>
                </a:ext>
              </a:extLst>
            </p:cNvPr>
            <p:cNvSpPr/>
            <p:nvPr/>
          </p:nvSpPr>
          <p:spPr>
            <a:xfrm>
              <a:off x="400050" y="814388"/>
              <a:ext cx="4114800" cy="1350169"/>
            </a:xfrm>
            <a:prstGeom prst="rect">
              <a:avLst/>
            </a:prstGeom>
            <a:solidFill>
              <a:srgbClr val="F8F9FA"/>
            </a:solidFill>
            <a:ln/>
          </p:spPr>
        </p:sp>
        <p:sp>
          <p:nvSpPr>
            <p:cNvPr id="4" name="Shape 2">
              <a:extLst>
                <a:ext uri="{FF2B5EF4-FFF2-40B4-BE49-F238E27FC236}">
                  <a16:creationId xmlns:a16="http://schemas.microsoft.com/office/drawing/2014/main" id="{73265025-DCE7-14E0-B43B-ABE1E9E1A377}"/>
                </a:ext>
              </a:extLst>
            </p:cNvPr>
            <p:cNvSpPr/>
            <p:nvPr/>
          </p:nvSpPr>
          <p:spPr>
            <a:xfrm>
              <a:off x="400050" y="814388"/>
              <a:ext cx="28575" cy="1350169"/>
            </a:xfrm>
            <a:prstGeom prst="rect">
              <a:avLst/>
            </a:prstGeom>
            <a:solidFill>
              <a:srgbClr val="3498DB"/>
            </a:solidFill>
            <a:ln/>
          </p:spPr>
        </p:sp>
        <p:sp>
          <p:nvSpPr>
            <p:cNvPr id="5" name="Text 3">
              <a:extLst>
                <a:ext uri="{FF2B5EF4-FFF2-40B4-BE49-F238E27FC236}">
                  <a16:creationId xmlns:a16="http://schemas.microsoft.com/office/drawing/2014/main" id="{02BD65A1-74F0-1C82-4F11-E0705FA62A65}"/>
                </a:ext>
              </a:extLst>
            </p:cNvPr>
            <p:cNvSpPr/>
            <p:nvPr/>
          </p:nvSpPr>
          <p:spPr>
            <a:xfrm>
              <a:off x="471488" y="903650"/>
              <a:ext cx="947232" cy="157231"/>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SSL/TLS协议简介</a:t>
              </a:r>
              <a:endParaRPr lang="en-US"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C07EE848-5195-2AAF-C18D-DF007752CE57}"/>
                </a:ext>
              </a:extLst>
            </p:cNvPr>
            <p:cNvSpPr/>
            <p:nvPr/>
          </p:nvSpPr>
          <p:spPr>
            <a:xfrm>
              <a:off x="471488" y="1135787"/>
              <a:ext cx="3971925" cy="314463"/>
            </a:xfrm>
            <a:prstGeom prst="rect">
              <a:avLst/>
            </a:prstGeom>
            <a:noFill/>
            <a:ln/>
          </p:spPr>
          <p:txBody>
            <a:bodyPr wrap="square" lIns="0" tIns="0" rIns="0" bIns="0" rtlCol="0" anchor="ctr">
              <a:spAutoFit/>
            </a:bodyPr>
            <a:lstStyle/>
            <a:p>
              <a:pPr marL="0" indent="0">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SSL (安全套接字层) 和 TLS (传输层安全) 是为网络通信提供安全及数据完整性的加密协议，广泛应用于Web浏览器和服务器之间的安全通信。</a:t>
              </a:r>
              <a:endParaRPr lang="en-US"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39222A7E-FF37-4445-CE35-DA2256E4843C}"/>
                </a:ext>
              </a:extLst>
            </p:cNvPr>
            <p:cNvSpPr/>
            <p:nvPr/>
          </p:nvSpPr>
          <p:spPr>
            <a:xfrm>
              <a:off x="614363" y="1528729"/>
              <a:ext cx="2851783"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SSL由Netscape于1994年开发，后由IETF标准化为TLS</a:t>
              </a:r>
              <a:endParaRPr lang="en-US" dirty="0">
                <a:latin typeface="微软雅黑" panose="020B0503020204020204" pitchFamily="34" charset="-122"/>
                <a:ea typeface="微软雅黑" panose="020B0503020204020204" pitchFamily="34" charset="-122"/>
              </a:endParaRPr>
            </a:p>
          </p:txBody>
        </p:sp>
        <p:sp>
          <p:nvSpPr>
            <p:cNvPr id="8" name="Text 6">
              <a:extLst>
                <a:ext uri="{FF2B5EF4-FFF2-40B4-BE49-F238E27FC236}">
                  <a16:creationId xmlns:a16="http://schemas.microsoft.com/office/drawing/2014/main" id="{AE7AFB66-C31F-B3D3-8575-4D492A267C1A}"/>
                </a:ext>
              </a:extLst>
            </p:cNvPr>
            <p:cNvSpPr/>
            <p:nvPr/>
          </p:nvSpPr>
          <p:spPr>
            <a:xfrm>
              <a:off x="614363" y="1728754"/>
              <a:ext cx="2375883"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TLS 1.0发布于1999年，是SSL 3.0的升级版本</a:t>
              </a:r>
              <a:endParaRPr lang="en-US" dirty="0">
                <a:latin typeface="微软雅黑" panose="020B0503020204020204" pitchFamily="34" charset="-122"/>
                <a:ea typeface="微软雅黑" panose="020B0503020204020204" pitchFamily="34" charset="-122"/>
              </a:endParaRPr>
            </a:p>
          </p:txBody>
        </p:sp>
        <p:sp>
          <p:nvSpPr>
            <p:cNvPr id="9" name="Text 7">
              <a:extLst>
                <a:ext uri="{FF2B5EF4-FFF2-40B4-BE49-F238E27FC236}">
                  <a16:creationId xmlns:a16="http://schemas.microsoft.com/office/drawing/2014/main" id="{AF01B5E2-4EFB-254A-EA04-1D86C065994E}"/>
                </a:ext>
              </a:extLst>
            </p:cNvPr>
            <p:cNvSpPr/>
            <p:nvPr/>
          </p:nvSpPr>
          <p:spPr>
            <a:xfrm>
              <a:off x="614363" y="1928779"/>
              <a:ext cx="2923026"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最新版本TLS 1.3于2018年发布，大幅提升安全性和性能</a:t>
              </a:r>
              <a:endParaRPr lang="en-US" dirty="0">
                <a:latin typeface="微软雅黑" panose="020B0503020204020204" pitchFamily="34" charset="-122"/>
                <a:ea typeface="微软雅黑" panose="020B0503020204020204" pitchFamily="34" charset="-122"/>
              </a:endParaRPr>
            </a:p>
          </p:txBody>
        </p:sp>
        <p:sp>
          <p:nvSpPr>
            <p:cNvPr id="10" name="Shape 8">
              <a:extLst>
                <a:ext uri="{FF2B5EF4-FFF2-40B4-BE49-F238E27FC236}">
                  <a16:creationId xmlns:a16="http://schemas.microsoft.com/office/drawing/2014/main" id="{C08395DF-D364-7BDF-A975-364CA9303024}"/>
                </a:ext>
              </a:extLst>
            </p:cNvPr>
            <p:cNvSpPr/>
            <p:nvPr/>
          </p:nvSpPr>
          <p:spPr>
            <a:xfrm>
              <a:off x="400050" y="2250281"/>
              <a:ext cx="4114800" cy="1150144"/>
            </a:xfrm>
            <a:prstGeom prst="rect">
              <a:avLst/>
            </a:prstGeom>
            <a:solidFill>
              <a:srgbClr val="F8F9FA"/>
            </a:solidFill>
            <a:ln/>
          </p:spPr>
        </p:sp>
        <p:sp>
          <p:nvSpPr>
            <p:cNvPr id="11" name="Shape 9">
              <a:extLst>
                <a:ext uri="{FF2B5EF4-FFF2-40B4-BE49-F238E27FC236}">
                  <a16:creationId xmlns:a16="http://schemas.microsoft.com/office/drawing/2014/main" id="{386139BC-57D8-ACE6-899C-AD9A3137BE6C}"/>
                </a:ext>
              </a:extLst>
            </p:cNvPr>
            <p:cNvSpPr/>
            <p:nvPr/>
          </p:nvSpPr>
          <p:spPr>
            <a:xfrm>
              <a:off x="400050" y="2250281"/>
              <a:ext cx="28575" cy="1150144"/>
            </a:xfrm>
            <a:prstGeom prst="rect">
              <a:avLst/>
            </a:prstGeom>
            <a:solidFill>
              <a:srgbClr val="3498DB"/>
            </a:solidFill>
            <a:ln/>
          </p:spPr>
        </p:sp>
        <p:sp>
          <p:nvSpPr>
            <p:cNvPr id="13" name="Text 10">
              <a:extLst>
                <a:ext uri="{FF2B5EF4-FFF2-40B4-BE49-F238E27FC236}">
                  <a16:creationId xmlns:a16="http://schemas.microsoft.com/office/drawing/2014/main" id="{ED43E306-37B2-973C-F333-3A5A2A535E34}"/>
                </a:ext>
              </a:extLst>
            </p:cNvPr>
            <p:cNvSpPr/>
            <p:nvPr/>
          </p:nvSpPr>
          <p:spPr>
            <a:xfrm>
              <a:off x="471488" y="2339544"/>
              <a:ext cx="1302135" cy="157231"/>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SSL/TLS协议的主要目标</a:t>
              </a:r>
              <a:endParaRPr lang="en-US" dirty="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50D3CCA3-A2B1-DF22-F4FC-81296709EDCD}"/>
                </a:ext>
              </a:extLst>
            </p:cNvPr>
            <p:cNvSpPr/>
            <p:nvPr/>
          </p:nvSpPr>
          <p:spPr>
            <a:xfrm>
              <a:off x="614363" y="2563679"/>
              <a:ext cx="473205" cy="157231"/>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加密通信</a:t>
              </a:r>
              <a:endParaRPr lang="en-US"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97EF7315-8B57-32AA-6BAC-79E9584820E3}"/>
                </a:ext>
              </a:extLst>
            </p:cNvPr>
            <p:cNvSpPr/>
            <p:nvPr/>
          </p:nvSpPr>
          <p:spPr>
            <a:xfrm>
              <a:off x="1071563" y="2563679"/>
              <a:ext cx="1774518"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：确保数据在传输过程中的保密性</a:t>
              </a:r>
              <a:endParaRPr lang="en-US"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74428E65-BC5B-60E3-4D3A-0DB619742CB1}"/>
                </a:ext>
              </a:extLst>
            </p:cNvPr>
            <p:cNvSpPr/>
            <p:nvPr/>
          </p:nvSpPr>
          <p:spPr>
            <a:xfrm>
              <a:off x="614363" y="2763704"/>
              <a:ext cx="473205" cy="157231"/>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身份验证</a:t>
              </a:r>
              <a:endParaRPr lang="en-US"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382CB053-21DC-ACF0-53DB-99FDB8F427B4}"/>
                </a:ext>
              </a:extLst>
            </p:cNvPr>
            <p:cNvSpPr/>
            <p:nvPr/>
          </p:nvSpPr>
          <p:spPr>
            <a:xfrm>
              <a:off x="1071563" y="2763704"/>
              <a:ext cx="2011121"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：验证通信双方的身份，防止身份欺骗</a:t>
              </a:r>
              <a:endParaRPr lang="en-US" dirty="0">
                <a:latin typeface="微软雅黑" panose="020B0503020204020204" pitchFamily="34" charset="-122"/>
                <a:ea typeface="微软雅黑" panose="020B0503020204020204" pitchFamily="34" charset="-122"/>
              </a:endParaRPr>
            </a:p>
          </p:txBody>
        </p:sp>
        <p:sp>
          <p:nvSpPr>
            <p:cNvPr id="18" name="Text 15">
              <a:extLst>
                <a:ext uri="{FF2B5EF4-FFF2-40B4-BE49-F238E27FC236}">
                  <a16:creationId xmlns:a16="http://schemas.microsoft.com/office/drawing/2014/main" id="{EB2482AD-C673-D42B-D990-1D11D7C0057E}"/>
                </a:ext>
              </a:extLst>
            </p:cNvPr>
            <p:cNvSpPr/>
            <p:nvPr/>
          </p:nvSpPr>
          <p:spPr>
            <a:xfrm>
              <a:off x="614363" y="2963729"/>
              <a:ext cx="591506" cy="157231"/>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数据完整性</a:t>
              </a:r>
              <a:endParaRPr lang="en-US" dirty="0">
                <a:latin typeface="微软雅黑" panose="020B0503020204020204" pitchFamily="34" charset="-122"/>
                <a:ea typeface="微软雅黑" panose="020B0503020204020204" pitchFamily="34" charset="-122"/>
              </a:endParaRPr>
            </a:p>
          </p:txBody>
        </p:sp>
        <p:sp>
          <p:nvSpPr>
            <p:cNvPr id="19" name="Text 16">
              <a:extLst>
                <a:ext uri="{FF2B5EF4-FFF2-40B4-BE49-F238E27FC236}">
                  <a16:creationId xmlns:a16="http://schemas.microsoft.com/office/drawing/2014/main" id="{38D2A452-D272-9995-BBF0-02D8E5FE861B}"/>
                </a:ext>
              </a:extLst>
            </p:cNvPr>
            <p:cNvSpPr/>
            <p:nvPr/>
          </p:nvSpPr>
          <p:spPr>
            <a:xfrm>
              <a:off x="1185863" y="2963729"/>
              <a:ext cx="1774518"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：确保数据在传输过程中不被篡改</a:t>
              </a:r>
              <a:endParaRPr lang="en-US" dirty="0">
                <a:latin typeface="微软雅黑" panose="020B0503020204020204" pitchFamily="34" charset="-122"/>
                <a:ea typeface="微软雅黑" panose="020B0503020204020204" pitchFamily="34" charset="-122"/>
              </a:endParaRPr>
            </a:p>
          </p:txBody>
        </p:sp>
        <p:sp>
          <p:nvSpPr>
            <p:cNvPr id="20" name="Text 17">
              <a:extLst>
                <a:ext uri="{FF2B5EF4-FFF2-40B4-BE49-F238E27FC236}">
                  <a16:creationId xmlns:a16="http://schemas.microsoft.com/office/drawing/2014/main" id="{10A450F4-40DC-BA0C-6CAE-620B4688DB9E}"/>
                </a:ext>
              </a:extLst>
            </p:cNvPr>
            <p:cNvSpPr/>
            <p:nvPr/>
          </p:nvSpPr>
          <p:spPr>
            <a:xfrm>
              <a:off x="614363" y="3163754"/>
              <a:ext cx="473205" cy="157231"/>
            </a:xfrm>
            <a:prstGeom prst="rect">
              <a:avLst/>
            </a:prstGeom>
            <a:noFill/>
            <a:ln/>
          </p:spPr>
          <p:txBody>
            <a:bodyPr wrap="non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前向保密</a:t>
              </a:r>
              <a:endParaRPr lang="en-US" dirty="0">
                <a:latin typeface="微软雅黑" panose="020B0503020204020204" pitchFamily="34" charset="-122"/>
                <a:ea typeface="微软雅黑" panose="020B0503020204020204" pitchFamily="34" charset="-122"/>
              </a:endParaRPr>
            </a:p>
          </p:txBody>
        </p:sp>
        <p:sp>
          <p:nvSpPr>
            <p:cNvPr id="21" name="Text 18">
              <a:extLst>
                <a:ext uri="{FF2B5EF4-FFF2-40B4-BE49-F238E27FC236}">
                  <a16:creationId xmlns:a16="http://schemas.microsoft.com/office/drawing/2014/main" id="{B5C3FBF4-ED9A-C73A-C294-905F64792603}"/>
                </a:ext>
              </a:extLst>
            </p:cNvPr>
            <p:cNvSpPr/>
            <p:nvPr/>
          </p:nvSpPr>
          <p:spPr>
            <a:xfrm>
              <a:off x="1071563" y="3163754"/>
              <a:ext cx="2247723" cy="157231"/>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：即使长期密钥泄露，过去的会话仍然安全</a:t>
              </a:r>
              <a:endParaRPr lang="en-US" dirty="0">
                <a:latin typeface="微软雅黑" panose="020B0503020204020204" pitchFamily="34" charset="-122"/>
                <a:ea typeface="微软雅黑" panose="020B0503020204020204" pitchFamily="34" charset="-122"/>
              </a:endParaRPr>
            </a:p>
          </p:txBody>
        </p:sp>
      </p:grpSp>
      <p:sp>
        <p:nvSpPr>
          <p:cNvPr id="24" name="Shape 21">
            <a:extLst>
              <a:ext uri="{FF2B5EF4-FFF2-40B4-BE49-F238E27FC236}">
                <a16:creationId xmlns:a16="http://schemas.microsoft.com/office/drawing/2014/main" id="{031ED582-763E-9000-50DF-D0AEE3B73219}"/>
              </a:ext>
            </a:extLst>
          </p:cNvPr>
          <p:cNvSpPr/>
          <p:nvPr/>
        </p:nvSpPr>
        <p:spPr>
          <a:xfrm>
            <a:off x="8609457" y="1894017"/>
            <a:ext cx="20041" cy="3782759"/>
          </a:xfrm>
          <a:prstGeom prst="rect">
            <a:avLst/>
          </a:prstGeom>
          <a:solidFill>
            <a:srgbClr val="3498DB"/>
          </a:solidFill>
          <a:ln cap="sq">
            <a:solidFill>
              <a:schemeClr val="accent1"/>
            </a:solidFill>
            <a:prstDash val="sysDash"/>
          </a:ln>
        </p:spPr>
        <p:txBody>
          <a:bodyPr/>
          <a:lstStyle/>
          <a:p>
            <a:endParaRPr lang="zh-CN" altLang="en-US"/>
          </a:p>
        </p:txBody>
      </p:sp>
      <p:sp>
        <p:nvSpPr>
          <p:cNvPr id="25" name="Text 22">
            <a:extLst>
              <a:ext uri="{FF2B5EF4-FFF2-40B4-BE49-F238E27FC236}">
                <a16:creationId xmlns:a16="http://schemas.microsoft.com/office/drawing/2014/main" id="{742A860B-EE0B-6D4B-17EE-D846915F730A}"/>
              </a:ext>
            </a:extLst>
          </p:cNvPr>
          <p:cNvSpPr/>
          <p:nvPr/>
        </p:nvSpPr>
        <p:spPr>
          <a:xfrm>
            <a:off x="8778987" y="2091981"/>
            <a:ext cx="2540760" cy="276999"/>
          </a:xfrm>
          <a:prstGeom prst="rect">
            <a:avLst/>
          </a:prstGeom>
          <a:noFill/>
          <a:ln/>
        </p:spPr>
        <p:txBody>
          <a:bodyPr wrap="non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SSL/TLS协议的版本演进</a:t>
            </a:r>
            <a:endParaRPr lang="en-US" dirty="0">
              <a:latin typeface="微软雅黑" panose="020B0503020204020204" pitchFamily="34" charset="-122"/>
              <a:ea typeface="微软雅黑" panose="020B0503020204020204" pitchFamily="34" charset="-122"/>
            </a:endParaRPr>
          </a:p>
        </p:txBody>
      </p:sp>
      <p:sp>
        <p:nvSpPr>
          <p:cNvPr id="26" name="Text 23">
            <a:extLst>
              <a:ext uri="{FF2B5EF4-FFF2-40B4-BE49-F238E27FC236}">
                <a16:creationId xmlns:a16="http://schemas.microsoft.com/office/drawing/2014/main" id="{80F8B242-36A1-1438-1981-13F31B4170B2}"/>
              </a:ext>
            </a:extLst>
          </p:cNvPr>
          <p:cNvSpPr/>
          <p:nvPr/>
        </p:nvSpPr>
        <p:spPr>
          <a:xfrm>
            <a:off x="8778987" y="2782023"/>
            <a:ext cx="3822588" cy="2585323"/>
          </a:xfrm>
          <a:prstGeom prst="rect">
            <a:avLst/>
          </a:prstGeom>
          <a:noFill/>
          <a:ln/>
        </p:spPr>
        <p:txBody>
          <a:bodyPr wrap="square" lIns="0" tIns="0" rIns="0" bIns="0" rtlCol="0" anchor="ctr">
            <a:spAutoFit/>
          </a:bodyPr>
          <a:lstStyle/>
          <a:p>
            <a:pPr marL="0" indent="0" algn="l">
              <a:buNone/>
            </a:pPr>
            <a:r>
              <a:rPr lang="en-US" sz="1400" b="1" dirty="0">
                <a:solidFill>
                  <a:srgbClr val="34495E"/>
                </a:solidFill>
                <a:latin typeface="Noto Sans" pitchFamily="34" charset="0"/>
                <a:ea typeface="Noto Sans" pitchFamily="34" charset="-122"/>
                <a:cs typeface="Noto Sans" pitchFamily="34" charset="-120"/>
              </a:rPr>
              <a:t>SSL 2.0 (1995)</a:t>
            </a:r>
          </a:p>
          <a:p>
            <a:r>
              <a:rPr lang="en-US" altLang="zh-CN" sz="1400" dirty="0" err="1">
                <a:solidFill>
                  <a:srgbClr val="34495E"/>
                </a:solidFill>
                <a:latin typeface="Noto Sans" pitchFamily="34" charset="0"/>
                <a:ea typeface="Noto Sans" pitchFamily="34" charset="-122"/>
                <a:cs typeface="Noto Sans" pitchFamily="34" charset="-120"/>
              </a:rPr>
              <a:t>最早的公开版本，存在严重安全漏洞</a:t>
            </a:r>
            <a:endParaRPr lang="en-US" altLang="zh-CN" sz="1400" dirty="0">
              <a:solidFill>
                <a:srgbClr val="34495E"/>
              </a:solidFill>
              <a:latin typeface="Noto Sans" pitchFamily="34" charset="0"/>
              <a:ea typeface="Noto Sans" pitchFamily="34" charset="-122"/>
              <a:cs typeface="Noto Sans" pitchFamily="34" charset="-120"/>
            </a:endParaRPr>
          </a:p>
          <a:p>
            <a:r>
              <a:rPr lang="en-US" altLang="zh-CN" sz="1400" b="1" dirty="0">
                <a:solidFill>
                  <a:srgbClr val="34495E"/>
                </a:solidFill>
                <a:latin typeface="Noto Sans" pitchFamily="34" charset="0"/>
                <a:ea typeface="Noto Sans" pitchFamily="34" charset="-122"/>
                <a:cs typeface="Noto Sans" pitchFamily="34" charset="-120"/>
              </a:rPr>
              <a:t>SSL 3.0 (1996)</a:t>
            </a:r>
            <a:endParaRPr lang="en-US" altLang="zh-CN" sz="1400" dirty="0">
              <a:solidFill>
                <a:srgbClr val="34495E"/>
              </a:solidFill>
              <a:latin typeface="Noto Sans" pitchFamily="34" charset="0"/>
              <a:ea typeface="Noto Sans" pitchFamily="34" charset="-122"/>
              <a:cs typeface="Noto Sans" pitchFamily="34" charset="-120"/>
            </a:endParaRPr>
          </a:p>
          <a:p>
            <a:r>
              <a:rPr lang="en-US" altLang="zh-CN" sz="1400" dirty="0" err="1">
                <a:solidFill>
                  <a:srgbClr val="34495E"/>
                </a:solidFill>
                <a:latin typeface="Noto Sans" pitchFamily="34" charset="0"/>
                <a:ea typeface="Noto Sans" pitchFamily="34" charset="-122"/>
                <a:cs typeface="Noto Sans" pitchFamily="34" charset="-120"/>
              </a:rPr>
              <a:t>重大改进，但仍有POODLE等漏洞</a:t>
            </a:r>
            <a:endParaRPr lang="en-US" altLang="zh-CN" sz="1400" dirty="0">
              <a:solidFill>
                <a:srgbClr val="34495E"/>
              </a:solidFill>
              <a:latin typeface="Noto Sans" pitchFamily="34" charset="0"/>
              <a:ea typeface="Noto Sans" pitchFamily="34" charset="-122"/>
              <a:cs typeface="Noto Sans" pitchFamily="34" charset="-120"/>
            </a:endParaRPr>
          </a:p>
          <a:p>
            <a:r>
              <a:rPr lang="en-US" altLang="zh-CN" sz="1400" b="1" dirty="0">
                <a:solidFill>
                  <a:srgbClr val="34495E"/>
                </a:solidFill>
                <a:latin typeface="Noto Sans" pitchFamily="34" charset="0"/>
                <a:ea typeface="Noto Sans" pitchFamily="34" charset="-122"/>
                <a:cs typeface="Noto Sans" pitchFamily="34" charset="-120"/>
              </a:rPr>
              <a:t>TLS 1.0 (1999)</a:t>
            </a:r>
            <a:endParaRPr lang="en-US" altLang="zh-CN" sz="1400" dirty="0">
              <a:solidFill>
                <a:srgbClr val="34495E"/>
              </a:solidFill>
              <a:latin typeface="Noto Sans" pitchFamily="34" charset="0"/>
              <a:ea typeface="Noto Sans" pitchFamily="34" charset="-122"/>
              <a:cs typeface="Noto Sans" pitchFamily="34" charset="-120"/>
            </a:endParaRPr>
          </a:p>
          <a:p>
            <a:r>
              <a:rPr lang="en-US" altLang="zh-CN" sz="1400" dirty="0" err="1">
                <a:solidFill>
                  <a:srgbClr val="34495E"/>
                </a:solidFill>
                <a:latin typeface="Noto Sans" pitchFamily="34" charset="0"/>
                <a:ea typeface="Noto Sans" pitchFamily="34" charset="-122"/>
                <a:cs typeface="Noto Sans" pitchFamily="34" charset="-120"/>
              </a:rPr>
              <a:t>基于SSL</a:t>
            </a:r>
            <a:r>
              <a:rPr lang="en-US" altLang="zh-CN" sz="1400" dirty="0">
                <a:solidFill>
                  <a:srgbClr val="34495E"/>
                </a:solidFill>
                <a:latin typeface="Noto Sans" pitchFamily="34" charset="0"/>
                <a:ea typeface="Noto Sans" pitchFamily="34" charset="-122"/>
                <a:cs typeface="Noto Sans" pitchFamily="34" charset="-120"/>
              </a:rPr>
              <a:t> 3.0，但有BEAST攻击风险</a:t>
            </a:r>
          </a:p>
          <a:p>
            <a:r>
              <a:rPr lang="en-US" altLang="zh-CN" sz="1400" b="1" dirty="0">
                <a:solidFill>
                  <a:srgbClr val="34495E"/>
                </a:solidFill>
                <a:latin typeface="Noto Sans" pitchFamily="34" charset="0"/>
                <a:ea typeface="Noto Sans" pitchFamily="34" charset="-122"/>
                <a:cs typeface="Noto Sans" pitchFamily="34" charset="-120"/>
              </a:rPr>
              <a:t>TLS 1.1 (2006)</a:t>
            </a:r>
          </a:p>
          <a:p>
            <a:r>
              <a:rPr lang="en-US" altLang="zh-CN" sz="1400" dirty="0" err="1">
                <a:solidFill>
                  <a:srgbClr val="34495E"/>
                </a:solidFill>
                <a:latin typeface="Noto Sans" pitchFamily="34" charset="0"/>
                <a:ea typeface="Noto Sans" pitchFamily="34" charset="-122"/>
                <a:cs typeface="Noto Sans" pitchFamily="34" charset="-120"/>
              </a:rPr>
              <a:t>改进了CBC模式，增强安全性</a:t>
            </a:r>
            <a:endParaRPr lang="en-US" altLang="zh-CN" sz="1400" dirty="0">
              <a:solidFill>
                <a:srgbClr val="34495E"/>
              </a:solidFill>
              <a:latin typeface="Noto Sans" pitchFamily="34" charset="0"/>
              <a:ea typeface="Noto Sans" pitchFamily="34" charset="-122"/>
              <a:cs typeface="Noto Sans" pitchFamily="34" charset="-120"/>
            </a:endParaRPr>
          </a:p>
          <a:p>
            <a:r>
              <a:rPr lang="en-US" altLang="zh-CN" sz="1400" b="1" dirty="0">
                <a:solidFill>
                  <a:srgbClr val="34495E"/>
                </a:solidFill>
                <a:latin typeface="Noto Sans" pitchFamily="34" charset="0"/>
                <a:ea typeface="Noto Sans" pitchFamily="34" charset="-122"/>
                <a:cs typeface="Noto Sans" pitchFamily="34" charset="-120"/>
              </a:rPr>
              <a:t>TLS 1.2 (2008)</a:t>
            </a:r>
            <a:endParaRPr lang="en-US" altLang="zh-CN" sz="1400" dirty="0"/>
          </a:p>
          <a:p>
            <a:r>
              <a:rPr lang="en-US" altLang="zh-CN" sz="1400" dirty="0" err="1">
                <a:solidFill>
                  <a:srgbClr val="34495E"/>
                </a:solidFill>
                <a:latin typeface="Noto Sans" pitchFamily="34" charset="0"/>
                <a:ea typeface="Noto Sans" pitchFamily="34" charset="-122"/>
                <a:cs typeface="Noto Sans" pitchFamily="34" charset="-120"/>
              </a:rPr>
              <a:t>支持AEAD加密套件，大幅提升安全性</a:t>
            </a:r>
            <a:endParaRPr lang="en-US" altLang="zh-CN" sz="1400" dirty="0">
              <a:solidFill>
                <a:srgbClr val="34495E"/>
              </a:solidFill>
              <a:latin typeface="Noto Sans" pitchFamily="34" charset="0"/>
              <a:ea typeface="Noto Sans" pitchFamily="34" charset="-122"/>
              <a:cs typeface="Noto Sans" pitchFamily="34" charset="-120"/>
            </a:endParaRPr>
          </a:p>
          <a:p>
            <a:r>
              <a:rPr lang="en-US" altLang="zh-CN" sz="1400" b="1" dirty="0">
                <a:solidFill>
                  <a:srgbClr val="34495E"/>
                </a:solidFill>
                <a:latin typeface="Noto Sans" pitchFamily="34" charset="0"/>
                <a:ea typeface="Noto Sans" pitchFamily="34" charset="-122"/>
                <a:cs typeface="Noto Sans" pitchFamily="34" charset="-120"/>
              </a:rPr>
              <a:t>TLS 1.3 (2018)</a:t>
            </a:r>
            <a:endParaRPr lang="en-US" altLang="zh-CN" sz="1400" dirty="0"/>
          </a:p>
          <a:p>
            <a:r>
              <a:rPr lang="en-US" altLang="zh-CN" sz="1400" dirty="0" err="1">
                <a:solidFill>
                  <a:srgbClr val="34495E"/>
                </a:solidFill>
                <a:latin typeface="Noto Sans" pitchFamily="34" charset="0"/>
                <a:ea typeface="Noto Sans" pitchFamily="34" charset="-122"/>
                <a:cs typeface="Noto Sans" pitchFamily="34" charset="-120"/>
              </a:rPr>
              <a:t>简化握手，移除不安全算法，提高性能</a:t>
            </a:r>
            <a:endParaRPr lang="en-US" sz="1400" dirty="0"/>
          </a:p>
        </p:txBody>
      </p:sp>
      <p:sp>
        <p:nvSpPr>
          <p:cNvPr id="28" name="Text 25">
            <a:extLst>
              <a:ext uri="{FF2B5EF4-FFF2-40B4-BE49-F238E27FC236}">
                <a16:creationId xmlns:a16="http://schemas.microsoft.com/office/drawing/2014/main" id="{2478B455-B9CE-D50E-3C6A-582167A81705}"/>
              </a:ext>
            </a:extLst>
          </p:cNvPr>
          <p:cNvSpPr/>
          <p:nvPr/>
        </p:nvSpPr>
        <p:spPr>
          <a:xfrm>
            <a:off x="8759767" y="3355290"/>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29" name="Text 26">
            <a:extLst>
              <a:ext uri="{FF2B5EF4-FFF2-40B4-BE49-F238E27FC236}">
                <a16:creationId xmlns:a16="http://schemas.microsoft.com/office/drawing/2014/main" id="{1A49338C-4D4E-67C6-FEBF-95A80ED4403D}"/>
              </a:ext>
            </a:extLst>
          </p:cNvPr>
          <p:cNvSpPr/>
          <p:nvPr/>
        </p:nvSpPr>
        <p:spPr>
          <a:xfrm>
            <a:off x="9287415" y="3355290"/>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30" name="Text 27">
            <a:extLst>
              <a:ext uri="{FF2B5EF4-FFF2-40B4-BE49-F238E27FC236}">
                <a16:creationId xmlns:a16="http://schemas.microsoft.com/office/drawing/2014/main" id="{E6E7EF47-E472-41E1-280C-E63F599127CB}"/>
              </a:ext>
            </a:extLst>
          </p:cNvPr>
          <p:cNvSpPr/>
          <p:nvPr/>
        </p:nvSpPr>
        <p:spPr>
          <a:xfrm>
            <a:off x="8759767" y="3843388"/>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31" name="Text 28">
            <a:extLst>
              <a:ext uri="{FF2B5EF4-FFF2-40B4-BE49-F238E27FC236}">
                <a16:creationId xmlns:a16="http://schemas.microsoft.com/office/drawing/2014/main" id="{C45DF22C-259A-DC5E-BCC0-BBF06CF140B1}"/>
              </a:ext>
            </a:extLst>
          </p:cNvPr>
          <p:cNvSpPr/>
          <p:nvPr/>
        </p:nvSpPr>
        <p:spPr>
          <a:xfrm>
            <a:off x="9289665" y="3843388"/>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38" name="Text 30">
            <a:extLst>
              <a:ext uri="{FF2B5EF4-FFF2-40B4-BE49-F238E27FC236}">
                <a16:creationId xmlns:a16="http://schemas.microsoft.com/office/drawing/2014/main" id="{51B5BE8C-4E05-E1A9-9550-9F86B2E7D833}"/>
              </a:ext>
            </a:extLst>
          </p:cNvPr>
          <p:cNvSpPr/>
          <p:nvPr/>
        </p:nvSpPr>
        <p:spPr>
          <a:xfrm>
            <a:off x="9289665" y="4331486"/>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39" name="Text 31">
            <a:extLst>
              <a:ext uri="{FF2B5EF4-FFF2-40B4-BE49-F238E27FC236}">
                <a16:creationId xmlns:a16="http://schemas.microsoft.com/office/drawing/2014/main" id="{C7747EB6-530B-DC60-80DA-366698CBBD2A}"/>
              </a:ext>
            </a:extLst>
          </p:cNvPr>
          <p:cNvSpPr/>
          <p:nvPr/>
        </p:nvSpPr>
        <p:spPr>
          <a:xfrm>
            <a:off x="8759767" y="4819584"/>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40" name="Text 32">
            <a:extLst>
              <a:ext uri="{FF2B5EF4-FFF2-40B4-BE49-F238E27FC236}">
                <a16:creationId xmlns:a16="http://schemas.microsoft.com/office/drawing/2014/main" id="{D34970BB-1425-7E55-BCE0-B63A580121BD}"/>
              </a:ext>
            </a:extLst>
          </p:cNvPr>
          <p:cNvSpPr/>
          <p:nvPr/>
        </p:nvSpPr>
        <p:spPr>
          <a:xfrm>
            <a:off x="9289665" y="4819584"/>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41" name="Text 33">
            <a:extLst>
              <a:ext uri="{FF2B5EF4-FFF2-40B4-BE49-F238E27FC236}">
                <a16:creationId xmlns:a16="http://schemas.microsoft.com/office/drawing/2014/main" id="{6CA0BFBC-A7DE-1398-CAFD-5473623507E2}"/>
              </a:ext>
            </a:extLst>
          </p:cNvPr>
          <p:cNvSpPr/>
          <p:nvPr/>
        </p:nvSpPr>
        <p:spPr>
          <a:xfrm>
            <a:off x="8759767" y="5307682"/>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
        <p:nvSpPr>
          <p:cNvPr id="42" name="Text 34">
            <a:extLst>
              <a:ext uri="{FF2B5EF4-FFF2-40B4-BE49-F238E27FC236}">
                <a16:creationId xmlns:a16="http://schemas.microsoft.com/office/drawing/2014/main" id="{FF9552C3-EA16-1887-2C72-EC831828DCD4}"/>
              </a:ext>
            </a:extLst>
          </p:cNvPr>
          <p:cNvSpPr/>
          <p:nvPr/>
        </p:nvSpPr>
        <p:spPr>
          <a:xfrm>
            <a:off x="9289665" y="5307682"/>
            <a:ext cx="65" cy="246221"/>
          </a:xfrm>
          <a:prstGeom prst="rect">
            <a:avLst/>
          </a:prstGeom>
          <a:noFill/>
          <a:ln/>
        </p:spPr>
        <p:txBody>
          <a:bodyPr wrap="none" lIns="0" tIns="0" rIns="0" bIns="0" rtlCol="0" anchor="ctr">
            <a:spAutoFit/>
          </a:bodyPr>
          <a:lstStyle/>
          <a:p>
            <a:pPr marL="0" indent="0" algn="l">
              <a:buNone/>
            </a:pPr>
            <a:endParaRPr 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01953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8C1B1-1033-645C-027F-E458D6066024}"/>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F78C073D-5334-0D24-60FE-2D66879F6147}"/>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3D89BD9C-2CDB-90F0-5C6A-00744BB2F01D}"/>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26AD194C-1A5D-DC50-4A19-3258AC409D7A}"/>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E0E1192B-484A-BB10-20A5-980EAFA04660}"/>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DD898500-7E38-38D7-923B-45EBA6CCCB0C}"/>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AD4FDAF4-96F4-19F5-2E74-B978D3DB0C6F}"/>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IE"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SSL/TLS</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协议</a:t>
              </a:r>
            </a:p>
          </p:txBody>
        </p:sp>
      </p:grpSp>
      <p:grpSp>
        <p:nvGrpSpPr>
          <p:cNvPr id="51" name="组合 50">
            <a:extLst>
              <a:ext uri="{FF2B5EF4-FFF2-40B4-BE49-F238E27FC236}">
                <a16:creationId xmlns:a16="http://schemas.microsoft.com/office/drawing/2014/main" id="{A223A83D-46DC-F77B-A638-B336CA0CDFB8}"/>
              </a:ext>
            </a:extLst>
          </p:cNvPr>
          <p:cNvGrpSpPr/>
          <p:nvPr/>
        </p:nvGrpSpPr>
        <p:grpSpPr>
          <a:xfrm>
            <a:off x="0" y="1780094"/>
            <a:ext cx="5411470" cy="3834608"/>
            <a:chOff x="0" y="1621847"/>
            <a:chExt cx="6954002" cy="4541383"/>
          </a:xfrm>
        </p:grpSpPr>
        <p:sp>
          <p:nvSpPr>
            <p:cNvPr id="24" name="Shape 1">
              <a:extLst>
                <a:ext uri="{FF2B5EF4-FFF2-40B4-BE49-F238E27FC236}">
                  <a16:creationId xmlns:a16="http://schemas.microsoft.com/office/drawing/2014/main" id="{D6ABA5AD-E1C3-098D-7A6F-21A41DF83C8D}"/>
                </a:ext>
              </a:extLst>
            </p:cNvPr>
            <p:cNvSpPr/>
            <p:nvPr/>
          </p:nvSpPr>
          <p:spPr>
            <a:xfrm>
              <a:off x="0" y="1621847"/>
              <a:ext cx="6954002" cy="4541383"/>
            </a:xfrm>
            <a:prstGeom prst="rect">
              <a:avLst/>
            </a:prstGeom>
            <a:solidFill>
              <a:srgbClr val="F8F9FA"/>
            </a:solidFill>
            <a:ln/>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25" name="Shape 2">
              <a:extLst>
                <a:ext uri="{FF2B5EF4-FFF2-40B4-BE49-F238E27FC236}">
                  <a16:creationId xmlns:a16="http://schemas.microsoft.com/office/drawing/2014/main" id="{96098A26-1655-37BC-DD9F-113F625469D8}"/>
                </a:ext>
              </a:extLst>
            </p:cNvPr>
            <p:cNvSpPr/>
            <p:nvPr/>
          </p:nvSpPr>
          <p:spPr>
            <a:xfrm>
              <a:off x="153148" y="1621847"/>
              <a:ext cx="57352" cy="4541383"/>
            </a:xfrm>
            <a:prstGeom prst="rect">
              <a:avLst/>
            </a:prstGeom>
            <a:solidFill>
              <a:srgbClr val="3498DB"/>
            </a:solidFill>
            <a:ln/>
          </p:spPr>
        </p:sp>
        <p:sp>
          <p:nvSpPr>
            <p:cNvPr id="26" name="Text 3">
              <a:extLst>
                <a:ext uri="{FF2B5EF4-FFF2-40B4-BE49-F238E27FC236}">
                  <a16:creationId xmlns:a16="http://schemas.microsoft.com/office/drawing/2014/main" id="{8A14B75C-4B11-3B7D-36E9-99D730BF2EBE}"/>
                </a:ext>
              </a:extLst>
            </p:cNvPr>
            <p:cNvSpPr/>
            <p:nvPr/>
          </p:nvSpPr>
          <p:spPr>
            <a:xfrm>
              <a:off x="296528" y="1868681"/>
              <a:ext cx="1360950" cy="215444"/>
            </a:xfrm>
            <a:prstGeom prst="rect">
              <a:avLst/>
            </a:prstGeom>
            <a:noFill/>
            <a:ln/>
          </p:spPr>
          <p:txBody>
            <a:bodyPr wrap="none" lIns="0" tIns="0" rIns="0" bIns="0" rtlCol="0" anchor="ctr">
              <a:spAutoFit/>
            </a:bodyPr>
            <a:lstStyle/>
            <a:p>
              <a:pPr marL="0" indent="0">
                <a:buNone/>
              </a:pPr>
              <a:r>
                <a:rPr lang="en-US" sz="1400" b="1" dirty="0">
                  <a:solidFill>
                    <a:srgbClr val="2C3E50"/>
                  </a:solidFill>
                  <a:latin typeface="微软雅黑" panose="020B0503020204020204" pitchFamily="34" charset="-122"/>
                  <a:ea typeface="微软雅黑" panose="020B0503020204020204" pitchFamily="34" charset="-122"/>
                  <a:cs typeface="Noto Sans" pitchFamily="34" charset="-120"/>
                </a:rPr>
                <a:t>TLS 1.2握手过程</a:t>
              </a:r>
              <a:endParaRPr lang="en-US" sz="1400" dirty="0">
                <a:latin typeface="微软雅黑" panose="020B0503020204020204" pitchFamily="34" charset="-122"/>
                <a:ea typeface="微软雅黑" panose="020B0503020204020204" pitchFamily="34" charset="-122"/>
              </a:endParaRPr>
            </a:p>
          </p:txBody>
        </p:sp>
        <p:sp>
          <p:nvSpPr>
            <p:cNvPr id="27" name="Text 4">
              <a:extLst>
                <a:ext uri="{FF2B5EF4-FFF2-40B4-BE49-F238E27FC236}">
                  <a16:creationId xmlns:a16="http://schemas.microsoft.com/office/drawing/2014/main" id="{F6645373-9DB5-DF96-5004-EC5EEB881A86}"/>
                </a:ext>
              </a:extLst>
            </p:cNvPr>
            <p:cNvSpPr/>
            <p:nvPr/>
          </p:nvSpPr>
          <p:spPr>
            <a:xfrm>
              <a:off x="583286" y="2342058"/>
              <a:ext cx="997068"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ClientHello</a:t>
              </a:r>
              <a:endParaRPr lang="en-US" sz="1400" dirty="0">
                <a:latin typeface="微软雅黑" panose="020B0503020204020204" pitchFamily="34" charset="-122"/>
                <a:ea typeface="微软雅黑" panose="020B0503020204020204" pitchFamily="34" charset="-122"/>
              </a:endParaRPr>
            </a:p>
          </p:txBody>
        </p:sp>
        <p:sp>
          <p:nvSpPr>
            <p:cNvPr id="28" name="Text 5">
              <a:extLst>
                <a:ext uri="{FF2B5EF4-FFF2-40B4-BE49-F238E27FC236}">
                  <a16:creationId xmlns:a16="http://schemas.microsoft.com/office/drawing/2014/main" id="{465C8A58-E730-7F86-F722-65B8EEA413D7}"/>
                </a:ext>
              </a:extLst>
            </p:cNvPr>
            <p:cNvSpPr/>
            <p:nvPr/>
          </p:nvSpPr>
          <p:spPr>
            <a:xfrm>
              <a:off x="1848268" y="2342058"/>
              <a:ext cx="3888885"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：客户端发送支持的TLS版本、加密套件和随机数</a:t>
              </a:r>
              <a:endParaRPr lang="en-US" sz="1400" dirty="0">
                <a:latin typeface="微软雅黑" panose="020B0503020204020204" pitchFamily="34" charset="-122"/>
                <a:ea typeface="微软雅黑" panose="020B0503020204020204" pitchFamily="34" charset="-122"/>
              </a:endParaRPr>
            </a:p>
          </p:txBody>
        </p:sp>
        <p:sp>
          <p:nvSpPr>
            <p:cNvPr id="29" name="Text 6">
              <a:extLst>
                <a:ext uri="{FF2B5EF4-FFF2-40B4-BE49-F238E27FC236}">
                  <a16:creationId xmlns:a16="http://schemas.microsoft.com/office/drawing/2014/main" id="{7A85FD41-0F9D-8C76-9518-8E9C1288BA59}"/>
                </a:ext>
              </a:extLst>
            </p:cNvPr>
            <p:cNvSpPr/>
            <p:nvPr/>
          </p:nvSpPr>
          <p:spPr>
            <a:xfrm>
              <a:off x="583286" y="2764512"/>
              <a:ext cx="1052532"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ServerHello</a:t>
              </a:r>
              <a:endParaRPr lang="en-US" sz="1400" dirty="0">
                <a:latin typeface="微软雅黑" panose="020B0503020204020204" pitchFamily="34" charset="-122"/>
                <a:ea typeface="微软雅黑" panose="020B0503020204020204" pitchFamily="34" charset="-122"/>
              </a:endParaRPr>
            </a:p>
          </p:txBody>
        </p:sp>
        <p:sp>
          <p:nvSpPr>
            <p:cNvPr id="30" name="Text 7">
              <a:extLst>
                <a:ext uri="{FF2B5EF4-FFF2-40B4-BE49-F238E27FC236}">
                  <a16:creationId xmlns:a16="http://schemas.microsoft.com/office/drawing/2014/main" id="{92D81953-06F0-FB99-8BAA-C744B372425B}"/>
                </a:ext>
              </a:extLst>
            </p:cNvPr>
            <p:cNvSpPr/>
            <p:nvPr/>
          </p:nvSpPr>
          <p:spPr>
            <a:xfrm>
              <a:off x="1912733" y="2764512"/>
              <a:ext cx="3709349"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：服务器选择TLS版本、加密套件并发送随机数</a:t>
              </a:r>
              <a:endParaRPr lang="en-US" sz="1400" dirty="0">
                <a:latin typeface="微软雅黑" panose="020B0503020204020204" pitchFamily="34" charset="-122"/>
                <a:ea typeface="微软雅黑" panose="020B0503020204020204" pitchFamily="34" charset="-122"/>
              </a:endParaRPr>
            </a:p>
          </p:txBody>
        </p:sp>
        <p:sp>
          <p:nvSpPr>
            <p:cNvPr id="31" name="Text 8">
              <a:extLst>
                <a:ext uri="{FF2B5EF4-FFF2-40B4-BE49-F238E27FC236}">
                  <a16:creationId xmlns:a16="http://schemas.microsoft.com/office/drawing/2014/main" id="{C6370832-D671-7DAE-E344-4739E0C87B20}"/>
                </a:ext>
              </a:extLst>
            </p:cNvPr>
            <p:cNvSpPr/>
            <p:nvPr/>
          </p:nvSpPr>
          <p:spPr>
            <a:xfrm>
              <a:off x="583286" y="3186966"/>
              <a:ext cx="931281"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Certificate</a:t>
              </a:r>
              <a:endParaRPr lang="en-US" sz="1400" dirty="0">
                <a:latin typeface="微软雅黑" panose="020B0503020204020204" pitchFamily="34" charset="-122"/>
                <a:ea typeface="微软雅黑" panose="020B0503020204020204" pitchFamily="34" charset="-122"/>
              </a:endParaRPr>
            </a:p>
          </p:txBody>
        </p:sp>
        <p:sp>
          <p:nvSpPr>
            <p:cNvPr id="32" name="Text 9">
              <a:extLst>
                <a:ext uri="{FF2B5EF4-FFF2-40B4-BE49-F238E27FC236}">
                  <a16:creationId xmlns:a16="http://schemas.microsoft.com/office/drawing/2014/main" id="{129A344F-CAA5-2FCD-9E9B-025345FA8B09}"/>
                </a:ext>
              </a:extLst>
            </p:cNvPr>
            <p:cNvSpPr/>
            <p:nvPr/>
          </p:nvSpPr>
          <p:spPr>
            <a:xfrm>
              <a:off x="1789068" y="3186966"/>
              <a:ext cx="1795363"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：服务器发送其证书链</a:t>
              </a:r>
              <a:endParaRPr lang="en-US" sz="1400" dirty="0">
                <a:latin typeface="微软雅黑" panose="020B0503020204020204" pitchFamily="34" charset="-122"/>
                <a:ea typeface="微软雅黑" panose="020B0503020204020204" pitchFamily="34" charset="-122"/>
              </a:endParaRPr>
            </a:p>
          </p:txBody>
        </p:sp>
        <p:sp>
          <p:nvSpPr>
            <p:cNvPr id="38" name="Text 10">
              <a:extLst>
                <a:ext uri="{FF2B5EF4-FFF2-40B4-BE49-F238E27FC236}">
                  <a16:creationId xmlns:a16="http://schemas.microsoft.com/office/drawing/2014/main" id="{ACCD5F52-E49F-36DB-80B5-C0DEC369CF59}"/>
                </a:ext>
              </a:extLst>
            </p:cNvPr>
            <p:cNvSpPr/>
            <p:nvPr/>
          </p:nvSpPr>
          <p:spPr>
            <a:xfrm>
              <a:off x="583286" y="3609421"/>
              <a:ext cx="1763816"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ServerKeyExchange</a:t>
              </a:r>
              <a:endParaRPr lang="en-US" sz="1400" dirty="0">
                <a:latin typeface="微软雅黑" panose="020B0503020204020204" pitchFamily="34" charset="-122"/>
                <a:ea typeface="微软雅黑" panose="020B0503020204020204" pitchFamily="34" charset="-122"/>
              </a:endParaRPr>
            </a:p>
          </p:txBody>
        </p:sp>
        <p:sp>
          <p:nvSpPr>
            <p:cNvPr id="39" name="Text 11">
              <a:extLst>
                <a:ext uri="{FF2B5EF4-FFF2-40B4-BE49-F238E27FC236}">
                  <a16:creationId xmlns:a16="http://schemas.microsoft.com/office/drawing/2014/main" id="{4D7B56FC-93FE-5678-1D25-60DFBEA6ED65}"/>
                </a:ext>
              </a:extLst>
            </p:cNvPr>
            <p:cNvSpPr/>
            <p:nvPr/>
          </p:nvSpPr>
          <p:spPr>
            <a:xfrm>
              <a:off x="2828735" y="3609422"/>
              <a:ext cx="3327834"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：服务器发送密钥交换参数（如DH参数）</a:t>
              </a:r>
              <a:endParaRPr lang="en-US" sz="1400" dirty="0">
                <a:latin typeface="微软雅黑" panose="020B0503020204020204" pitchFamily="34" charset="-122"/>
                <a:ea typeface="微软雅黑" panose="020B0503020204020204" pitchFamily="34" charset="-122"/>
              </a:endParaRPr>
            </a:p>
          </p:txBody>
        </p:sp>
        <p:sp>
          <p:nvSpPr>
            <p:cNvPr id="40" name="Text 12">
              <a:extLst>
                <a:ext uri="{FF2B5EF4-FFF2-40B4-BE49-F238E27FC236}">
                  <a16:creationId xmlns:a16="http://schemas.microsoft.com/office/drawing/2014/main" id="{755EA46B-7A7C-2B1B-B466-6AD8CDC07704}"/>
                </a:ext>
              </a:extLst>
            </p:cNvPr>
            <p:cNvSpPr/>
            <p:nvPr/>
          </p:nvSpPr>
          <p:spPr>
            <a:xfrm>
              <a:off x="583286" y="4031875"/>
              <a:ext cx="1657313"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CertificateRequest</a:t>
              </a:r>
              <a:endParaRPr lang="en-US" sz="1400" dirty="0">
                <a:latin typeface="微软雅黑" panose="020B0503020204020204" pitchFamily="34" charset="-122"/>
                <a:ea typeface="微软雅黑" panose="020B0503020204020204" pitchFamily="34" charset="-122"/>
              </a:endParaRPr>
            </a:p>
          </p:txBody>
        </p:sp>
        <p:sp>
          <p:nvSpPr>
            <p:cNvPr id="41" name="Text 13">
              <a:extLst>
                <a:ext uri="{FF2B5EF4-FFF2-40B4-BE49-F238E27FC236}">
                  <a16:creationId xmlns:a16="http://schemas.microsoft.com/office/drawing/2014/main" id="{F3EE60C2-3D2D-BB4B-1B2D-8AA1F588C705}"/>
                </a:ext>
              </a:extLst>
            </p:cNvPr>
            <p:cNvSpPr/>
            <p:nvPr/>
          </p:nvSpPr>
          <p:spPr>
            <a:xfrm>
              <a:off x="2721144" y="4031875"/>
              <a:ext cx="2693045"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：（可选）服务器请求客户端证书</a:t>
              </a:r>
              <a:endParaRPr lang="en-US" sz="1400" dirty="0">
                <a:latin typeface="微软雅黑" panose="020B0503020204020204" pitchFamily="34" charset="-122"/>
                <a:ea typeface="微软雅黑" panose="020B0503020204020204" pitchFamily="34" charset="-122"/>
              </a:endParaRPr>
            </a:p>
          </p:txBody>
        </p:sp>
        <p:sp>
          <p:nvSpPr>
            <p:cNvPr id="42" name="Text 14">
              <a:extLst>
                <a:ext uri="{FF2B5EF4-FFF2-40B4-BE49-F238E27FC236}">
                  <a16:creationId xmlns:a16="http://schemas.microsoft.com/office/drawing/2014/main" id="{08BD40DA-1456-1E13-078E-28AB6608C0D0}"/>
                </a:ext>
              </a:extLst>
            </p:cNvPr>
            <p:cNvSpPr/>
            <p:nvPr/>
          </p:nvSpPr>
          <p:spPr>
            <a:xfrm>
              <a:off x="583286" y="4454329"/>
              <a:ext cx="1535036"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ServerHelloDone</a:t>
              </a:r>
              <a:endParaRPr lang="en-US" sz="1400" dirty="0">
                <a:latin typeface="微软雅黑" panose="020B0503020204020204" pitchFamily="34" charset="-122"/>
                <a:ea typeface="微软雅黑" panose="020B0503020204020204" pitchFamily="34" charset="-122"/>
              </a:endParaRPr>
            </a:p>
          </p:txBody>
        </p:sp>
        <p:sp>
          <p:nvSpPr>
            <p:cNvPr id="43" name="Text 15">
              <a:extLst>
                <a:ext uri="{FF2B5EF4-FFF2-40B4-BE49-F238E27FC236}">
                  <a16:creationId xmlns:a16="http://schemas.microsoft.com/office/drawing/2014/main" id="{9DD82D1D-1319-D58B-D0BC-C9921C2D9102}"/>
                </a:ext>
              </a:extLst>
            </p:cNvPr>
            <p:cNvSpPr/>
            <p:nvPr/>
          </p:nvSpPr>
          <p:spPr>
            <a:xfrm>
              <a:off x="2510779" y="4454329"/>
              <a:ext cx="2154436"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：服务器完成初始消息发送</a:t>
              </a:r>
              <a:endParaRPr lang="en-US" sz="1400" dirty="0">
                <a:latin typeface="微软雅黑" panose="020B0503020204020204" pitchFamily="34" charset="-122"/>
                <a:ea typeface="微软雅黑" panose="020B0503020204020204" pitchFamily="34" charset="-122"/>
              </a:endParaRPr>
            </a:p>
          </p:txBody>
        </p:sp>
        <p:sp>
          <p:nvSpPr>
            <p:cNvPr id="44" name="Text 16">
              <a:extLst>
                <a:ext uri="{FF2B5EF4-FFF2-40B4-BE49-F238E27FC236}">
                  <a16:creationId xmlns:a16="http://schemas.microsoft.com/office/drawing/2014/main" id="{0AAD8BE3-FDAA-C5E7-3E6E-B73E649C9516}"/>
                </a:ext>
              </a:extLst>
            </p:cNvPr>
            <p:cNvSpPr/>
            <p:nvPr/>
          </p:nvSpPr>
          <p:spPr>
            <a:xfrm>
              <a:off x="583286" y="4876783"/>
              <a:ext cx="1708353"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ClientKeyExchange</a:t>
              </a:r>
              <a:endParaRPr lang="en-US" sz="1400" dirty="0">
                <a:latin typeface="微软雅黑" panose="020B0503020204020204" pitchFamily="34" charset="-122"/>
                <a:ea typeface="微软雅黑" panose="020B0503020204020204" pitchFamily="34" charset="-122"/>
              </a:endParaRPr>
            </a:p>
          </p:txBody>
        </p:sp>
        <p:sp>
          <p:nvSpPr>
            <p:cNvPr id="45" name="Text 17">
              <a:extLst>
                <a:ext uri="{FF2B5EF4-FFF2-40B4-BE49-F238E27FC236}">
                  <a16:creationId xmlns:a16="http://schemas.microsoft.com/office/drawing/2014/main" id="{27BBF664-C2A3-3F99-7623-70EF929317E9}"/>
                </a:ext>
              </a:extLst>
            </p:cNvPr>
            <p:cNvSpPr/>
            <p:nvPr/>
          </p:nvSpPr>
          <p:spPr>
            <a:xfrm>
              <a:off x="2764270" y="4876783"/>
              <a:ext cx="2154436"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：客户端发送密钥交换信息</a:t>
              </a:r>
              <a:endParaRPr lang="en-US" sz="1400" dirty="0">
                <a:latin typeface="微软雅黑" panose="020B0503020204020204" pitchFamily="34" charset="-122"/>
                <a:ea typeface="微软雅黑" panose="020B0503020204020204" pitchFamily="34" charset="-122"/>
              </a:endParaRPr>
            </a:p>
          </p:txBody>
        </p:sp>
        <p:sp>
          <p:nvSpPr>
            <p:cNvPr id="46" name="Text 18">
              <a:extLst>
                <a:ext uri="{FF2B5EF4-FFF2-40B4-BE49-F238E27FC236}">
                  <a16:creationId xmlns:a16="http://schemas.microsoft.com/office/drawing/2014/main" id="{CE8AD0F5-872A-795B-2890-0ED0C271017E}"/>
                </a:ext>
              </a:extLst>
            </p:cNvPr>
            <p:cNvSpPr/>
            <p:nvPr/>
          </p:nvSpPr>
          <p:spPr>
            <a:xfrm>
              <a:off x="583286" y="5299237"/>
              <a:ext cx="1692771"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ChangeCipherSpec</a:t>
              </a:r>
              <a:endParaRPr lang="en-US" sz="1400" dirty="0">
                <a:latin typeface="微软雅黑" panose="020B0503020204020204" pitchFamily="34" charset="-122"/>
                <a:ea typeface="微软雅黑" panose="020B0503020204020204" pitchFamily="34" charset="-122"/>
              </a:endParaRPr>
            </a:p>
          </p:txBody>
        </p:sp>
        <p:sp>
          <p:nvSpPr>
            <p:cNvPr id="47" name="Text 19">
              <a:extLst>
                <a:ext uri="{FF2B5EF4-FFF2-40B4-BE49-F238E27FC236}">
                  <a16:creationId xmlns:a16="http://schemas.microsoft.com/office/drawing/2014/main" id="{A5752307-B216-3998-36AB-2D57828D9C01}"/>
                </a:ext>
              </a:extLst>
            </p:cNvPr>
            <p:cNvSpPr/>
            <p:nvPr/>
          </p:nvSpPr>
          <p:spPr>
            <a:xfrm>
              <a:off x="2727138" y="5299237"/>
              <a:ext cx="2154436"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：双方通知切换到加密通信</a:t>
              </a:r>
              <a:endParaRPr lang="en-US" sz="1400" dirty="0">
                <a:latin typeface="微软雅黑" panose="020B0503020204020204" pitchFamily="34" charset="-122"/>
                <a:ea typeface="微软雅黑" panose="020B0503020204020204" pitchFamily="34" charset="-122"/>
              </a:endParaRPr>
            </a:p>
          </p:txBody>
        </p:sp>
        <p:sp>
          <p:nvSpPr>
            <p:cNvPr id="48" name="Text 20">
              <a:extLst>
                <a:ext uri="{FF2B5EF4-FFF2-40B4-BE49-F238E27FC236}">
                  <a16:creationId xmlns:a16="http://schemas.microsoft.com/office/drawing/2014/main" id="{118D0055-F879-4808-9367-5D126B62CA2C}"/>
                </a:ext>
              </a:extLst>
            </p:cNvPr>
            <p:cNvSpPr/>
            <p:nvPr/>
          </p:nvSpPr>
          <p:spPr>
            <a:xfrm>
              <a:off x="583286" y="5721692"/>
              <a:ext cx="750205" cy="215444"/>
            </a:xfrm>
            <a:prstGeom prst="rect">
              <a:avLst/>
            </a:prstGeom>
            <a:noFill/>
            <a:ln/>
          </p:spPr>
          <p:txBody>
            <a:bodyPr wrap="none" lIns="0" tIns="0" rIns="0" bIns="0" rtlCol="0" anchor="ctr">
              <a:spAutoFit/>
            </a:bodyPr>
            <a:lstStyle/>
            <a:p>
              <a:pPr marL="0" indent="0" algn="l">
                <a:buNone/>
              </a:pPr>
              <a:r>
                <a:rPr lang="en-US" sz="1400" b="1" dirty="0">
                  <a:solidFill>
                    <a:srgbClr val="34495E"/>
                  </a:solidFill>
                  <a:latin typeface="微软雅黑" panose="020B0503020204020204" pitchFamily="34" charset="-122"/>
                  <a:ea typeface="微软雅黑" panose="020B0503020204020204" pitchFamily="34" charset="-122"/>
                  <a:cs typeface="Noto Sans" pitchFamily="34" charset="-120"/>
                </a:rPr>
                <a:t>Finished</a:t>
              </a:r>
              <a:endParaRPr lang="en-US" sz="1400" dirty="0">
                <a:latin typeface="微软雅黑" panose="020B0503020204020204" pitchFamily="34" charset="-122"/>
                <a:ea typeface="微软雅黑" panose="020B0503020204020204" pitchFamily="34" charset="-122"/>
              </a:endParaRPr>
            </a:p>
          </p:txBody>
        </p:sp>
        <p:sp>
          <p:nvSpPr>
            <p:cNvPr id="49" name="Text 21">
              <a:extLst>
                <a:ext uri="{FF2B5EF4-FFF2-40B4-BE49-F238E27FC236}">
                  <a16:creationId xmlns:a16="http://schemas.microsoft.com/office/drawing/2014/main" id="{4DC8F304-276B-3295-1445-6D487FA980F9}"/>
                </a:ext>
              </a:extLst>
            </p:cNvPr>
            <p:cNvSpPr/>
            <p:nvPr/>
          </p:nvSpPr>
          <p:spPr>
            <a:xfrm>
              <a:off x="1545436" y="5721692"/>
              <a:ext cx="1974900" cy="215444"/>
            </a:xfrm>
            <a:prstGeom prst="rect">
              <a:avLst/>
            </a:prstGeom>
            <a:noFill/>
            <a:ln/>
          </p:spPr>
          <p:txBody>
            <a:bodyPr wrap="none" lIns="0" tIns="0" rIns="0" bIns="0" rtlCol="0" anchor="ctr">
              <a:spAutoFit/>
            </a:bodyPr>
            <a:lstStyle/>
            <a:p>
              <a:pPr marL="0" indent="0" algn="l">
                <a:buNone/>
              </a:pPr>
              <a:r>
                <a:rPr lang="en-US" sz="1400" dirty="0">
                  <a:solidFill>
                    <a:srgbClr val="34495E"/>
                  </a:solidFill>
                  <a:latin typeface="微软雅黑" panose="020B0503020204020204" pitchFamily="34" charset="-122"/>
                  <a:ea typeface="微软雅黑" panose="020B0503020204020204" pitchFamily="34" charset="-122"/>
                  <a:cs typeface="Noto Sans" pitchFamily="34" charset="-120"/>
                </a:rPr>
                <a:t>：验证握手消息的完整性</a:t>
              </a:r>
              <a:endParaRPr lang="en-US" sz="1400" dirty="0">
                <a:latin typeface="微软雅黑" panose="020B0503020204020204" pitchFamily="34" charset="-122"/>
                <a:ea typeface="微软雅黑" panose="020B0503020204020204" pitchFamily="34" charset="-122"/>
              </a:endParaRPr>
            </a:p>
          </p:txBody>
        </p:sp>
      </p:grpSp>
      <p:pic>
        <p:nvPicPr>
          <p:cNvPr id="50" name="Image 1" descr="preencoded.png">
            <a:extLst>
              <a:ext uri="{FF2B5EF4-FFF2-40B4-BE49-F238E27FC236}">
                <a16:creationId xmlns:a16="http://schemas.microsoft.com/office/drawing/2014/main" id="{E6C86B8F-1B2B-4C44-2CF6-EC857FBB288F}"/>
              </a:ext>
            </a:extLst>
          </p:cNvPr>
          <p:cNvPicPr>
            <a:picLocks noChangeAspect="1"/>
          </p:cNvPicPr>
          <p:nvPr/>
        </p:nvPicPr>
        <p:blipFill>
          <a:blip r:embed="rId3"/>
          <a:stretch>
            <a:fillRect/>
          </a:stretch>
        </p:blipFill>
        <p:spPr>
          <a:xfrm>
            <a:off x="5478145" y="1780094"/>
            <a:ext cx="6713855" cy="3834608"/>
          </a:xfrm>
          <a:prstGeom prst="rect">
            <a:avLst/>
          </a:prstGeom>
        </p:spPr>
      </p:pic>
    </p:spTree>
    <p:extLst>
      <p:ext uri="{BB962C8B-B14F-4D97-AF65-F5344CB8AC3E}">
        <p14:creationId xmlns:p14="http://schemas.microsoft.com/office/powerpoint/2010/main" val="1812719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11489-F3A9-8637-35BE-35AC7CB00D0F}"/>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B54CF870-BEC0-1EFF-0ED8-2034538970F1}"/>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C2B95DBA-1E5B-E776-C47F-D55E52F6150D}"/>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887B0B55-B58C-4C65-C9CF-36219CD78760}"/>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6C0DAFFA-6C23-D10D-82FF-6F250B485A3C}"/>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ECA4386C-6ED7-E491-6306-8236FE415E6F}"/>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FF76BD50-B900-BCA9-D428-71F1E4365A1A}"/>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IPsec</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协议</a:t>
              </a:r>
            </a:p>
          </p:txBody>
        </p:sp>
      </p:grpSp>
      <p:grpSp>
        <p:nvGrpSpPr>
          <p:cNvPr id="26" name="组合 25">
            <a:extLst>
              <a:ext uri="{FF2B5EF4-FFF2-40B4-BE49-F238E27FC236}">
                <a16:creationId xmlns:a16="http://schemas.microsoft.com/office/drawing/2014/main" id="{3CB8146A-2BC3-C5D0-6890-02B008B902E6}"/>
              </a:ext>
            </a:extLst>
          </p:cNvPr>
          <p:cNvGrpSpPr/>
          <p:nvPr/>
        </p:nvGrpSpPr>
        <p:grpSpPr>
          <a:xfrm>
            <a:off x="218137" y="1741488"/>
            <a:ext cx="6224059" cy="2413473"/>
            <a:chOff x="218136" y="1741488"/>
            <a:chExt cx="8689413" cy="2413473"/>
          </a:xfrm>
        </p:grpSpPr>
        <p:sp>
          <p:nvSpPr>
            <p:cNvPr id="3" name="Shape 1">
              <a:extLst>
                <a:ext uri="{FF2B5EF4-FFF2-40B4-BE49-F238E27FC236}">
                  <a16:creationId xmlns:a16="http://schemas.microsoft.com/office/drawing/2014/main" id="{0A36809F-E77E-A5EB-ECF7-50C1E4162469}"/>
                </a:ext>
              </a:extLst>
            </p:cNvPr>
            <p:cNvSpPr/>
            <p:nvPr/>
          </p:nvSpPr>
          <p:spPr>
            <a:xfrm>
              <a:off x="218136" y="1742724"/>
              <a:ext cx="8689413" cy="2412237"/>
            </a:xfrm>
            <a:prstGeom prst="rect">
              <a:avLst/>
            </a:prstGeom>
            <a:solidFill>
              <a:srgbClr val="F8F9FA"/>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4" name="Shape 2">
              <a:extLst>
                <a:ext uri="{FF2B5EF4-FFF2-40B4-BE49-F238E27FC236}">
                  <a16:creationId xmlns:a16="http://schemas.microsoft.com/office/drawing/2014/main" id="{385D26AF-3EF7-01CE-DAA2-91D2031BEBCA}"/>
                </a:ext>
              </a:extLst>
            </p:cNvPr>
            <p:cNvSpPr/>
            <p:nvPr/>
          </p:nvSpPr>
          <p:spPr>
            <a:xfrm>
              <a:off x="278479" y="1741488"/>
              <a:ext cx="60343" cy="2412237"/>
            </a:xfrm>
            <a:prstGeom prst="rect">
              <a:avLst/>
            </a:prstGeom>
            <a:solidFill>
              <a:srgbClr val="3498DB"/>
            </a:solidFill>
            <a:ln/>
          </p:spPr>
        </p:sp>
        <p:sp>
          <p:nvSpPr>
            <p:cNvPr id="5" name="Text 3">
              <a:extLst>
                <a:ext uri="{FF2B5EF4-FFF2-40B4-BE49-F238E27FC236}">
                  <a16:creationId xmlns:a16="http://schemas.microsoft.com/office/drawing/2014/main" id="{C3DC92A8-2204-5547-8EA0-E90DE503EF40}"/>
                </a:ext>
              </a:extLst>
            </p:cNvPr>
            <p:cNvSpPr/>
            <p:nvPr/>
          </p:nvSpPr>
          <p:spPr>
            <a:xfrm>
              <a:off x="429338" y="1879609"/>
              <a:ext cx="1313679" cy="246221"/>
            </a:xfrm>
            <a:prstGeom prst="rect">
              <a:avLst/>
            </a:prstGeom>
            <a:noFill/>
            <a:ln/>
          </p:spPr>
          <p:txBody>
            <a:bodyPr wrap="non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IPsec简介</a:t>
              </a:r>
              <a:endParaRPr lang="en-US" sz="1600" dirty="0">
                <a:latin typeface="微软雅黑" panose="020B0503020204020204" pitchFamily="34" charset="-122"/>
                <a:ea typeface="微软雅黑" panose="020B0503020204020204" pitchFamily="34" charset="-122"/>
              </a:endParaRPr>
            </a:p>
          </p:txBody>
        </p:sp>
        <p:sp>
          <p:nvSpPr>
            <p:cNvPr id="6" name="Text 4">
              <a:extLst>
                <a:ext uri="{FF2B5EF4-FFF2-40B4-BE49-F238E27FC236}">
                  <a16:creationId xmlns:a16="http://schemas.microsoft.com/office/drawing/2014/main" id="{208546EE-E799-8C4C-0F8B-B1379634A77D}"/>
                </a:ext>
              </a:extLst>
            </p:cNvPr>
            <p:cNvSpPr/>
            <p:nvPr/>
          </p:nvSpPr>
          <p:spPr>
            <a:xfrm>
              <a:off x="429338" y="2240058"/>
              <a:ext cx="8387697" cy="492443"/>
            </a:xfrm>
            <a:prstGeom prst="rect">
              <a:avLst/>
            </a:prstGeom>
            <a:noFill/>
            <a:ln/>
          </p:spPr>
          <p:txBody>
            <a:bodyPr wrap="square" lIns="0" tIns="0" rIns="0" bIns="0" rtlCol="0" anchor="ctr">
              <a:spAutoFit/>
            </a:bodyPr>
            <a:lstStyle/>
            <a:p>
              <a:pPr marL="0" indent="0">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IPsec（Internet Protocol Security）是一组用于保护IP通信安全的协议，工作在网络层，为IP数据包提供加密、认证和完整性保护。</a:t>
              </a:r>
              <a:endParaRPr lang="en-US" sz="1600" dirty="0">
                <a:latin typeface="微软雅黑" panose="020B0503020204020204" pitchFamily="34" charset="-122"/>
                <a:ea typeface="微软雅黑" panose="020B0503020204020204" pitchFamily="34" charset="-122"/>
              </a:endParaRPr>
            </a:p>
          </p:txBody>
        </p:sp>
        <p:sp>
          <p:nvSpPr>
            <p:cNvPr id="7" name="Text 5">
              <a:extLst>
                <a:ext uri="{FF2B5EF4-FFF2-40B4-BE49-F238E27FC236}">
                  <a16:creationId xmlns:a16="http://schemas.microsoft.com/office/drawing/2014/main" id="{DA675B51-620B-FAE8-5BA5-833BF48945D3}"/>
                </a:ext>
              </a:extLst>
            </p:cNvPr>
            <p:cNvSpPr/>
            <p:nvPr/>
          </p:nvSpPr>
          <p:spPr>
            <a:xfrm>
              <a:off x="731054" y="2852286"/>
              <a:ext cx="7036663"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由IETF开发，最初在RFC 1825-1829中定义（1995年）</a:t>
              </a:r>
              <a:endParaRPr lang="en-US" sz="1600" dirty="0">
                <a:latin typeface="微软雅黑" panose="020B0503020204020204" pitchFamily="34" charset="-122"/>
                <a:ea typeface="微软雅黑" panose="020B0503020204020204" pitchFamily="34" charset="-122"/>
              </a:endParaRPr>
            </a:p>
          </p:txBody>
        </p:sp>
        <p:sp>
          <p:nvSpPr>
            <p:cNvPr id="8" name="Text 6">
              <a:extLst>
                <a:ext uri="{FF2B5EF4-FFF2-40B4-BE49-F238E27FC236}">
                  <a16:creationId xmlns:a16="http://schemas.microsoft.com/office/drawing/2014/main" id="{7CC935DA-6CB5-F2B9-8AF1-B78C5945B568}"/>
                </a:ext>
              </a:extLst>
            </p:cNvPr>
            <p:cNvSpPr/>
            <p:nvPr/>
          </p:nvSpPr>
          <p:spPr>
            <a:xfrm>
              <a:off x="731054" y="3163543"/>
              <a:ext cx="4375199"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当前版本在RFC 4301-4309中定义</a:t>
              </a:r>
              <a:endParaRPr lang="en-US" sz="1600" dirty="0">
                <a:latin typeface="微软雅黑" panose="020B0503020204020204" pitchFamily="34" charset="-122"/>
                <a:ea typeface="微软雅黑" panose="020B0503020204020204" pitchFamily="34" charset="-122"/>
              </a:endParaRPr>
            </a:p>
          </p:txBody>
        </p:sp>
        <p:sp>
          <p:nvSpPr>
            <p:cNvPr id="9" name="Text 7">
              <a:extLst>
                <a:ext uri="{FF2B5EF4-FFF2-40B4-BE49-F238E27FC236}">
                  <a16:creationId xmlns:a16="http://schemas.microsoft.com/office/drawing/2014/main" id="{49EBABA9-5EEE-053D-C9F8-C9E0D7F26221}"/>
                </a:ext>
              </a:extLst>
            </p:cNvPr>
            <p:cNvSpPr/>
            <p:nvPr/>
          </p:nvSpPr>
          <p:spPr>
            <a:xfrm>
              <a:off x="731054" y="3474799"/>
              <a:ext cx="6015619"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提供端到端、网关到网关或端到网关的安全通信</a:t>
              </a:r>
              <a:endParaRPr lang="en-US" sz="1600" dirty="0">
                <a:latin typeface="微软雅黑" panose="020B0503020204020204" pitchFamily="34" charset="-122"/>
                <a:ea typeface="微软雅黑" panose="020B0503020204020204" pitchFamily="34" charset="-122"/>
              </a:endParaRPr>
            </a:p>
          </p:txBody>
        </p:sp>
        <p:sp>
          <p:nvSpPr>
            <p:cNvPr id="10" name="Text 8">
              <a:extLst>
                <a:ext uri="{FF2B5EF4-FFF2-40B4-BE49-F238E27FC236}">
                  <a16:creationId xmlns:a16="http://schemas.microsoft.com/office/drawing/2014/main" id="{7E7610D6-ED45-5B89-8D59-DE096EABE045}"/>
                </a:ext>
              </a:extLst>
            </p:cNvPr>
            <p:cNvSpPr/>
            <p:nvPr/>
          </p:nvSpPr>
          <p:spPr>
            <a:xfrm>
              <a:off x="731054" y="3786055"/>
              <a:ext cx="4898881" cy="246221"/>
            </a:xfrm>
            <a:prstGeom prst="rect">
              <a:avLst/>
            </a:prstGeom>
            <a:noFill/>
            <a:ln/>
          </p:spPr>
          <p:txBody>
            <a:bodyPr wrap="non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广泛应用于VPN、远程访问和安全通信</a:t>
              </a:r>
              <a:endParaRPr lang="en-US" sz="1600" dirty="0">
                <a:latin typeface="微软雅黑" panose="020B0503020204020204" pitchFamily="34" charset="-122"/>
                <a:ea typeface="微软雅黑" panose="020B0503020204020204" pitchFamily="34" charset="-122"/>
              </a:endParaRPr>
            </a:p>
          </p:txBody>
        </p:sp>
      </p:grpSp>
      <p:sp>
        <p:nvSpPr>
          <p:cNvPr id="11" name="Shape 9">
            <a:extLst>
              <a:ext uri="{FF2B5EF4-FFF2-40B4-BE49-F238E27FC236}">
                <a16:creationId xmlns:a16="http://schemas.microsoft.com/office/drawing/2014/main" id="{BEACF818-D463-AD48-B090-FEE3C36A0506}"/>
              </a:ext>
            </a:extLst>
          </p:cNvPr>
          <p:cNvSpPr/>
          <p:nvPr/>
        </p:nvSpPr>
        <p:spPr>
          <a:xfrm>
            <a:off x="278480" y="4287119"/>
            <a:ext cx="6098884" cy="2100981"/>
          </a:xfrm>
          <a:prstGeom prst="rect">
            <a:avLst/>
          </a:prstGeom>
          <a:solidFill>
            <a:srgbClr val="F8F9FA"/>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13" name="Shape 10">
            <a:extLst>
              <a:ext uri="{FF2B5EF4-FFF2-40B4-BE49-F238E27FC236}">
                <a16:creationId xmlns:a16="http://schemas.microsoft.com/office/drawing/2014/main" id="{E1FAAB40-0755-E826-3DFE-90DB9A16770F}"/>
              </a:ext>
            </a:extLst>
          </p:cNvPr>
          <p:cNvSpPr/>
          <p:nvPr/>
        </p:nvSpPr>
        <p:spPr>
          <a:xfrm>
            <a:off x="278479" y="4287119"/>
            <a:ext cx="45842" cy="2100981"/>
          </a:xfrm>
          <a:prstGeom prst="rect">
            <a:avLst/>
          </a:prstGeom>
          <a:solidFill>
            <a:srgbClr val="3498DB"/>
          </a:solidFill>
          <a:ln/>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14" name="Text 11">
            <a:extLst>
              <a:ext uri="{FF2B5EF4-FFF2-40B4-BE49-F238E27FC236}">
                <a16:creationId xmlns:a16="http://schemas.microsoft.com/office/drawing/2014/main" id="{C3ED519A-E2F4-44DC-B35B-BADB8131F58B}"/>
              </a:ext>
            </a:extLst>
          </p:cNvPr>
          <p:cNvSpPr/>
          <p:nvPr/>
        </p:nvSpPr>
        <p:spPr>
          <a:xfrm>
            <a:off x="429337" y="4425241"/>
            <a:ext cx="2189063" cy="246221"/>
          </a:xfrm>
          <a:prstGeom prst="rect">
            <a:avLst/>
          </a:prstGeom>
          <a:noFill/>
          <a:ln/>
        </p:spPr>
        <p:txBody>
          <a:bodyPr wrap="squar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IPsec主要组件</a:t>
            </a:r>
            <a:endParaRPr lang="en-US" sz="1600" dirty="0">
              <a:latin typeface="微软雅黑" panose="020B0503020204020204" pitchFamily="34" charset="-122"/>
              <a:ea typeface="微软雅黑" panose="020B0503020204020204" pitchFamily="34" charset="-122"/>
            </a:endParaRPr>
          </a:p>
        </p:txBody>
      </p:sp>
      <p:sp>
        <p:nvSpPr>
          <p:cNvPr id="15" name="Text 12">
            <a:extLst>
              <a:ext uri="{FF2B5EF4-FFF2-40B4-BE49-F238E27FC236}">
                <a16:creationId xmlns:a16="http://schemas.microsoft.com/office/drawing/2014/main" id="{83AA6FC5-ECA6-FD75-1397-515033D825E0}"/>
              </a:ext>
            </a:extLst>
          </p:cNvPr>
          <p:cNvSpPr/>
          <p:nvPr/>
        </p:nvSpPr>
        <p:spPr>
          <a:xfrm>
            <a:off x="731054" y="4774017"/>
            <a:ext cx="2028273"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安全关联(SA)</a:t>
            </a:r>
            <a:endParaRPr lang="en-US" sz="1600" dirty="0">
              <a:latin typeface="微软雅黑" panose="020B0503020204020204" pitchFamily="34" charset="-122"/>
              <a:ea typeface="微软雅黑" panose="020B0503020204020204" pitchFamily="34" charset="-122"/>
            </a:endParaRPr>
          </a:p>
        </p:txBody>
      </p:sp>
      <p:sp>
        <p:nvSpPr>
          <p:cNvPr id="16" name="Text 13">
            <a:extLst>
              <a:ext uri="{FF2B5EF4-FFF2-40B4-BE49-F238E27FC236}">
                <a16:creationId xmlns:a16="http://schemas.microsoft.com/office/drawing/2014/main" id="{C958E6A3-5B67-A024-ACF6-AF4413E8821E}"/>
              </a:ext>
            </a:extLst>
          </p:cNvPr>
          <p:cNvSpPr/>
          <p:nvPr/>
        </p:nvSpPr>
        <p:spPr>
          <a:xfrm>
            <a:off x="2159783" y="4774017"/>
            <a:ext cx="3969258" cy="246221"/>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：通信双方建立的安全连接</a:t>
            </a:r>
            <a:endParaRPr lang="en-US" sz="1600" dirty="0">
              <a:latin typeface="微软雅黑" panose="020B0503020204020204" pitchFamily="34" charset="-122"/>
              <a:ea typeface="微软雅黑" panose="020B0503020204020204" pitchFamily="34" charset="-122"/>
            </a:endParaRPr>
          </a:p>
        </p:txBody>
      </p:sp>
      <p:sp>
        <p:nvSpPr>
          <p:cNvPr id="17" name="Text 14">
            <a:extLst>
              <a:ext uri="{FF2B5EF4-FFF2-40B4-BE49-F238E27FC236}">
                <a16:creationId xmlns:a16="http://schemas.microsoft.com/office/drawing/2014/main" id="{07C10968-8D91-5274-5D80-E5FFDDE7096B}"/>
              </a:ext>
            </a:extLst>
          </p:cNvPr>
          <p:cNvSpPr/>
          <p:nvPr/>
        </p:nvSpPr>
        <p:spPr>
          <a:xfrm>
            <a:off x="731054" y="5085273"/>
            <a:ext cx="1323085"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安全协议</a:t>
            </a:r>
            <a:endParaRPr lang="en-US" sz="1600" dirty="0">
              <a:latin typeface="微软雅黑" panose="020B0503020204020204" pitchFamily="34" charset="-122"/>
              <a:ea typeface="微软雅黑" panose="020B0503020204020204" pitchFamily="34" charset="-122"/>
            </a:endParaRPr>
          </a:p>
        </p:txBody>
      </p:sp>
      <p:sp>
        <p:nvSpPr>
          <p:cNvPr id="18" name="Text 15">
            <a:extLst>
              <a:ext uri="{FF2B5EF4-FFF2-40B4-BE49-F238E27FC236}">
                <a16:creationId xmlns:a16="http://schemas.microsoft.com/office/drawing/2014/main" id="{14011763-B1A5-352A-C928-78001F011E1E}"/>
              </a:ext>
            </a:extLst>
          </p:cNvPr>
          <p:cNvSpPr/>
          <p:nvPr/>
        </p:nvSpPr>
        <p:spPr>
          <a:xfrm>
            <a:off x="1696544" y="5069884"/>
            <a:ext cx="4203074" cy="276999"/>
          </a:xfrm>
          <a:prstGeom prst="rect">
            <a:avLst/>
          </a:prstGeom>
          <a:noFill/>
          <a:ln/>
        </p:spPr>
        <p:txBody>
          <a:bodyPr wrap="non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：AH（认证头）和ESP（封装安全载荷）</a:t>
            </a:r>
            <a:endParaRPr lang="en-US" dirty="0">
              <a:latin typeface="微软雅黑" panose="020B0503020204020204" pitchFamily="34" charset="-122"/>
              <a:ea typeface="微软雅黑" panose="020B0503020204020204" pitchFamily="34" charset="-122"/>
            </a:endParaRPr>
          </a:p>
        </p:txBody>
      </p:sp>
      <p:sp>
        <p:nvSpPr>
          <p:cNvPr id="19" name="Text 16">
            <a:extLst>
              <a:ext uri="{FF2B5EF4-FFF2-40B4-BE49-F238E27FC236}">
                <a16:creationId xmlns:a16="http://schemas.microsoft.com/office/drawing/2014/main" id="{FB9576F3-A7C0-9ED3-CD23-8A6485335038}"/>
              </a:ext>
            </a:extLst>
          </p:cNvPr>
          <p:cNvSpPr/>
          <p:nvPr/>
        </p:nvSpPr>
        <p:spPr>
          <a:xfrm>
            <a:off x="731054" y="5396529"/>
            <a:ext cx="1323085"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密钥管理</a:t>
            </a:r>
            <a:endParaRPr lang="en-US" sz="1600" dirty="0">
              <a:latin typeface="微软雅黑" panose="020B0503020204020204" pitchFamily="34" charset="-122"/>
              <a:ea typeface="微软雅黑" panose="020B0503020204020204" pitchFamily="34" charset="-122"/>
            </a:endParaRPr>
          </a:p>
        </p:txBody>
      </p:sp>
      <p:sp>
        <p:nvSpPr>
          <p:cNvPr id="20" name="Text 17">
            <a:extLst>
              <a:ext uri="{FF2B5EF4-FFF2-40B4-BE49-F238E27FC236}">
                <a16:creationId xmlns:a16="http://schemas.microsoft.com/office/drawing/2014/main" id="{1AF09F86-92A6-38D6-CCBC-86EF33303003}"/>
              </a:ext>
            </a:extLst>
          </p:cNvPr>
          <p:cNvSpPr/>
          <p:nvPr/>
        </p:nvSpPr>
        <p:spPr>
          <a:xfrm>
            <a:off x="1696544" y="5396529"/>
            <a:ext cx="4745652" cy="246221"/>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：IKE（Internet密钥交换）协议</a:t>
            </a:r>
            <a:endParaRPr lang="en-US" sz="1600" dirty="0">
              <a:latin typeface="微软雅黑" panose="020B0503020204020204" pitchFamily="34" charset="-122"/>
              <a:ea typeface="微软雅黑" panose="020B0503020204020204" pitchFamily="34" charset="-122"/>
            </a:endParaRPr>
          </a:p>
        </p:txBody>
      </p:sp>
      <p:sp>
        <p:nvSpPr>
          <p:cNvPr id="21" name="Text 18">
            <a:extLst>
              <a:ext uri="{FF2B5EF4-FFF2-40B4-BE49-F238E27FC236}">
                <a16:creationId xmlns:a16="http://schemas.microsoft.com/office/drawing/2014/main" id="{91FC8DE9-8910-2B18-D32B-208DAA892FD6}"/>
              </a:ext>
            </a:extLst>
          </p:cNvPr>
          <p:cNvSpPr/>
          <p:nvPr/>
        </p:nvSpPr>
        <p:spPr>
          <a:xfrm>
            <a:off x="731054" y="5707786"/>
            <a:ext cx="3252586"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安全策略数据库(SPD)</a:t>
            </a:r>
            <a:endParaRPr lang="en-US" sz="1600" dirty="0">
              <a:latin typeface="微软雅黑" panose="020B0503020204020204" pitchFamily="34" charset="-122"/>
              <a:ea typeface="微软雅黑" panose="020B0503020204020204" pitchFamily="34" charset="-122"/>
            </a:endParaRPr>
          </a:p>
        </p:txBody>
      </p:sp>
      <p:sp>
        <p:nvSpPr>
          <p:cNvPr id="22" name="Text 19">
            <a:extLst>
              <a:ext uri="{FF2B5EF4-FFF2-40B4-BE49-F238E27FC236}">
                <a16:creationId xmlns:a16="http://schemas.microsoft.com/office/drawing/2014/main" id="{FC28F6F1-9F3E-47EA-C002-67C1ABC889FF}"/>
              </a:ext>
            </a:extLst>
          </p:cNvPr>
          <p:cNvSpPr/>
          <p:nvPr/>
        </p:nvSpPr>
        <p:spPr>
          <a:xfrm>
            <a:off x="3047545" y="5707786"/>
            <a:ext cx="2315401" cy="246221"/>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：定义安全策略</a:t>
            </a:r>
            <a:endParaRPr lang="en-US" sz="1600" dirty="0">
              <a:latin typeface="微软雅黑" panose="020B0503020204020204" pitchFamily="34" charset="-122"/>
              <a:ea typeface="微软雅黑" panose="020B0503020204020204" pitchFamily="34" charset="-122"/>
            </a:endParaRPr>
          </a:p>
        </p:txBody>
      </p:sp>
      <p:sp>
        <p:nvSpPr>
          <p:cNvPr id="23" name="Text 20">
            <a:extLst>
              <a:ext uri="{FF2B5EF4-FFF2-40B4-BE49-F238E27FC236}">
                <a16:creationId xmlns:a16="http://schemas.microsoft.com/office/drawing/2014/main" id="{8517D8F2-2C19-3254-0660-41669D1A50BC}"/>
              </a:ext>
            </a:extLst>
          </p:cNvPr>
          <p:cNvSpPr/>
          <p:nvPr/>
        </p:nvSpPr>
        <p:spPr>
          <a:xfrm>
            <a:off x="731054" y="6019042"/>
            <a:ext cx="3282448"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安全关联数据库(SAD)</a:t>
            </a:r>
            <a:endParaRPr lang="en-US" sz="1600" dirty="0">
              <a:latin typeface="微软雅黑" panose="020B0503020204020204" pitchFamily="34" charset="-122"/>
              <a:ea typeface="微软雅黑" panose="020B0503020204020204" pitchFamily="34" charset="-122"/>
            </a:endParaRPr>
          </a:p>
        </p:txBody>
      </p:sp>
      <p:sp>
        <p:nvSpPr>
          <p:cNvPr id="24" name="Text 21">
            <a:extLst>
              <a:ext uri="{FF2B5EF4-FFF2-40B4-BE49-F238E27FC236}">
                <a16:creationId xmlns:a16="http://schemas.microsoft.com/office/drawing/2014/main" id="{83615408-EA6E-150E-7ACD-C8915FB27C62}"/>
              </a:ext>
            </a:extLst>
          </p:cNvPr>
          <p:cNvSpPr/>
          <p:nvPr/>
        </p:nvSpPr>
        <p:spPr>
          <a:xfrm>
            <a:off x="3062513" y="6019042"/>
            <a:ext cx="2976943" cy="246221"/>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：存储安全关联信息</a:t>
            </a:r>
            <a:endParaRPr lang="en-US" sz="1600" dirty="0">
              <a:latin typeface="微软雅黑" panose="020B0503020204020204" pitchFamily="34" charset="-122"/>
              <a:ea typeface="微软雅黑" panose="020B0503020204020204" pitchFamily="34" charset="-122"/>
            </a:endParaRPr>
          </a:p>
        </p:txBody>
      </p:sp>
      <p:sp>
        <p:nvSpPr>
          <p:cNvPr id="56" name="Shape 23">
            <a:extLst>
              <a:ext uri="{FF2B5EF4-FFF2-40B4-BE49-F238E27FC236}">
                <a16:creationId xmlns:a16="http://schemas.microsoft.com/office/drawing/2014/main" id="{FCBE6F39-A579-1752-BF8D-840C4BBFAC14}"/>
              </a:ext>
            </a:extLst>
          </p:cNvPr>
          <p:cNvSpPr/>
          <p:nvPr/>
        </p:nvSpPr>
        <p:spPr>
          <a:xfrm>
            <a:off x="6547213" y="2994589"/>
            <a:ext cx="5444790" cy="2318272"/>
          </a:xfrm>
          <a:prstGeom prst="rect">
            <a:avLst/>
          </a:prstGeom>
          <a:solidFill>
            <a:srgbClr val="F8F9FA"/>
          </a:solidFill>
          <a:ln/>
        </p:spPr>
        <p:txBody>
          <a:bodyPr/>
          <a:lstStyle/>
          <a:p>
            <a:endParaRPr lang="zh-CN" altLang="en-US" sz="1600" dirty="0">
              <a:latin typeface="微软雅黑" panose="020B0503020204020204" pitchFamily="34" charset="-122"/>
              <a:ea typeface="微软雅黑" panose="020B0503020204020204" pitchFamily="34" charset="-122"/>
            </a:endParaRPr>
          </a:p>
        </p:txBody>
      </p:sp>
      <p:sp>
        <p:nvSpPr>
          <p:cNvPr id="57" name="Shape 24">
            <a:extLst>
              <a:ext uri="{FF2B5EF4-FFF2-40B4-BE49-F238E27FC236}">
                <a16:creationId xmlns:a16="http://schemas.microsoft.com/office/drawing/2014/main" id="{72C29D8F-6483-F117-6CDF-2AD00584184D}"/>
              </a:ext>
            </a:extLst>
          </p:cNvPr>
          <p:cNvSpPr/>
          <p:nvPr/>
        </p:nvSpPr>
        <p:spPr>
          <a:xfrm>
            <a:off x="6547212" y="2994589"/>
            <a:ext cx="45719" cy="2318272"/>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8" name="Text 25">
            <a:extLst>
              <a:ext uri="{FF2B5EF4-FFF2-40B4-BE49-F238E27FC236}">
                <a16:creationId xmlns:a16="http://schemas.microsoft.com/office/drawing/2014/main" id="{A33DE2FC-63E8-F623-0CA8-B6EE3321210B}"/>
              </a:ext>
            </a:extLst>
          </p:cNvPr>
          <p:cNvSpPr/>
          <p:nvPr/>
        </p:nvSpPr>
        <p:spPr>
          <a:xfrm>
            <a:off x="6678800" y="3256688"/>
            <a:ext cx="1359876" cy="246221"/>
          </a:xfrm>
          <a:prstGeom prst="rect">
            <a:avLst/>
          </a:prstGeom>
          <a:noFill/>
          <a:ln/>
        </p:spPr>
        <p:txBody>
          <a:bodyPr wrap="square" lIns="0" tIns="0" rIns="0" bIns="0" rtlCol="0" anchor="ctr">
            <a:spAutoFit/>
          </a:bodyPr>
          <a:lstStyle/>
          <a:p>
            <a:pPr marL="0" indent="0">
              <a:buNone/>
            </a:pPr>
            <a:r>
              <a:rPr lang="en-US" sz="1600" b="1" dirty="0">
                <a:solidFill>
                  <a:srgbClr val="2C3E50"/>
                </a:solidFill>
                <a:latin typeface="微软雅黑" panose="020B0503020204020204" pitchFamily="34" charset="-122"/>
                <a:ea typeface="微软雅黑" panose="020B0503020204020204" pitchFamily="34" charset="-122"/>
                <a:cs typeface="Noto Sans" pitchFamily="34" charset="-120"/>
              </a:rPr>
              <a:t>IPsec工作模式</a:t>
            </a:r>
            <a:endParaRPr lang="en-US" sz="1600" dirty="0">
              <a:latin typeface="微软雅黑" panose="020B0503020204020204" pitchFamily="34" charset="-122"/>
              <a:ea typeface="微软雅黑" panose="020B0503020204020204" pitchFamily="34" charset="-122"/>
            </a:endParaRPr>
          </a:p>
        </p:txBody>
      </p:sp>
      <p:sp>
        <p:nvSpPr>
          <p:cNvPr id="59" name="Text 26">
            <a:extLst>
              <a:ext uri="{FF2B5EF4-FFF2-40B4-BE49-F238E27FC236}">
                <a16:creationId xmlns:a16="http://schemas.microsoft.com/office/drawing/2014/main" id="{D8314640-F3C0-EDA4-87F0-025CF85F5978}"/>
              </a:ext>
            </a:extLst>
          </p:cNvPr>
          <p:cNvSpPr/>
          <p:nvPr/>
        </p:nvSpPr>
        <p:spPr>
          <a:xfrm>
            <a:off x="6941974" y="3770994"/>
            <a:ext cx="822467"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传输模式</a:t>
            </a:r>
            <a:endParaRPr lang="en-US" sz="1600" dirty="0">
              <a:latin typeface="微软雅黑" panose="020B0503020204020204" pitchFamily="34" charset="-122"/>
              <a:ea typeface="微软雅黑" panose="020B0503020204020204" pitchFamily="34" charset="-122"/>
            </a:endParaRPr>
          </a:p>
        </p:txBody>
      </p:sp>
      <p:sp>
        <p:nvSpPr>
          <p:cNvPr id="73" name="Text 27">
            <a:extLst>
              <a:ext uri="{FF2B5EF4-FFF2-40B4-BE49-F238E27FC236}">
                <a16:creationId xmlns:a16="http://schemas.microsoft.com/office/drawing/2014/main" id="{77A7E334-C710-AD5B-4B2E-710375FEA40F}"/>
              </a:ext>
            </a:extLst>
          </p:cNvPr>
          <p:cNvSpPr/>
          <p:nvPr/>
        </p:nvSpPr>
        <p:spPr>
          <a:xfrm>
            <a:off x="7784130" y="3770994"/>
            <a:ext cx="4088973" cy="246221"/>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：仅保护IP数据包的有效载荷，保留原始IP头</a:t>
            </a:r>
            <a:endParaRPr lang="en-US" sz="1600" dirty="0">
              <a:latin typeface="微软雅黑" panose="020B0503020204020204" pitchFamily="34" charset="-122"/>
              <a:ea typeface="微软雅黑" panose="020B0503020204020204" pitchFamily="34" charset="-122"/>
            </a:endParaRPr>
          </a:p>
        </p:txBody>
      </p:sp>
      <p:sp>
        <p:nvSpPr>
          <p:cNvPr id="95" name="Text 28">
            <a:extLst>
              <a:ext uri="{FF2B5EF4-FFF2-40B4-BE49-F238E27FC236}">
                <a16:creationId xmlns:a16="http://schemas.microsoft.com/office/drawing/2014/main" id="{43DE0689-AE7A-A5CA-BB21-97F7EF605BC7}"/>
              </a:ext>
            </a:extLst>
          </p:cNvPr>
          <p:cNvSpPr/>
          <p:nvPr/>
        </p:nvSpPr>
        <p:spPr>
          <a:xfrm>
            <a:off x="6941974" y="4229972"/>
            <a:ext cx="822467"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隧道模式</a:t>
            </a:r>
            <a:endParaRPr lang="en-US" sz="1600" dirty="0">
              <a:latin typeface="微软雅黑" panose="020B0503020204020204" pitchFamily="34" charset="-122"/>
              <a:ea typeface="微软雅黑" panose="020B0503020204020204" pitchFamily="34" charset="-122"/>
            </a:endParaRPr>
          </a:p>
        </p:txBody>
      </p:sp>
      <p:sp>
        <p:nvSpPr>
          <p:cNvPr id="96" name="Text 29">
            <a:extLst>
              <a:ext uri="{FF2B5EF4-FFF2-40B4-BE49-F238E27FC236}">
                <a16:creationId xmlns:a16="http://schemas.microsoft.com/office/drawing/2014/main" id="{1029E588-B7A2-3CAE-7900-873633315807}"/>
              </a:ext>
            </a:extLst>
          </p:cNvPr>
          <p:cNvSpPr/>
          <p:nvPr/>
        </p:nvSpPr>
        <p:spPr>
          <a:xfrm>
            <a:off x="7784130" y="4229972"/>
            <a:ext cx="3472121" cy="246221"/>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：保护整个IP数据包，并添加新的IP头</a:t>
            </a:r>
            <a:endParaRPr lang="en-US" sz="1600" dirty="0">
              <a:latin typeface="微软雅黑" panose="020B0503020204020204" pitchFamily="34" charset="-122"/>
              <a:ea typeface="微软雅黑" panose="020B0503020204020204" pitchFamily="34" charset="-122"/>
            </a:endParaRPr>
          </a:p>
        </p:txBody>
      </p:sp>
      <p:sp>
        <p:nvSpPr>
          <p:cNvPr id="97" name="Text 30">
            <a:extLst>
              <a:ext uri="{FF2B5EF4-FFF2-40B4-BE49-F238E27FC236}">
                <a16:creationId xmlns:a16="http://schemas.microsoft.com/office/drawing/2014/main" id="{5F9288F6-E495-0DCD-C95E-7B063EA70725}"/>
              </a:ext>
            </a:extLst>
          </p:cNvPr>
          <p:cNvSpPr/>
          <p:nvPr/>
        </p:nvSpPr>
        <p:spPr>
          <a:xfrm>
            <a:off x="6941974" y="4688952"/>
            <a:ext cx="822467" cy="246221"/>
          </a:xfrm>
          <a:prstGeom prst="rect">
            <a:avLst/>
          </a:prstGeom>
          <a:noFill/>
          <a:ln/>
        </p:spPr>
        <p:txBody>
          <a:bodyPr wrap="square" lIns="0" tIns="0" rIns="0" bIns="0" rtlCol="0" anchor="ctr">
            <a:spAutoFit/>
          </a:bodyPr>
          <a:lstStyle/>
          <a:p>
            <a:pPr marL="0" indent="0" algn="l">
              <a:buNone/>
            </a:pPr>
            <a:r>
              <a:rPr lang="en-US" sz="1600" b="1" dirty="0">
                <a:solidFill>
                  <a:srgbClr val="34495E"/>
                </a:solidFill>
                <a:latin typeface="微软雅黑" panose="020B0503020204020204" pitchFamily="34" charset="-122"/>
                <a:ea typeface="微软雅黑" panose="020B0503020204020204" pitchFamily="34" charset="-122"/>
                <a:cs typeface="Noto Sans" pitchFamily="34" charset="-120"/>
              </a:rPr>
              <a:t>应用场景</a:t>
            </a:r>
            <a:endParaRPr lang="en-US" sz="1600" dirty="0">
              <a:latin typeface="微软雅黑" panose="020B0503020204020204" pitchFamily="34" charset="-122"/>
              <a:ea typeface="微软雅黑" panose="020B0503020204020204" pitchFamily="34" charset="-122"/>
            </a:endParaRPr>
          </a:p>
        </p:txBody>
      </p:sp>
      <p:sp>
        <p:nvSpPr>
          <p:cNvPr id="98" name="Text 31">
            <a:extLst>
              <a:ext uri="{FF2B5EF4-FFF2-40B4-BE49-F238E27FC236}">
                <a16:creationId xmlns:a16="http://schemas.microsoft.com/office/drawing/2014/main" id="{34A376AE-ECA3-802A-7E86-C9B8105E7204}"/>
              </a:ext>
            </a:extLst>
          </p:cNvPr>
          <p:cNvSpPr/>
          <p:nvPr/>
        </p:nvSpPr>
        <p:spPr>
          <a:xfrm>
            <a:off x="7784129" y="4693226"/>
            <a:ext cx="3982777" cy="492443"/>
          </a:xfrm>
          <a:prstGeom prst="rect">
            <a:avLst/>
          </a:prstGeom>
          <a:noFill/>
          <a:ln/>
        </p:spPr>
        <p:txBody>
          <a:bodyPr wrap="square" lIns="0" tIns="0" rIns="0" bIns="0" rtlCol="0" anchor="ctr">
            <a:spAutoFit/>
          </a:bodyPr>
          <a:lstStyle/>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：传输模式适用于端到端通信，隧道模式适       </a:t>
            </a:r>
          </a:p>
          <a:p>
            <a:pPr marL="0" indent="0" algn="l">
              <a:buNone/>
            </a:pPr>
            <a:r>
              <a:rPr lang="en-US" sz="1600" dirty="0">
                <a:solidFill>
                  <a:srgbClr val="34495E"/>
                </a:solidFill>
                <a:latin typeface="微软雅黑" panose="020B0503020204020204" pitchFamily="34" charset="-122"/>
                <a:ea typeface="微软雅黑" panose="020B0503020204020204" pitchFamily="34" charset="-122"/>
                <a:cs typeface="Noto Sans" pitchFamily="34" charset="-120"/>
              </a:rPr>
              <a:t>    用于网关到网关通信</a:t>
            </a:r>
            <a:endParaRPr 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30193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146FF-738B-B8A7-8490-E2A9AD44F0FA}"/>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0E333D6E-7CFC-950C-C179-26B9A57F19D9}"/>
              </a:ext>
            </a:extLst>
          </p:cNvPr>
          <p:cNvSpPr/>
          <p:nvPr/>
        </p:nvSpPr>
        <p:spPr>
          <a:xfrm>
            <a:off x="333828" y="72453"/>
            <a:ext cx="7296682" cy="523220"/>
          </a:xfrm>
          <a:prstGeom prst="rect">
            <a:avLst/>
          </a:prstGeom>
        </p:spPr>
        <p:txBody>
          <a:bodyPr wrap="square">
            <a:spAutoFit/>
          </a:bodyPr>
          <a:lstStyle/>
          <a:p>
            <a:pPr defTabSz="514350">
              <a:spcBef>
                <a:spcPct val="30000"/>
              </a:spcBef>
              <a:defRPr/>
            </a:pPr>
            <a:r>
              <a:rPr lang="zh-CN" altLang="en-US" sz="2800" b="1" dirty="0">
                <a:solidFill>
                  <a:srgbClr val="002060"/>
                </a:solidFill>
                <a:latin typeface="微软雅黑" panose="020B0503020204020204" pitchFamily="34" charset="-122"/>
                <a:ea typeface="微软雅黑" panose="020B0503020204020204" pitchFamily="34" charset="-122"/>
              </a:rPr>
              <a:t>密码协议</a:t>
            </a:r>
          </a:p>
        </p:txBody>
      </p:sp>
      <p:grpSp>
        <p:nvGrpSpPr>
          <p:cNvPr id="33" name="组合 2">
            <a:extLst>
              <a:ext uri="{FF2B5EF4-FFF2-40B4-BE49-F238E27FC236}">
                <a16:creationId xmlns:a16="http://schemas.microsoft.com/office/drawing/2014/main" id="{13A2427A-ACD9-FD04-4730-B7D264DD44EE}"/>
              </a:ext>
            </a:extLst>
          </p:cNvPr>
          <p:cNvGrpSpPr/>
          <p:nvPr/>
        </p:nvGrpSpPr>
        <p:grpSpPr>
          <a:xfrm>
            <a:off x="153148" y="808658"/>
            <a:ext cx="7381902" cy="546323"/>
            <a:chOff x="180042" y="928625"/>
            <a:chExt cx="7381902" cy="546323"/>
          </a:xfrm>
        </p:grpSpPr>
        <p:grpSp>
          <p:nvGrpSpPr>
            <p:cNvPr id="34" name="组合 3">
              <a:extLst>
                <a:ext uri="{FF2B5EF4-FFF2-40B4-BE49-F238E27FC236}">
                  <a16:creationId xmlns:a16="http://schemas.microsoft.com/office/drawing/2014/main" id="{E7424729-7E83-8910-3CF4-0C402DC60D1F}"/>
                </a:ext>
              </a:extLst>
            </p:cNvPr>
            <p:cNvGrpSpPr/>
            <p:nvPr/>
          </p:nvGrpSpPr>
          <p:grpSpPr>
            <a:xfrm>
              <a:off x="180042" y="928625"/>
              <a:ext cx="7381902" cy="515546"/>
              <a:chOff x="2235016" y="7042507"/>
              <a:chExt cx="7381902" cy="515546"/>
            </a:xfrm>
          </p:grpSpPr>
          <p:sp>
            <p:nvSpPr>
              <p:cNvPr id="36" name="平行四边形 35">
                <a:extLst>
                  <a:ext uri="{FF2B5EF4-FFF2-40B4-BE49-F238E27FC236}">
                    <a16:creationId xmlns:a16="http://schemas.microsoft.com/office/drawing/2014/main" id="{D7568888-83E9-618E-7977-63A137ABDC5C}"/>
                  </a:ext>
                </a:extLst>
              </p:cNvPr>
              <p:cNvSpPr/>
              <p:nvPr/>
            </p:nvSpPr>
            <p:spPr>
              <a:xfrm>
                <a:off x="2259393" y="7042507"/>
                <a:ext cx="400542" cy="195422"/>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平行四边形 36">
                <a:extLst>
                  <a:ext uri="{FF2B5EF4-FFF2-40B4-BE49-F238E27FC236}">
                    <a16:creationId xmlns:a16="http://schemas.microsoft.com/office/drawing/2014/main" id="{CE4B8BF0-BA09-F559-D35A-CCDDE4A16CDD}"/>
                  </a:ext>
                </a:extLst>
              </p:cNvPr>
              <p:cNvSpPr/>
              <p:nvPr/>
            </p:nvSpPr>
            <p:spPr>
              <a:xfrm>
                <a:off x="2235016" y="7096388"/>
                <a:ext cx="7381902" cy="461665"/>
              </a:xfrm>
              <a:prstGeom prst="parallelogram">
                <a:avLst/>
              </a:prstGeom>
              <a:gradFill flip="none" rotWithShape="1">
                <a:gsLst>
                  <a:gs pos="69000">
                    <a:srgbClr val="1A5CC0">
                      <a:alpha val="51000"/>
                    </a:srgbClr>
                  </a:gs>
                  <a:gs pos="100000">
                    <a:srgbClr val="1A5CC0">
                      <a:alpha val="0"/>
                    </a:srgbClr>
                  </a:gs>
                  <a:gs pos="0">
                    <a:srgbClr val="1A5CC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sp>
          <p:nvSpPr>
            <p:cNvPr id="35" name="矩形 34">
              <a:extLst>
                <a:ext uri="{FF2B5EF4-FFF2-40B4-BE49-F238E27FC236}">
                  <a16:creationId xmlns:a16="http://schemas.microsoft.com/office/drawing/2014/main" id="{56B1FE95-30EC-14B8-F3BD-5470853B650F}"/>
                </a:ext>
              </a:extLst>
            </p:cNvPr>
            <p:cNvSpPr/>
            <p:nvPr/>
          </p:nvSpPr>
          <p:spPr>
            <a:xfrm>
              <a:off x="245030" y="951728"/>
              <a:ext cx="6793796" cy="52322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IPsec</a:t>
              </a:r>
              <a:r>
                <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协议</a:t>
              </a:r>
            </a:p>
          </p:txBody>
        </p:sp>
      </p:grpSp>
      <p:grpSp>
        <p:nvGrpSpPr>
          <p:cNvPr id="105" name="组合 104">
            <a:extLst>
              <a:ext uri="{FF2B5EF4-FFF2-40B4-BE49-F238E27FC236}">
                <a16:creationId xmlns:a16="http://schemas.microsoft.com/office/drawing/2014/main" id="{D83C618F-8ED0-81CC-1DFF-B8CA49AA158A}"/>
              </a:ext>
            </a:extLst>
          </p:cNvPr>
          <p:cNvGrpSpPr/>
          <p:nvPr/>
        </p:nvGrpSpPr>
        <p:grpSpPr>
          <a:xfrm>
            <a:off x="1555748" y="1621847"/>
            <a:ext cx="9711868" cy="2110866"/>
            <a:chOff x="333832" y="1877106"/>
            <a:chExt cx="8700562" cy="2110866"/>
          </a:xfrm>
        </p:grpSpPr>
        <p:sp>
          <p:nvSpPr>
            <p:cNvPr id="54" name="Shape 1">
              <a:extLst>
                <a:ext uri="{FF2B5EF4-FFF2-40B4-BE49-F238E27FC236}">
                  <a16:creationId xmlns:a16="http://schemas.microsoft.com/office/drawing/2014/main" id="{5BC821A9-E76B-4C32-2CC3-2ED96F01E096}"/>
                </a:ext>
              </a:extLst>
            </p:cNvPr>
            <p:cNvSpPr/>
            <p:nvPr/>
          </p:nvSpPr>
          <p:spPr>
            <a:xfrm>
              <a:off x="355322" y="1877106"/>
              <a:ext cx="7700471" cy="2110866"/>
            </a:xfrm>
            <a:prstGeom prst="rect">
              <a:avLst/>
            </a:prstGeom>
            <a:solidFill>
              <a:srgbClr val="F8F9FA"/>
            </a:solidFill>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5" name="Shape 2">
              <a:extLst>
                <a:ext uri="{FF2B5EF4-FFF2-40B4-BE49-F238E27FC236}">
                  <a16:creationId xmlns:a16="http://schemas.microsoft.com/office/drawing/2014/main" id="{DEFBDA9C-7B0D-E881-18F4-105C82E6CB32}"/>
                </a:ext>
              </a:extLst>
            </p:cNvPr>
            <p:cNvSpPr/>
            <p:nvPr/>
          </p:nvSpPr>
          <p:spPr>
            <a:xfrm>
              <a:off x="333832" y="1877106"/>
              <a:ext cx="43200" cy="2110866"/>
            </a:xfrm>
            <a:prstGeom prst="rect">
              <a:avLst/>
            </a:prstGeom>
            <a:solidFill>
              <a:srgbClr val="3498DB"/>
            </a:solid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56" name="Text 3">
              <a:extLst>
                <a:ext uri="{FF2B5EF4-FFF2-40B4-BE49-F238E27FC236}">
                  <a16:creationId xmlns:a16="http://schemas.microsoft.com/office/drawing/2014/main" id="{357DB26E-805A-D90D-E6E2-08E004596C12}"/>
                </a:ext>
              </a:extLst>
            </p:cNvPr>
            <p:cNvSpPr/>
            <p:nvPr/>
          </p:nvSpPr>
          <p:spPr>
            <a:xfrm>
              <a:off x="467895" y="2006742"/>
              <a:ext cx="1981312" cy="276999"/>
            </a:xfrm>
            <a:prstGeom prst="rect">
              <a:avLst/>
            </a:prstGeom>
            <a:noFill/>
            <a:ln/>
          </p:spPr>
          <p:txBody>
            <a:bodyPr wrap="square" lIns="0" tIns="0" rIns="0" bIns="0" rtlCol="0" anchor="ctr">
              <a:spAutoFit/>
            </a:bodyPr>
            <a:lstStyle/>
            <a:p>
              <a:pPr marL="0" indent="0">
                <a:buNone/>
              </a:pPr>
              <a:r>
                <a:rPr lang="en-US" b="1" dirty="0">
                  <a:solidFill>
                    <a:srgbClr val="2C3E50"/>
                  </a:solidFill>
                  <a:latin typeface="微软雅黑" panose="020B0503020204020204" pitchFamily="34" charset="-122"/>
                  <a:ea typeface="微软雅黑" panose="020B0503020204020204" pitchFamily="34" charset="-122"/>
                  <a:cs typeface="Noto Sans" pitchFamily="34" charset="-120"/>
                </a:rPr>
                <a:t>IPsec安全协议详解</a:t>
              </a:r>
              <a:endParaRPr lang="en-US" dirty="0">
                <a:latin typeface="微软雅黑" panose="020B0503020204020204" pitchFamily="34" charset="-122"/>
                <a:ea typeface="微软雅黑" panose="020B0503020204020204" pitchFamily="34" charset="-122"/>
              </a:endParaRPr>
            </a:p>
          </p:txBody>
        </p:sp>
        <p:sp>
          <p:nvSpPr>
            <p:cNvPr id="57" name="Text 4">
              <a:extLst>
                <a:ext uri="{FF2B5EF4-FFF2-40B4-BE49-F238E27FC236}">
                  <a16:creationId xmlns:a16="http://schemas.microsoft.com/office/drawing/2014/main" id="{7F4F2511-BBB1-3F32-CC7B-9EF6DD693E89}"/>
                </a:ext>
              </a:extLst>
            </p:cNvPr>
            <p:cNvSpPr/>
            <p:nvPr/>
          </p:nvSpPr>
          <p:spPr>
            <a:xfrm>
              <a:off x="736019" y="2364737"/>
              <a:ext cx="1234312" cy="276999"/>
            </a:xfrm>
            <a:prstGeom prst="rect">
              <a:avLst/>
            </a:prstGeom>
            <a:noFill/>
            <a:ln/>
          </p:spPr>
          <p:txBody>
            <a:bodyPr wrap="squar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认证头(AH)</a:t>
              </a:r>
              <a:endParaRPr lang="en-US" dirty="0">
                <a:latin typeface="微软雅黑" panose="020B0503020204020204" pitchFamily="34" charset="-122"/>
                <a:ea typeface="微软雅黑" panose="020B0503020204020204" pitchFamily="34" charset="-122"/>
              </a:endParaRPr>
            </a:p>
          </p:txBody>
        </p:sp>
        <p:sp>
          <p:nvSpPr>
            <p:cNvPr id="58" name="Text 5">
              <a:extLst>
                <a:ext uri="{FF2B5EF4-FFF2-40B4-BE49-F238E27FC236}">
                  <a16:creationId xmlns:a16="http://schemas.microsoft.com/office/drawing/2014/main" id="{42B42BC0-DAFB-A97D-3B90-DEE942473E25}"/>
                </a:ext>
              </a:extLst>
            </p:cNvPr>
            <p:cNvSpPr/>
            <p:nvPr/>
          </p:nvSpPr>
          <p:spPr>
            <a:xfrm>
              <a:off x="1837053" y="2364737"/>
              <a:ext cx="5770811"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：提供数据完整性、源认证和防重放保护，但不提供加密</a:t>
              </a:r>
              <a:endParaRPr lang="en-US" dirty="0">
                <a:latin typeface="微软雅黑" panose="020B0503020204020204" pitchFamily="34" charset="-122"/>
                <a:ea typeface="微软雅黑" panose="020B0503020204020204" pitchFamily="34" charset="-122"/>
              </a:endParaRPr>
            </a:p>
          </p:txBody>
        </p:sp>
        <p:sp>
          <p:nvSpPr>
            <p:cNvPr id="59" name="Text 6">
              <a:extLst>
                <a:ext uri="{FF2B5EF4-FFF2-40B4-BE49-F238E27FC236}">
                  <a16:creationId xmlns:a16="http://schemas.microsoft.com/office/drawing/2014/main" id="{FFE2EAD3-E0FF-2D1E-9F99-2DF7E3AF8236}"/>
                </a:ext>
              </a:extLst>
            </p:cNvPr>
            <p:cNvSpPr/>
            <p:nvPr/>
          </p:nvSpPr>
          <p:spPr>
            <a:xfrm>
              <a:off x="736019" y="2684217"/>
              <a:ext cx="1987724" cy="276999"/>
            </a:xfrm>
            <a:prstGeom prst="rect">
              <a:avLst/>
            </a:prstGeom>
            <a:noFill/>
            <a:ln/>
          </p:spPr>
          <p:txBody>
            <a:bodyPr wrap="squar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封装安全载荷(ESP)</a:t>
              </a:r>
              <a:endParaRPr lang="en-US" dirty="0">
                <a:latin typeface="微软雅黑" panose="020B0503020204020204" pitchFamily="34" charset="-122"/>
                <a:ea typeface="微软雅黑" panose="020B0503020204020204" pitchFamily="34" charset="-122"/>
              </a:endParaRPr>
            </a:p>
          </p:txBody>
        </p:sp>
        <p:sp>
          <p:nvSpPr>
            <p:cNvPr id="60" name="Text 7">
              <a:extLst>
                <a:ext uri="{FF2B5EF4-FFF2-40B4-BE49-F238E27FC236}">
                  <a16:creationId xmlns:a16="http://schemas.microsoft.com/office/drawing/2014/main" id="{FABE6B5A-0F17-9E97-E71E-0639BCC17683}"/>
                </a:ext>
              </a:extLst>
            </p:cNvPr>
            <p:cNvSpPr/>
            <p:nvPr/>
          </p:nvSpPr>
          <p:spPr>
            <a:xfrm>
              <a:off x="2541455" y="2684217"/>
              <a:ext cx="4847481"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：提供数据加密、完整性、源认证和防重放保护</a:t>
              </a:r>
              <a:endParaRPr lang="en-US" dirty="0">
                <a:latin typeface="微软雅黑" panose="020B0503020204020204" pitchFamily="34" charset="-122"/>
                <a:ea typeface="微软雅黑" panose="020B0503020204020204" pitchFamily="34" charset="-122"/>
              </a:endParaRPr>
            </a:p>
          </p:txBody>
        </p:sp>
        <p:sp>
          <p:nvSpPr>
            <p:cNvPr id="61" name="Text 8">
              <a:extLst>
                <a:ext uri="{FF2B5EF4-FFF2-40B4-BE49-F238E27FC236}">
                  <a16:creationId xmlns:a16="http://schemas.microsoft.com/office/drawing/2014/main" id="{22EF9883-F0FB-D0FC-FE09-40F1093A7396}"/>
                </a:ext>
              </a:extLst>
            </p:cNvPr>
            <p:cNvSpPr/>
            <p:nvPr/>
          </p:nvSpPr>
          <p:spPr>
            <a:xfrm>
              <a:off x="736019" y="3003701"/>
              <a:ext cx="1285608" cy="276999"/>
            </a:xfrm>
            <a:prstGeom prst="rect">
              <a:avLst/>
            </a:prstGeom>
            <a:noFill/>
            <a:ln/>
          </p:spPr>
          <p:txBody>
            <a:bodyPr wrap="squar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AH协议格式</a:t>
              </a:r>
              <a:endParaRPr lang="en-US" dirty="0">
                <a:latin typeface="微软雅黑" panose="020B0503020204020204" pitchFamily="34" charset="-122"/>
                <a:ea typeface="微软雅黑" panose="020B0503020204020204" pitchFamily="34" charset="-122"/>
              </a:endParaRPr>
            </a:p>
          </p:txBody>
        </p:sp>
        <p:sp>
          <p:nvSpPr>
            <p:cNvPr id="62" name="Text 9">
              <a:extLst>
                <a:ext uri="{FF2B5EF4-FFF2-40B4-BE49-F238E27FC236}">
                  <a16:creationId xmlns:a16="http://schemas.microsoft.com/office/drawing/2014/main" id="{3F52CC79-E35A-8B9E-28FD-223412AB0C83}"/>
                </a:ext>
              </a:extLst>
            </p:cNvPr>
            <p:cNvSpPr/>
            <p:nvPr/>
          </p:nvSpPr>
          <p:spPr>
            <a:xfrm>
              <a:off x="1906127" y="3003701"/>
              <a:ext cx="5419753"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：下一个头、有效载荷长度、SPI、序列号、认证数据</a:t>
              </a:r>
              <a:endParaRPr lang="en-US" dirty="0">
                <a:latin typeface="微软雅黑" panose="020B0503020204020204" pitchFamily="34" charset="-122"/>
                <a:ea typeface="微软雅黑" panose="020B0503020204020204" pitchFamily="34" charset="-122"/>
              </a:endParaRPr>
            </a:p>
          </p:txBody>
        </p:sp>
        <p:sp>
          <p:nvSpPr>
            <p:cNvPr id="63" name="Text 10">
              <a:extLst>
                <a:ext uri="{FF2B5EF4-FFF2-40B4-BE49-F238E27FC236}">
                  <a16:creationId xmlns:a16="http://schemas.microsoft.com/office/drawing/2014/main" id="{DF28C07B-839F-03F7-5499-A321A701A761}"/>
                </a:ext>
              </a:extLst>
            </p:cNvPr>
            <p:cNvSpPr/>
            <p:nvPr/>
          </p:nvSpPr>
          <p:spPr>
            <a:xfrm>
              <a:off x="736019" y="3323184"/>
              <a:ext cx="1346522" cy="276999"/>
            </a:xfrm>
            <a:prstGeom prst="rect">
              <a:avLst/>
            </a:prstGeom>
            <a:noFill/>
            <a:ln/>
          </p:spPr>
          <p:txBody>
            <a:bodyPr wrap="square" lIns="0" tIns="0" rIns="0" bIns="0" rtlCol="0" anchor="ctr">
              <a:spAutoFit/>
            </a:bodyPr>
            <a:lstStyle/>
            <a:p>
              <a:pPr marL="0" indent="0" algn="l">
                <a:buNone/>
              </a:pPr>
              <a:r>
                <a:rPr lang="en-US" b="1" dirty="0">
                  <a:solidFill>
                    <a:srgbClr val="34495E"/>
                  </a:solidFill>
                  <a:latin typeface="微软雅黑" panose="020B0503020204020204" pitchFamily="34" charset="-122"/>
                  <a:ea typeface="微软雅黑" panose="020B0503020204020204" pitchFamily="34" charset="-122"/>
                  <a:cs typeface="Noto Sans" pitchFamily="34" charset="-120"/>
                </a:rPr>
                <a:t>ESP协议格式</a:t>
              </a:r>
              <a:endParaRPr lang="en-US" dirty="0">
                <a:latin typeface="微软雅黑" panose="020B0503020204020204" pitchFamily="34" charset="-122"/>
                <a:ea typeface="微软雅黑" panose="020B0503020204020204" pitchFamily="34" charset="-122"/>
              </a:endParaRPr>
            </a:p>
          </p:txBody>
        </p:sp>
        <p:sp>
          <p:nvSpPr>
            <p:cNvPr id="64" name="Text 11">
              <a:extLst>
                <a:ext uri="{FF2B5EF4-FFF2-40B4-BE49-F238E27FC236}">
                  <a16:creationId xmlns:a16="http://schemas.microsoft.com/office/drawing/2014/main" id="{2CFE8069-85C3-1D23-4748-6A62BAA5C5C2}"/>
                </a:ext>
              </a:extLst>
            </p:cNvPr>
            <p:cNvSpPr/>
            <p:nvPr/>
          </p:nvSpPr>
          <p:spPr>
            <a:xfrm>
              <a:off x="1906127" y="3317317"/>
              <a:ext cx="7128267" cy="276999"/>
            </a:xfrm>
            <a:prstGeom prst="rect">
              <a:avLst/>
            </a:prstGeom>
            <a:noFill/>
            <a:ln/>
          </p:spPr>
          <p:txBody>
            <a:bodyPr wrap="square" lIns="0" tIns="0" rIns="0" bIns="0" rtlCol="0" anchor="ctr">
              <a:spAutoFit/>
            </a:bodyPr>
            <a:lstStyle/>
            <a:p>
              <a:pPr marL="0" indent="0" algn="l">
                <a:buNone/>
              </a:pPr>
              <a:r>
                <a:rPr lang="en-US" dirty="0">
                  <a:solidFill>
                    <a:srgbClr val="34495E"/>
                  </a:solidFill>
                  <a:latin typeface="微软雅黑" panose="020B0503020204020204" pitchFamily="34" charset="-122"/>
                  <a:ea typeface="微软雅黑" panose="020B0503020204020204" pitchFamily="34" charset="-122"/>
                  <a:cs typeface="Noto Sans" pitchFamily="34" charset="-120"/>
                </a:rPr>
                <a:t>：SPI、序列号、加密数据、填充、填充长度、下一个头、认证数据</a:t>
              </a:r>
              <a:endParaRPr lang="en-US" dirty="0">
                <a:latin typeface="微软雅黑" panose="020B0503020204020204" pitchFamily="34" charset="-122"/>
                <a:ea typeface="微软雅黑" panose="020B0503020204020204" pitchFamily="34" charset="-122"/>
              </a:endParaRPr>
            </a:p>
          </p:txBody>
        </p:sp>
      </p:grpSp>
      <p:pic>
        <p:nvPicPr>
          <p:cNvPr id="1026" name="Picture 2">
            <a:extLst>
              <a:ext uri="{FF2B5EF4-FFF2-40B4-BE49-F238E27FC236}">
                <a16:creationId xmlns:a16="http://schemas.microsoft.com/office/drawing/2014/main" id="{7C44A50C-C5E2-88B4-6A7A-EA1A02AC67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864" y="3862349"/>
            <a:ext cx="7736957" cy="262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8400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14934,3316002,3316456,3313694,3312223,3315809]}"/>
  <p:tag name="COMMONDATA" val="eyJoZGlkIjoiN2QzYzgwNDhlMTYwOGQwZmJmZDRlNzg0NzM1NDEyYW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TotalTime>
  <Words>2444</Words>
  <Application>Microsoft Office PowerPoint</Application>
  <PresentationFormat>宽屏</PresentationFormat>
  <Paragraphs>744</Paragraphs>
  <Slides>40</Slides>
  <Notes>39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40</vt:i4>
      </vt:variant>
    </vt:vector>
  </HeadingPairs>
  <TitlesOfParts>
    <vt:vector size="48" baseType="lpstr">
      <vt:lpstr>Microsoft YaHei UI</vt:lpstr>
      <vt:lpstr>等线</vt:lpstr>
      <vt:lpstr>等线 Light</vt:lpstr>
      <vt:lpstr>微软雅黑</vt:lpstr>
      <vt:lpstr>Arial</vt:lpstr>
      <vt:lpstr>Calibri</vt:lpstr>
      <vt:lpstr>Noto Sans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 鹏</dc:creator>
  <cp:lastModifiedBy>ling wu</cp:lastModifiedBy>
  <cp:revision>314</cp:revision>
  <dcterms:created xsi:type="dcterms:W3CDTF">2022-11-02T01:05:00Z</dcterms:created>
  <dcterms:modified xsi:type="dcterms:W3CDTF">2025-08-07T18:08:44Z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107BEC45BCEC4D34A23A3EB1D8905125_13</vt:lpwstr>
  </property>
  <property fmtid="{D5CDD505-2E9C-101B-9397-08002B2CF9AE}" pid="3" name="KSOProductBuildVer">
    <vt:lpwstr>2052-12.1.0.16388</vt:lpwstr>
  </property>
</Properties>
</file>